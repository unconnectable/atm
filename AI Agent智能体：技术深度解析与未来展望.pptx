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大家好，今天我将为大家深入解析一个正在引领新一轮技术革命的概念——AI Agent智能体。它不再是被动响应的工具，而是能够自主感知、规划、决策并执行复杂任务的主动智能系统。本次分享将带您全面了解AI Agent的核心技术、应用场景以及未来的发展趋势。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本次分享将分为四个部分。首先，我们将明确AI Agent的定义和核心特征。接着，深入剖析其技术架构和工作原理。然后，通过丰富的案例展示其在各行业的应用价值。最后，我们将探讨AI Agent的发展现状、挑战以及未来的发展趋势。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首先，我们来明确什么是AI Agent。简单来说，它是一种主动的智能系统，能感知环境、做决策并采取行动。如果说传统的大语言模型是一本会说话的百科全书，那么AI Agent就是一个有行动力的智能助手。它的核心构成可以看作是一个拥有大脑（LLM）、记忆、规划能力和动手能力（工具调用）的完整智能体。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Agent的强大之处体现在它的五大核心特征上。它具有自主性，能独立工作；具有反应性，能适应环境变化；更重要的是它的主动性，能预见需求并采取行动。同时，它还具备社会性，能与其他智能体协作，以及进化性，能通过学习不断优化自身。这五大特征共同构成了AI Agent的智能行为基础。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Agent带来的最大变革，是从“对话”到“行动”的范式转变。它不再仅仅是回答问题，而是能主动解决问题。这种转变带来了巨大的商业价值和市场增长。数据显示，Agentic AI市场正以惊人的速度扩张，并且在实际应用中，它能显著提升工作效率，例如将贷款审批转化率提升三倍，为员工节省大量工作时间。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接下来我们深入技术层面，看看AI Agent是如何工作的。它的核心是一个“感知-规划-执行-复盘”的闭环。首先，通过感知模块获取信息；然后，规划模块像大脑一样思考和制定计划；接着，执行模块作为手脚去调用工具完成任务；最后，复盘模块对结果进行反思，从而实现自我进化。这个闭环是AI Agent智能行为的基础。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闭环中，规划和执行模块是关键。规划模块利用思维链等先进技术，像人类一样思考，将复杂任务分解成可执行的步骤。而执行模块则通过调用各种工具的API来完成这些步骤。为了让这个过程更高效、更标准化，MCP和A2A等协议应运而生，它们就像是AI世界的通用接口，让不同的智能体和工具能够无缝协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规划和执行，记忆和复盘模块同样不可或缺。记忆模块让Agent拥有了短期和长期记忆，能够记住对话内容和历史知识，从而提供更连贯、更智能的服务。而复盘模块则赋予了Agent学习和进化的能力，它能像人一样反思自己的行为，总结经验教训，从而在未来做得更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了解了技术原理后，我们来看看AI Agent在实际中有哪些应用。目前，它已经广泛渗透到金融、软件开发、企业办公和客户服务等多个领域，正在为这些行业带来颠覆性的变革和巨大的商业价值。接下来，我们将通过具体案例来感受它的威力。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在金融领域，AI Agent已经展现出强大的能力。例如，Rocket Mortgage通过部署多智能体系统，实现了转化率300%的惊人提升。在软件开发领域，AI Agent更是成为了开发者的得力助手，超过三分之二的工具都与软件开发相关，它能将繁琐的文档编写工作从几小时缩短到几分钟。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在企业办公场景，AI Agent化身为高效的智能助理。TELUS的案例显示，AI助手能为员工平均每次交互节省40分钟，极大提升了工作效率。在客户服务方面，AI Agent同样表现出色，近一半的企业已将其用于客户支持。例如，通过多智能体协同，保险理赔流程可以从几天缩短到几分钟。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以一个保险理赔的例子，来具体看一下多智能体是如何协同工作的。这个流程涉及七个不同的专业Agent，从规划、安全、承保到反欺诈、赔付，每个Agent各司其职，高效协作，最终将原本需要数天的理赔时间缩短到了几分钟。这充分展示了多智能体系统的强大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现在我们来看看AI Agent的发展现状，可以用“爆发式增长”来形容。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首先，看左边的市场规模。预计到2034年，全球Agentic AI市场将达到近2000亿美元，这期间的复合年增长率高达43.84%，是增长最快的AI细分赛道之一。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中间的数据反映了企业的采纳热度。Gartner的最新数据显示，关于多智能体系统的客户咨询量激增了1445%。更重要的是，已有57%的组织已经不再观望，而是将Agent技术部署到了多阶段的实际业务工作流中。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最后，右侧是行业的共识。综合各方观点，大家普遍认为，2026年将是AI Agent从技术验证走向真正普及和规模化落地的关键元年。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当然，AI Agent的发展并非一帆风顺。它仍然面临着技术、实施和安全伦理三大挑战。例如，在处理复杂任务时可能会“迷路”，与现有系统集成困难，以及决策过程不透明等问题。这些都是未来需要我们去攻克的难题。据预测，相当一部分项目可能会因为编排复杂而失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展望未来，AI Agent将朝着几个明确的方向发展。多智能体协同将成为主流，形成高效的AI团队。人机协同模式会更加深化，人类负责监督和决策，AI负责执行。标准化协议的普及将构建一个开放的生态。同时，AIaaS服务将降低使用门槛，而具身智能体的发展将让AI Agent从虚拟世界走向物理世界，真正改变我们的生活。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我的分享到此结束。AI Agent的时代已经到来，它将深刻地改变我们工作和生活的方式。希望今天的内容能帮助大家更好地理解这项前沿技术。感谢大家的聆听！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2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4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3.svg"/><Relationship Id="rId6" Type="http://schemas.openxmlformats.org/officeDocument/2006/relationships/image" Target="../media/image52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4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智能体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270000" cy="762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技术深度解析与未来展望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58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FUTURE INTELLIGENCE INSIGHTS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8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70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114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2159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定义与核心特征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超越对话的主动智能体</a:t>
            </a:r>
            <a:endParaRPr lang="en-US" sz="14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70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114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874000" y="2159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技术架构与原理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“感知-规划-执行-复盘”闭环</a:t>
            </a:r>
            <a:endParaRPr lang="en-US" sz="14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70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114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13000" y="4572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应用领域与案例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赋能千行百业的商业价值</a:t>
            </a:r>
            <a:endParaRPr lang="en-US" sz="14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70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4508500"/>
            <a:ext cx="114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4572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发展现状与未来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爆发式增长与未来趋势</a:t>
            </a:r>
            <a:endParaRPr lang="en-US" sz="14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定义：超越对话的主动智能体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651000"/>
          </a:xfrm>
          <a:prstGeom prst="roundRect">
            <a:avLst>
              <a:gd name="adj" fmla="val 6153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Agent（人工智能智能体）是一种能够</a:t>
            </a:r>
            <a:r>
              <a:rPr lang="en-US" sz="15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自主感知环境、进行决策并执行行动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以实现特定目标的智能系统。它不仅仅是一个会对话的AI，更是一个能“动手”解决复杂问题的数字化员工。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5334000" cy="1143000"/>
          </a:xfrm>
          <a:prstGeom prst="roundRect">
            <a:avLst>
              <a:gd name="adj" fmla="val 8888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746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与传统大语言模型(LLM)相比，AI Agent 的核心区别在于其具备</a:t>
            </a:r>
            <a:r>
              <a:rPr lang="en-US" sz="15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“主动性”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5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“执行力”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，而非被动等待指令。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9530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00E5FF">
              <a:alpha val="10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5143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技术构成公式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AI Agent = LLM(大脑) + 规划反思 + 记忆系统 + 工具调用</a:t>
            </a:r>
            <a:endParaRPr lang="en-US" sz="1300" b="0" i="0" u="none" strike="noStrike">
              <a:solidFill>
                <a:srgbClr val="D1D5D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4753" r="4753"/>
          <a:stretch>
            <a:fillRect/>
          </a:stretch>
        </p:blipFill>
        <p:spPr>
          <a:xfrm>
            <a:off x="6477000" y="2032000"/>
            <a:ext cx="4953000" cy="2794000"/>
          </a:xfrm>
          <a:prstGeom prst="rect">
            <a:avLst/>
          </a:prstGeom>
          <a:noFill/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5080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从“只能回答”到“解决问题”</a:t>
            </a:r>
            <a:b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重塑人机协作新范式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AI Agent的五大核心特征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5144" r="15144"/>
          <a:stretch>
            <a:fillRect/>
          </a:stretch>
        </p:blipFill>
        <p:spPr>
          <a:xfrm>
            <a:off x="762000" y="1778000"/>
            <a:ext cx="4826000" cy="4318000"/>
          </a:xfrm>
          <a:prstGeom prst="rect">
            <a:avLst/>
          </a:prstGeom>
          <a:noFill/>
          <a:ln w="25400" cap="flat" cmpd="sng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969000" y="1778000"/>
            <a:ext cx="2794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5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731000" y="1968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自主性 (Autonomy)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无需持续的人工干预，能够独立设定目标并完成复杂任务。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0" y="1778000"/>
            <a:ext cx="2794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05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652000" y="1968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反应性 (Reactivity)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实时感知周围环境的动态变化，并快速做出响应和调整。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69000" y="3429000"/>
            <a:ext cx="2794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500" y="368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3619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主动性 (Proactivity)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不仅仅被动响应，更能主动识别潜在需求并提前采取行动。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890000" y="3429000"/>
            <a:ext cx="2794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368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652000" y="3619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社会性 (Social Ability)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具备与其他AI Agent、系统或人类进行高效协作与交互的能力。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969000" y="5080000"/>
            <a:ext cx="5715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3000" y="5397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527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进化性 (Adaptivity)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能够不断从历史经验和新的数据中学习，自我优化策略与模型，持续提升任务表现。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核心发现：从“对话”到“行动”的范式转变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Agent的核心突破在于其“主动性”，能够将LLM的强大“大脑”与“手脚”（工具调用）和“记忆”相结合，自主完成跨应用、多步骤的复杂任务，彻底重构人机协作模式。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8243" b="18243"/>
          <a:stretch>
            <a:fillRect/>
          </a:stretch>
        </p:blipFill>
        <p:spPr>
          <a:xfrm>
            <a:off x="1016000" y="2667000"/>
            <a:ext cx="4699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76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 Agentic AI 市场爆发式增长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75.5亿美元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➔ 2034年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1990.5亿美元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复合年增长率 (CAGR) 高达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43.84%</a:t>
            </a:r>
            <a:endParaRPr lang="en-US" sz="1800" b="1" i="0" u="none" strike="noStrike">
              <a:solidFill>
                <a:srgbClr val="00E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8194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6670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金融领域 · 贷款审批转化率提升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300%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精准匹配需求，自动处理合规与征信，大幅缩短流程周期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5085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9149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47625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企业办公 · 单次交互耗时缩减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40分钟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自动化处理重复繁琐的信息检索与整理，释放人力专注高价值思考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技术架构：“感知-规划-执行-复盘”智能行动闭环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387" r="8387"/>
          <a:stretch>
            <a:fillRect/>
          </a:stretch>
        </p:blipFill>
        <p:spPr>
          <a:xfrm>
            <a:off x="762000" y="1778000"/>
            <a:ext cx="5080000" cy="4318000"/>
          </a:xfrm>
          <a:prstGeom prst="rect">
            <a:avLst/>
          </a:prstGeom>
          <a:noFill/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23000" y="1778000"/>
            <a:ext cx="2667000" cy="2032000"/>
          </a:xfrm>
          <a:prstGeom prst="roundRect">
            <a:avLst>
              <a:gd name="adj" fmla="val 5000"/>
            </a:avLst>
          </a:prstGeom>
          <a:solidFill>
            <a:srgbClr val="171F29">
              <a:alpha val="8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85000" y="1981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Perception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79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通过API、爬虫等技术，实时获取外部环境信息与任务数据，建立对世界的基础认知。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017000" y="1778000"/>
            <a:ext cx="2667000" cy="2032000"/>
          </a:xfrm>
          <a:prstGeom prst="roundRect">
            <a:avLst>
              <a:gd name="adj" fmla="val 5000"/>
            </a:avLst>
          </a:prstGeom>
          <a:solidFill>
            <a:srgbClr val="171F29">
              <a:alpha val="8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779000" y="1981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Planning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71000" y="279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利用思维链(CoT)等算法，将复杂任务拆解为可执行的子任务，并制定最优执行路径。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4064000"/>
            <a:ext cx="2667000" cy="2032000"/>
          </a:xfrm>
          <a:prstGeom prst="roundRect">
            <a:avLst>
              <a:gd name="adj" fmla="val 5000"/>
            </a:avLst>
          </a:prstGeom>
          <a:solidFill>
            <a:srgbClr val="171F29">
              <a:alpha val="8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4267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Execution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5080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根据既定计划，自主调用外部工具API或代码，与真实世界交互，一步步推进任务落地。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4064000"/>
            <a:ext cx="2667000" cy="2032000"/>
          </a:xfrm>
          <a:prstGeom prst="roundRect">
            <a:avLst>
              <a:gd name="adj" fmla="val 5000"/>
            </a:avLst>
          </a:prstGeom>
          <a:solidFill>
            <a:srgbClr val="171F29">
              <a:alpha val="8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000" y="431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779000" y="4267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Self-reflection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5080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反思行动结果，识别执行偏差与潜在问题，通过反馈机制优化后续策略，实现自我进化。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核心组件详解：规划与执行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规划模块 (Planning)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 Agent 的“大脑”核心，负责将抽象的用户目标进行深度理解、逻辑拆解为具体任务，并制定出具有可操作性的详细执行计划。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4318000"/>
            <a:ext cx="4597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⚡️ 核心技术引擎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思维链 (Chain-of-Thought, CoT)：通过多步推理获得答案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思维树 (Tree-of-Thought, ToT)：探索多种可能的解题路径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ReAct 框架：结合“推理”与“行动”的闭环模式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执行模块 (Execution / Tool Use)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3048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 Agent 的“手脚”，负责落地执行规划模块产出的指令，通过调用外部资源与现实世界进行交互并获取结果。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27800" y="4191000"/>
            <a:ext cx="4597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🔌 标准化交互协议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MCP (Model Context Protocol):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被誉为“AI的USB-C”，实现模型与工具的统一连接。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A2A (Agent-to-Agent Protocol):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打破壁垒，让不同智能体之间无缝协作。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核心组件详解：记忆与复盘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159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1336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记忆模块 (Memory)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3175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存储信息，使Agent能够进行上下文感知的连续对话和长期学习，建立“活”的知识体系。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4318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短期记忆：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维持当前任务上下文，确保对话逻辑连贯，不丢失信息。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长期记忆：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通过向量数据库和RAG技术，将经验沉淀为持久化的知识库，赋能长期任务。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15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21336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复盘模块 (Self-reflection)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3175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对已完成的任务进行深度反思和结果评估，总结经验与教训，从而动态优化未来策略。这是Agent实现“进化性”的关键能力。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4318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核心机制：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自动回溯行动轨迹，识别决策偏差与执行错误，生成针对性的优化指令，不断修正模型的行为模式。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应用领域：赋能千行百业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Agent的应用正从通用场景向垂直行业深度渗透，突破传统业务边界，为各行各业创造出巨大的商业价值与效率提升。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8702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7305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金融服务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智能投研辅助 · 动态风险控制 · 自动化贷款审批与反欺诈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8702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7305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软件开发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自动化代码生成与补全 · 智能单元测试 · 技术文档自动生成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9022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32000" y="47625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企业办公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办公个人助理 · 多语言会议纪要整理 · 跨系统数据整合分析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445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9022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47625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客户服务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7x24小时全天候智能支持 · 复杂场景的自动化理赔处理 · 客户情绪识别与安抚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应用案例：金融服务与软件开发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C222E">
              <a:alpha val="90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21635" b="21635"/>
          <a:stretch>
            <a:fillRect/>
          </a:stretch>
        </p:blipFill>
        <p:spPr>
          <a:xfrm>
            <a:off x="1016000" y="1778000"/>
            <a:ext cx="4699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3810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金融服务：智能投研与风控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经典案例：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Rocket Mortgage引入多智能体贷款系统，将网站流量到最终完成贷款申请的转化率显著提升</a:t>
            </a: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300%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技术平台：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基于FinRobot开源平台，实现了从海量非结构化数据清洗处理，到最终投资策略生成的端到端全流程自动化。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C222E">
              <a:alpha val="90000"/>
            </a:srgbClr>
          </a:solidFill>
          <a:ln w="25400" cap="flat" cmpd="sng">
            <a:solidFill>
              <a:srgbClr val="00E5FF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6396" b="16396"/>
          <a:stretch>
            <a:fillRect/>
          </a:stretch>
        </p:blipFill>
        <p:spPr>
          <a:xfrm>
            <a:off x="6477000" y="1778000"/>
            <a:ext cx="4699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3810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软件开发：自动化编程与测试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699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应用规模：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目前，软件开发已成为AI Agent最核心的应用场景，相关工具占据了所有MCP (模型上下文协议) 工具生态的</a:t>
            </a:r>
            <a:r>
              <a:rPr lang="en-US" sz="13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67%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效率飞跃：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通过AI辅助生成代码、自动编写单元测试，将过去需要手动数小时完成的API文档编写工作，压缩至几分钟内即可完成。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应用案例：企业办公与客户服务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9609" b="19609"/>
          <a:stretch>
            <a:fillRect/>
          </a:stretch>
        </p:blipFill>
        <p:spPr>
          <a:xfrm>
            <a:off x="1016000" y="1905000"/>
            <a:ext cx="4699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064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企业办公：智能助理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826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加拿大电信巨头 TELUS 为超过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57,000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名员工部署 AI 智能助手，极大提升了内部协作与信息获取效率。经统计，员工在使用该工具进行信息检索、任务处理等工作时，平均每次交互可节省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40分钟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的时间成本。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29358" b="29358"/>
          <a:stretch>
            <a:fillRect/>
          </a:stretch>
        </p:blipFill>
        <p:spPr>
          <a:xfrm>
            <a:off x="6477000" y="1905000"/>
            <a:ext cx="4699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4064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客户服务：全天候智能支持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826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市场调研显示，约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49%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的已落地 AI Agent 的企业将其优先应用于客户服务领域。例如，在保险行业，多智能体协同系统能自动处理信息核对与理赔计算，将原本需要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数天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的理赔周期大幅缩短至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几分钟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，显著提升了客户满意度。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应用案例：多智能体理赔处理工作流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39" b="239"/>
          <a:stretch>
            <a:fillRect/>
          </a:stretch>
        </p:blipFill>
        <p:spPr>
          <a:xfrm>
            <a:off x="762000" y="1651000"/>
            <a:ext cx="4826000" cy="3048000"/>
          </a:xfrm>
          <a:prstGeom prst="rect">
            <a:avLst/>
          </a:prstGeom>
          <a:noFill/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969000" y="1651000"/>
            <a:ext cx="18415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0" y="18034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规划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启动理赔全流程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01000" y="1651000"/>
            <a:ext cx="18415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128000" y="18034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网络安全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全程确保数据安全合规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033000" y="1651000"/>
            <a:ext cx="18415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0" y="18034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承保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快速验证保单有效性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69000" y="2984500"/>
            <a:ext cx="18415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6000" y="31369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天气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交叉验证灾害事件真实性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01000" y="2984500"/>
            <a:ext cx="18415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31369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反欺诈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智能识别异常赔付风险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033000" y="2984500"/>
            <a:ext cx="18415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0" y="31369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赔付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自动核算赔偿金额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969000" y="4191000"/>
            <a:ext cx="5905500" cy="1016000"/>
          </a:xfrm>
          <a:prstGeom prst="roundRect">
            <a:avLst>
              <a:gd name="adj" fmla="val 10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59500" y="4381500"/>
            <a:ext cx="552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审计 Agent |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自动汇总完整证据链与结果，提交给人类专家进行最终复核。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1112500" cy="1143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111827">
                  <a:alpha val="95000"/>
                </a:srgbClr>
              </a:gs>
            </a:gsLst>
            <a:lin ang="0"/>
          </a:gra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5689600"/>
            <a:ext cx="685800" cy="685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032000" y="5651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大幅缩短理赔周期，提升用户体验与运营效率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096000" y="5651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传统流程耗时</a:t>
            </a:r>
            <a:r>
              <a:rPr lang="en-US" sz="2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数天</a:t>
            </a: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➔</a:t>
            </a:r>
            <a:r>
              <a:rPr lang="en-US" sz="2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几分钟</a:t>
            </a:r>
            <a:r>
              <a:rPr lang="en-US" sz="2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极速处理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发展现状：爆发式增长与广泛部署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11827">
              <a:alpha val="75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159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3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1990.5亿美元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预计2034年全球市场总额</a:t>
            </a:r>
            <a:endParaRPr 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20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复合年增长率 (CAGR) 高达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43.84%</a:t>
            </a:r>
            <a:endParaRPr lang="en-US" sz="1800" b="1" i="0" u="none" strike="noStrike">
              <a:solidFill>
                <a:srgbClr val="00E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11827">
              <a:alpha val="75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15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企业采纳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175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3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+1,445%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多智能体系统咨询量激增 (Gartner)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spcBef>
                <a:spcPts val="2400"/>
              </a:spcBef>
            </a:pPr>
            <a:r>
              <a:rPr lang="en-US" sz="3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57%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的组织</a:t>
            </a:r>
            <a:endParaRPr 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已部署 Agent 用于多阶段业务流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11827">
              <a:alpha val="75000"/>
            </a:srgbClr>
          </a:solidFill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159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行业共识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175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4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600"/>
              </a:spcBef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真正普及的元年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20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从技术验证走向规模化落地的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关键转折点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面临的核心挑战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57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长期规划与推理逻辑的可信度不足，跨环境的适应能力有限，以及复杂任务下的计算资源消耗过高。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057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实施与治理挑战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921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与现有IT系统的集成复杂且成本高昂，多Agent协同编排困难，同时AI决策过程的“黑盒”特性导致难以审计与监管。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9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057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安全与伦理挑战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921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面临被恶意滥用的潜在风险，系统存在提示注入等安全漏洞，以及数据隐私与合规性的严峻考验。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111827">
              <a:alpha val="85000"/>
            </a:srgbClr>
          </a:solidFill>
          <a:ln w="254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20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556000" y="52705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据行业预测，到2027年，全球约</a:t>
            </a: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 Agentic AI 项目可能因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多Agent编排过于复杂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而无法落地或最终失败。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未来发展趋势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5277" r="15277"/>
          <a:stretch>
            <a:fillRect/>
          </a:stretch>
        </p:blipFill>
        <p:spPr>
          <a:xfrm>
            <a:off x="762000" y="1778000"/>
            <a:ext cx="4318000" cy="4318000"/>
          </a:xfrm>
          <a:prstGeom prst="rect">
            <a:avLst/>
          </a:prstGeom>
          <a:noFill/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461000" y="1778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6515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51500" y="21336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1968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 (MAS)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由多个专业Agent组成的“团队”将成为主流，实现复杂任务分工协作。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763000" y="177800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9535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953500" y="21336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779000" y="1968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人机协同模式深化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“人类监督者 + AI Agent团队”的协作模式将在各行各业全面普及。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461000" y="3429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651500" y="3683000"/>
            <a:ext cx="609600" cy="6096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651500" y="37846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619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标准化协议普及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MCP和A2A等通用协议将打破平台壁垒，推动形成互联互通的开放生态。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763000" y="342900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953500" y="3683000"/>
            <a:ext cx="609600" cy="6096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953500" y="37846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779000" y="3619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Agent即服务 (AIaaS)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降低企业开发和部署门槛，让企业能快速将智能Agent能力融入自身业务。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461000" y="5080000"/>
            <a:ext cx="6223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651500" y="5334000"/>
            <a:ext cx="609600" cy="6096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651500" y="54356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5270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具身智能体 (Embodied AI)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Agent将与机器人等物理实体深度结合，走出屏幕，进入并改造物理世界。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UyNmJhMjI1MThmOTBlNmIxZTQ2YTVjOTdkNWY4Nz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3511</Words>
  <Application>WPS 演示</Application>
  <PresentationFormat/>
  <Paragraphs>256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WPS_1696478960</cp:lastModifiedBy>
  <cp:revision>1</cp:revision>
  <dcterms:created xsi:type="dcterms:W3CDTF">2026-05-21T02:49:52Z</dcterms:created>
  <dcterms:modified xsi:type="dcterms:W3CDTF">2026-05-21T02:49:52Z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A8DBCCF46D224701B11E6D3D7E18F763_12</vt:lpwstr>
  </property>
  <property fmtid="{D5CDD505-2E9C-101B-9397-08002B2CF9AE}" pid="3" name="KSOProductBuildVer">
    <vt:lpwstr>2052-11.1.0.14252</vt:lpwstr>
  </property>
</Properties>
</file>