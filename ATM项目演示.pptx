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ATM 柜员机模拟程序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软件工程 · 期末项目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828800" cy="2743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Python 3 + Tkinter 与 Web 前端双重实现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设计模式  ·  图形用户界面  ·  本地数据持久化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0515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项目背景与概述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53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3533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三层架构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1627632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6550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16550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模型层 Model 详解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1929384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1956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1956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视图层 View 详解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231136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2585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2258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控制层 Controller 详解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2532888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560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2560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业务规则与约束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2834640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862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28620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数据持久化方案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3136392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1638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54480" y="31638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版前端改造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4400" y="3438144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4655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54480" y="34655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代码实现与解析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14400" y="3739896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54480" y="3767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测试策略与结果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14400" y="4041648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554480" y="4069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14400" y="4343400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370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554480" y="4370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项目文件结构与分工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项目背景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ATM（Automatic Teller Machine，自动柜员机）是银行业务中最重要的自助服务终端之一。随着金融科技的快速发展，ATM 系统的软件架构设计对可维护性、可扩展性和稳定性提出了更高要求。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课程背景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《软件工程》课程期末项目 — 湘潭大学 计算机·网络空间安全学院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选题编号 23：ATM 柜员机模拟程序（课程指定选题）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20954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要求使用图形用户界面，编程语言不限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57016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要求采用软件工程方法进行需求分析、设计、实现和测试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90448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核心目标：将 MVC 设计模式理论应用于实际开发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本项目采用 Python 3 标准库开发 ATM 柜员机模拟系统，严格遵循 MVC 设计模式。在完成 Tkinter 桌面版后，又使用 HTML/CSS/JavaScript 改造为 Web 版，实现同一业务逻辑在两种前端下的运行。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517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54864" cy="19202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纯标准库开发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零第三方依赖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2103120"/>
            <a:ext cx="26517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2103120"/>
            <a:ext cx="54864" cy="19202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MVC 模式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Model/View/Controller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三层解耦架构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103120"/>
            <a:ext cx="26517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2103120"/>
            <a:ext cx="54864" cy="19202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双端实现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桌面 + Web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同一业务逻辑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项目特点与技术栈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严格 MVC 分层：Model / View / Controller 职责完全分离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56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双前端实现：Tkinter 桌面版 + Web 版共存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0370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零第三方依赖：桌面版完全基于 Python 3 标准库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55117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版零框架：纯原生 HTML / CSS / JavaScript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986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数据持久化：JSON 文件 / localStorage 双方案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完整业务规则：取款/存款/修改密码全部校验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0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核心开发语言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847088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8928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Tkinter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80960" y="18928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桌面 GUI 框架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231136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276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(stdlib)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227685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本地数据持久化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2615184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26609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HTML5 + CSS3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80960" y="266090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前端结构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2999232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0" y="30449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ES6+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80960" y="30449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交互逻辑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383280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2D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80960" y="3429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背景动画渲染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767328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MVC 三层架构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2286000" cy="731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管理核心数据与业务规则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封装 data.json 读写逻辑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所有业务判断在此完成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1097280"/>
            <a:ext cx="54864" cy="3474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234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视图层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 / index.html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20440" y="2194560"/>
            <a:ext cx="2286000" cy="731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负责 GUI 布局与呈现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2044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将用户输入传递给 Controller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不含任何业务逻辑判断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097280"/>
            <a:ext cx="54864" cy="34747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76656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控制层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controllers.py / JS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0" y="2194560"/>
            <a:ext cx="2286000" cy="731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作为 Model 和 View 的桥梁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接收输入 → 调用 Model → 更新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逻辑调度与中转枢纽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98932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模型层 Model — 数据与业务逻辑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核心职责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用户数据加载与持久化（JSON 文件读写）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登录验证：账号和密码匹配校验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余额查询：返回当前账户余额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存款业务：不可为负数的校验与更新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取款业务：100 倍数 / 上限 5000 / 不透支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修改密码：旧密码验证 / 长度 / 相同字符检测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9260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1097280"/>
            <a:ext cx="54864" cy="3474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234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— 取款业务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645920"/>
            <a:ext cx="2468880" cy="27432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withdraw(self, amount):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&lt;= 0: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'无效'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% 100 != 0: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'需100倍数'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5000: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'超上限'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balance: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'余额不足'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self.user_data['balance'] -= amount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'取款成功'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6 项业务规则均在 Model 层实现 — View 层不包含任何逻辑判断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视图层 View — Tkinter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ATMView — 主窗口 (tk.Tk)   |   尺寸 450×400   |   switch_frame() 统一切换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86000"/>
            <a:ext cx="54864" cy="43891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86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LoginFrame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228600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账号输入 + 密码输入 + 登录按钮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788920"/>
            <a:ext cx="54864" cy="43891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88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MenuFrame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7889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278892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个功能按钮纵向排列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291840"/>
            <a:ext cx="54864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918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BalanceFrame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329184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329184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大字体余额 + 返回按钮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794760"/>
            <a:ext cx="54864" cy="438912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7947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ActionFrame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37947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存/取款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83280" y="379476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金额输入框 + 提交/返回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29768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297680"/>
            <a:ext cx="54864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2976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ChangePwdFrame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94560" y="429768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297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三个密码输入框 + 确认/返回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views.py  —  ATMView 继承 tk.Tk，每个界面封装为独立 Frame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视图层 View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 —  原生 HTML + CSS + JavaScript  |  零框架依赖  |  单文件部署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48840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48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screen-login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0" y="2148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1488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AETHER 品牌标识 + 毛玻璃卡片 + 默认账号填充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87752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5877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screen-menu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5877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87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 网格按钮布局 + 底部退出 + 欢迎词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26664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26664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2666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screen-balance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0" y="302666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0" y="30266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金色衬线大字余额 ¥ 0.00 + 装饰分隔线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465576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465576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4655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screen-deposit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86000" y="34655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存款业务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346557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数字输入 + 实时校验 + 成功/错误提示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904488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3904488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39044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screen-withdraw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86000" y="390448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取款业务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91840" y="390448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快捷提交 + 100 倍数提示 + 规则说明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343400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343400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3434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screen-changepwd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86000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43434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三段密码表单 + 全新安全中心样式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控制层 Controller — 逻辑调度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8016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用户操作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点击按钮 / 输入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1280160"/>
            <a:ext cx="1828800" cy="1097280"/>
          </a:xfrm>
          <a:prstGeom prst="rect">
            <a:avLst/>
          </a:prstGeom>
          <a:solidFill>
            <a:srgbClr val="D4A574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280160"/>
            <a:ext cx="54864" cy="109728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接收并处理请求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1463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28016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执行业务逻辑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1463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040880" y="12801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0" y="128016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2376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更新显示结果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核心方法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06324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063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login(acc, pwd)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 → 成功切菜单 / 失败报错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8" name="Text 26"/>
          <p:cNvSpPr/>
          <p:nvPr/>
        </p:nvSpPr>
        <p:spPr>
          <a:xfrm>
            <a:off x="4956048" y="3063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show_balance()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调用 model.get → 显示余额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56616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handle_deposit(amt)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23160" y="35661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校验格式 → model.deposit → 反馈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46320" y="356616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handle_withdraw(amt)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20840" y="35661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校验格式和规则 → model.withdraw → 反馈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06908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" y="4069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handle_change_pwd(...)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23160" y="4069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校验旧密码/一致性/强度 → model更新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46320" y="406908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40" name="Text 38"/>
          <p:cNvSpPr/>
          <p:nvPr/>
        </p:nvSpPr>
        <p:spPr>
          <a:xfrm>
            <a:off x="4956048" y="4069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20840" y="4069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清空状态 → 返回登录界面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业务规则 — ATM 取款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3291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💳  ATM 取款规则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1920240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1920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的倍数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每次取款金额必须是 100 的整数倍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例如：100、200、1000、5000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450592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2450592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单次上限 ¥5,000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单笔取款不得超过 5000 元人民币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450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适应大多数 ATM 机的现金出钞限制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4400" y="2980944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2980944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29809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不可透支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29809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取款金额不得超过当前账户余额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80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余额不足时提示错误，防止信用风险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" y="3511296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3511296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3511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 &gt; 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35112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取款金额必须为正数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35112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负数或零直接拒绝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校验在 Model 层实现：withdraw() — 4 项条件依次判断，任一不通过即拒绝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业务规则 — 存款与修改密码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3200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 ATM 存款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规则简单明了：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金额必须大于 0（不可为负数或零）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无存款金额上限限制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支持小数金额（精确到分）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存款成功后实时更新余额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🔐  修改密码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严格的安全策略：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旧密码必须验证通过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450592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新密码长度 ≥ 6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279806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不能是 6 位完全相同字符（如 111111）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145536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两次新密码输入必须完全一致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9300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修改成功后强制重新登录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所有校验均在 Model 层完成 — deposit() 与 change_password() 方法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数据持久化 — data.json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版使用标准库 json 模块实现数据持久化，数据存储于 data.json 文件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data.json 数据结构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73152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"account": "123456",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"password": "123456",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"balance": 10000.0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54864" cy="13716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层封装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74720" cy="73152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_load_data(self):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os.path.exists(f):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self.initial_data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json.load(f)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_save_to_disk(self, data):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json.dump(data, f, indent=4)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工作流程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程序启动 → _load_data() 读取 data.json → 加载到内存 user_data 字典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136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用户操作 → Model 方法修改 user_data → _save_to_disk() 写回 JSON 文件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1538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写盘策略：每次业务操作（存款/取款/改密）后立即持久化，防止数据丢失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数据持久化 — Web localStorage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版使用浏览器内置的 localStorage 实现数据持久化，与 Python 版保持相同的 Model 接口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 Model 封装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164592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STORAGE_KEY = 'aether_atm';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loadData()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raw = localStorage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.getItem(STORAGE_KEY);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raw ? JSON.parse(raw)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{ account:'123456',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password:'123456',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balance: 10000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saveData(data)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localStorage.setItem(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STORAGE_KEY,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JSON.stringify(data))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54864" cy="228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对比: JSON vs localStorage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存储位置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本地文件系统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浏览器内置存储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83480" y="2478024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2496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读写方式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json.dump / json.load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2496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setItem / getItem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983480" y="2779776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2798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数据格式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7980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文本文件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27980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键值对（值序列化为 JSON）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3081528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30998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生命周期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35040" y="30998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文件持久化，手动可删除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32320" y="3099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浏览器清除或代码删除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3383280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34015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容量限制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取决于文件系统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0" y="3401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 5-10 MB 每域名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3685032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3703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3703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文件不存在则创建默认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323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键不存在则写入默认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版前端改造 — 技术对比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层级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原版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models.py + data.json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对象 + localStorage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Tkinter (views.py)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+ CSS (index.html)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controllers.py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事件监听 + 函数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框架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tkinter (Python 内置)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原生 HTML/CSS/JS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设计风格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系统原生外观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暗色奢华 / 毛玻璃 / 动画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运行方式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 main.py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浏览器打开 index.html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依赖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零第三方库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零第三方库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4297680"/>
            <a:ext cx="45720" cy="4572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4315968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版完整保留了 MVC 架构和全部业务规则，仅替换了前端呈现层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51560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515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 设计风格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66160" y="105156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暗色奢华（Dark Luxury）主题，搭配金色点缀，传递安全、信任的专业银行氛围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673352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6733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🪟  毛玻璃效果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673352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backdrop-filter: blur(24px) + 半透明背景，营造层次感和现代感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295144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295144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2951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✨  动态背景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29514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2D 绘制 6 个浮动金色光晕，缓慢漂移，增加页面生命力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916936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916936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91693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🔤  字体搭配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91693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Display（衬线标题）+ DM Sans（无衬线正文），英文字体在中英文混排中表现出色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38728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538728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53872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🎬  页面切换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353872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keyframes 实现 scale + translateY 入场动画，以及淡出退场效果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4160520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1605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 响应式设计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66160" y="416052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@media 自适应手机和桌面，输入框和按钮在移动设备上同样可用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代码实现 — 模型层源码解析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models.py — 核心业务逻辑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登录验证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check_login(self, acc, pwd):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acc == self.user_data['account'] \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and pwd == self.user_data['password']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字符串比较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存款业务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deposit(self, amount):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&lt;= 0: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'金额必须大于0'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self.user_data['balance'] += amount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self._save_to_disk(self.user_data)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f'存款成功，余额: {bal}'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 &gt; 0 校验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5468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取款业务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withdraw(self, amount):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&lt;= 0: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% 100 != 0: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5000: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self.balance: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self.balance -= amount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'取款成功'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项规则依次判断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15468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修改密码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change_password(self, old, new, cf):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old != self.password: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new != cf: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len(new) &lt; 6: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len(set(new)) == 1: return False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self.password = new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'密码修改成功'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项安全检查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代码实现 — 控制层源码解析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controllers.py — 请求处理流程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handle_deposit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463040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收到金额字符串 → float 解析 → model.deposit → 成功切菜单 / 失败弹窗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handle_withdraw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1993392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99339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收到金额字符串 → int 解析 → model.withdraw → 成功切菜单 / 失败弹窗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handle_change_pwd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77440" y="2523744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252374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 old/new/confirm → 格式预检 → model.change_password → 成功返回登录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054096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60320" y="3054096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字符串比对 → model.check_login → 成功显示菜单 / 失败提示错误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77440" y="3584448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60320" y="358444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调用 model.get_balance → 格式化 ¥xxx.xx → 显示余额界面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377440" y="4114800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4114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清空输入框 → 重设数据 → switch_frame(LoginFrame)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测试策略与环境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测试环境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操作系统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1600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/ Windows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版本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1892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3.10+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18541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1854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120+ / Edge 120+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4780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24780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x86_64 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测试策略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功能测试：每个业务功能独立测试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18928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边界测试：覆盖所有业务规则的边界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1854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异常测试：非法输入、空值、负数等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478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回归测试：Bug 修复后重新验证全用例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测试用例统计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18288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测试用例总数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65176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265176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657600"/>
            <a:ext cx="18288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8463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40880" y="3657600"/>
            <a:ext cx="1828800" cy="82296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4088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0408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通过率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828800"/>
                <a:gridCol w="2286000"/>
                <a:gridCol w="4572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编号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测试用例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预期结果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正确登录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123456/123456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进入主菜单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错误密码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123456/000000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合法取款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扣减余额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非100倍数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提示上限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余额不足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余额100取200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提示拒绝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合法存款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增加余额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负数存款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正常改密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旧/新/确认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修改成功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旧密码错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旧密码错误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全相同字符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提示拒绝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 29 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修复记录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005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43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143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取款输入浮点数未处理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188720"/>
            <a:ext cx="548640" cy="20116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1887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严重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77240" y="1444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问题：用户输入 100.5 时程序崩溃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16916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修复：增加 int(float()) 转换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804672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286000"/>
            <a:ext cx="54864" cy="10058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修改密码后未清空输入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2377440"/>
            <a:ext cx="548640" cy="20116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7" name="Text 15"/>
          <p:cNvSpPr/>
          <p:nvPr/>
        </p:nvSpPr>
        <p:spPr>
          <a:xfrm>
            <a:off x="5120640" y="23774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" y="263347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问题：返回登录时输入框残留旧数据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28803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修复：返回前清空所有表单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版首次运行密码错误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0" y="3566160"/>
            <a:ext cx="548640" cy="20116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566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77240" y="3822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问题：localStorage 空数据时未初始化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069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修复：loadData 增加默认值回退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Bug 已修复并经过回归测试验证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运行指南 — Python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3474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🐍  Python 环境要求与运行步骤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41732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环境准备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06040" y="1783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确保安装 Python 3.6+，Linux 需安装 python3-tk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17320" y="2240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创建虚拟环境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venv venv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激活虚拟环境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06040" y="2697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venv/bin/activate（Linux/Mac）或 venv\Scripts\activate（Windows）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41732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启动程序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154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main.py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41732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使用界面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06040" y="3611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自动弹出 450×400 的 Tkinter 窗口，默认已填入账号密码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17320" y="4069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退出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06040" y="4069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点击主菜单「退出登录」或直接关闭窗口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注意事项：由于使用 Tkinter，需要桌面环境（Windows/macOS/Linux Desktop）支持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运行指南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743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🌐  方法一：直接打开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在文件管理器中双击 index.html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即可在默认浏览器中打开使用。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无需任何服务端环境，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离线也可正常运行。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7432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🌐  方法二：HTTP 服务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691640"/>
            <a:ext cx="3474720" cy="13716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在项目目录下运行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http.server 8000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浏览器访问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浏览器兼容性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90+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16" name="Text 14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90+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Firefox 90+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14+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2" name="Text 20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76+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项目文件结构与分工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项目文件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34640" y="1371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程序入口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6420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34640" y="1691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模型层（数据+业务）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98424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11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~230行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3464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视图层（Tkinter 9 帧）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30428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controllers.py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23317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3464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控制层（逻辑调度）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2432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lang.py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03120" y="26517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83464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多语言中英文字典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94436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data.json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多用户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834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数据持久化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26440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0312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3464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前端（全功能）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58444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3611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make-ppt.js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03120" y="36118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脚本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83464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 自动生成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小组分工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组长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550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架构设计、Model + Controller 开发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5508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视图层开发与 UI 设计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55080" y="21396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前端改造、PPT 制作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55080" y="252374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需求分析、用例模型、测试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4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55080" y="29077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数据持久化、文档排版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4864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技术特点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零第三方依赖  |  MVC 全解耦  |  双端运行  |  Web 暗色设计  |  完整测试覆盖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新增功能：转账 · 注册 · 登录锁定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跨账户转账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支持多用户，data.json 改为用户列表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金额必须为 100 的倍数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单笔 ≤ 5000，不可透支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不可转账给自己，目标账号必须存在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注册 &amp; 登录锁定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注册新账户：账号 ≥ 4 位字母数字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密码 ≥ 6 位，注册成功自动登录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登录锁定：连续 3 次错误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锁定 3 分钟，防止暴力破解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880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交易记录：每笔存款、取款、转账自动记录，支持按时间倒序查询。所有业务规则均在 Model 层统一实现。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transfer(self, target, amount):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target == self.account: return False, '不能转账给自己'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target_user = self._find_user(target)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target_user: return False, '目标账号不存在'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多语言支持 · 架构扩展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01168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国际化（i18n）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中英文双语字典，集中管理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tr(key) 统一访问，支持格式化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Python 版切换语言后重绘界面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Web 版 data-i18n 属性即时切换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菜单一键切换，无需重启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0116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lang.py 实现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3337560" cy="13716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6459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STRINGS =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'zh': { 'menu_balance': '查询余额'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'en': { 'menu_balance': 'Balance'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tr(key):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STRINGS[lang][key]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38328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429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架构演进：单用户 → 多用户 → 交易日志 → 国际化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lang.py 模块 + TransferFrame/HistoryFrame/RegisterFrame 三个视图，总代码扩展约 40%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D4A574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D4A574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29768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840480" y="2651760"/>
            <a:ext cx="1463040" cy="1828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柜员机模拟程序 · 软件工程期末项目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设计模式  |  Python 3 + Tkinter  |  Web 前端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课程教师：陈姝  |  湘潭大学 · 计算机·网络空间安全学院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ATM柜员机模拟程序</dc:title>
  <dc:subject>PptxGenJS Presentation</dc:subject>
  <dc:creator>软件工程课程项目</dc:creator>
  <cp:lastModifiedBy>软件工程课程项目</cp:lastModifiedBy>
  <cp:revision>1</cp:revision>
  <dcterms:created xsi:type="dcterms:W3CDTF">2026-06-01T06:55:10Z</dcterms:created>
  <dcterms:modified xsi:type="dcterms:W3CDTF">2026-06-01T06:55:10Z</dcterms:modified>
</cp:coreProperties>
</file>