
<file path=[Content_Types].xml><?xml version="1.0" encoding="utf-8"?>
<Types xmlns="http://schemas.openxmlformats.org/package/2006/content-types">
  <Default Extension="png" ContentType="image/png"/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0" r:id="rId3"/>
  </p:sldMasterIdLst>
  <p:notesMasterIdLst>
    <p:notesMasterId r:id="rId5"/>
  </p:notesMasterIdLst>
  <p:sldIdLst>
    <p:sldId id="256" r:id="rId4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88" r:id="rId20"/>
    <p:sldId id="271" r:id="rId21"/>
    <p:sldId id="289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5.xml"/><Relationship Id="rId8" Type="http://schemas.openxmlformats.org/officeDocument/2006/relationships/slide" Target="slides/slide4.xml"/><Relationship Id="rId7" Type="http://schemas.openxmlformats.org/officeDocument/2006/relationships/slide" Target="slides/slide3.xml"/><Relationship Id="rId6" Type="http://schemas.openxmlformats.org/officeDocument/2006/relationships/slide" Target="slides/slide2.xml"/><Relationship Id="rId5" Type="http://schemas.openxmlformats.org/officeDocument/2006/relationships/notesMaster" Target="notesMasters/notesMaster1.xml"/><Relationship Id="rId41" Type="http://schemas.openxmlformats.org/officeDocument/2006/relationships/tableStyles" Target="tableStyles.xml"/><Relationship Id="rId40" Type="http://schemas.openxmlformats.org/officeDocument/2006/relationships/viewProps" Target="viewProps.xml"/><Relationship Id="rId4" Type="http://schemas.openxmlformats.org/officeDocument/2006/relationships/slide" Target="slides/slide1.xml"/><Relationship Id="rId39" Type="http://schemas.openxmlformats.org/officeDocument/2006/relationships/presProps" Target="presProps.xml"/><Relationship Id="rId38" Type="http://schemas.openxmlformats.org/officeDocument/2006/relationships/slide" Target="slides/slide34.xml"/><Relationship Id="rId37" Type="http://schemas.openxmlformats.org/officeDocument/2006/relationships/slide" Target="slides/slide33.xml"/><Relationship Id="rId36" Type="http://schemas.openxmlformats.org/officeDocument/2006/relationships/slide" Target="slides/slide32.xml"/><Relationship Id="rId35" Type="http://schemas.openxmlformats.org/officeDocument/2006/relationships/slide" Target="slides/slide31.xml"/><Relationship Id="rId34" Type="http://schemas.openxmlformats.org/officeDocument/2006/relationships/slide" Target="slides/slide30.xml"/><Relationship Id="rId33" Type="http://schemas.openxmlformats.org/officeDocument/2006/relationships/slide" Target="slides/slide29.xml"/><Relationship Id="rId32" Type="http://schemas.openxmlformats.org/officeDocument/2006/relationships/slide" Target="slides/slide28.xml"/><Relationship Id="rId31" Type="http://schemas.openxmlformats.org/officeDocument/2006/relationships/slide" Target="slides/slide27.xml"/><Relationship Id="rId30" Type="http://schemas.openxmlformats.org/officeDocument/2006/relationships/slide" Target="slides/slide26.xml"/><Relationship Id="rId3" Type="http://schemas.openxmlformats.org/officeDocument/2006/relationships/slideMaster" Target="slideMasters/slideMaster2.xml"/><Relationship Id="rId29" Type="http://schemas.openxmlformats.org/officeDocument/2006/relationships/slide" Target="slides/slide25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0" Type="http://schemas.openxmlformats.org/officeDocument/2006/relationships/slide" Target="slides/slide16.xml"/><Relationship Id="rId2" Type="http://schemas.openxmlformats.org/officeDocument/2006/relationships/theme" Target="theme/theme1.xml"/><Relationship Id="rId19" Type="http://schemas.openxmlformats.org/officeDocument/2006/relationships/slide" Target="slides/slide15.xml"/><Relationship Id="rId18" Type="http://schemas.openxmlformats.org/officeDocument/2006/relationships/slide" Target="slides/slide14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4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5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6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7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8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9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0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2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3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4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8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87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8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107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8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111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2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1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115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6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1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119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20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2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12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2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2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127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28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7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11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2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15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6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19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20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2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2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27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28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27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28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1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2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27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28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5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6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9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0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47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8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51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2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5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55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6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5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59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0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6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6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6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67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8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6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71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2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7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75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6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7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79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0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8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8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8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91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2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9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95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6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9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99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0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10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6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jpe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8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jpe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C"/>
        </a:solidFill>
        <a:effectLst/>
      </p:bgPr>
    </p:bg>
    <p:spTree>
      <p:nvGrpSpPr>
        <p:cNvPr id="25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Shape 0"/>
          <p:cNvSpPr/>
          <p:nvPr/>
        </p:nvSpPr>
        <p:spPr>
          <a:xfrm>
            <a:off x="6858000" y="-1371600"/>
            <a:ext cx="3657600" cy="3657600"/>
          </a:xfrm>
          <a:prstGeom prst="ellipse">
            <a:avLst/>
          </a:prstGeom>
          <a:solidFill>
            <a:srgbClr val="D4A574">
              <a:alpha val="8000"/>
            </a:srgbClr>
          </a:solidFill>
        </p:spPr>
        <p:txBody>
          <a:bodyPr/>
          <a:p/>
        </p:txBody>
      </p:sp>
      <p:sp>
        <p:nvSpPr>
          <p:cNvPr id="256" name="Shape 1"/>
          <p:cNvSpPr/>
          <p:nvPr/>
        </p:nvSpPr>
        <p:spPr>
          <a:xfrm>
            <a:off x="7772400" y="2743200"/>
            <a:ext cx="2743200" cy="2743200"/>
          </a:xfrm>
          <a:prstGeom prst="ellipse">
            <a:avLst/>
          </a:prstGeom>
          <a:solidFill>
            <a:srgbClr val="D4A574">
              <a:alpha val="10000"/>
            </a:srgbClr>
          </a:solidFill>
        </p:spPr>
        <p:txBody>
          <a:bodyPr/>
          <a:p/>
        </p:txBody>
      </p:sp>
      <p:sp>
        <p:nvSpPr>
          <p:cNvPr id="257" name="Text 2"/>
          <p:cNvSpPr/>
          <p:nvPr/>
        </p:nvSpPr>
        <p:spPr>
          <a:xfrm>
            <a:off x="731520" y="914400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D4A574"/>
                </a:solidFill>
              </a:rPr>
              <a:t>✦</a:t>
            </a:r>
            <a:endParaRPr lang="en-US" sz="2400" dirty="0"/>
          </a:p>
        </p:txBody>
      </p:sp>
      <p:sp>
        <p:nvSpPr>
          <p:cNvPr id="258" name="Text 3"/>
          <p:cNvSpPr/>
          <p:nvPr/>
        </p:nvSpPr>
        <p:spPr>
          <a:xfrm>
            <a:off x="731520" y="1554480"/>
            <a:ext cx="7680960" cy="914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D4A574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ATM 柜员机模拟程序</a:t>
            </a:r>
            <a:endParaRPr lang="en-US" sz="4000" dirty="0"/>
          </a:p>
        </p:txBody>
      </p:sp>
      <p:sp>
        <p:nvSpPr>
          <p:cNvPr id="259" name="Text 4"/>
          <p:cNvSpPr/>
          <p:nvPr/>
        </p:nvSpPr>
        <p:spPr>
          <a:xfrm>
            <a:off x="731520" y="2560320"/>
            <a:ext cx="768096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5F0E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软件</a:t>
            </a:r>
            <a:r>
              <a:rPr lang="zh-CN" altLang="en-US" sz="1800" dirty="0">
                <a:solidFill>
                  <a:srgbClr val="F5F0E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开发</a:t>
            </a:r>
            <a:r>
              <a:rPr lang="en-US" sz="1800" dirty="0">
                <a:solidFill>
                  <a:srgbClr val="F5F0E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· 期末项目</a:t>
            </a:r>
            <a:endParaRPr lang="en-US" sz="1800" dirty="0"/>
          </a:p>
        </p:txBody>
      </p:sp>
      <p:sp>
        <p:nvSpPr>
          <p:cNvPr id="260" name="Shape 5"/>
          <p:cNvSpPr/>
          <p:nvPr/>
        </p:nvSpPr>
        <p:spPr>
          <a:xfrm>
            <a:off x="731520" y="3200400"/>
            <a:ext cx="1828800" cy="27432"/>
          </a:xfrm>
          <a:prstGeom prst="rect">
            <a:avLst/>
          </a:prstGeom>
          <a:solidFill>
            <a:srgbClr val="D4A574"/>
          </a:solidFill>
        </p:spPr>
        <p:txBody>
          <a:bodyPr/>
          <a:p/>
        </p:txBody>
      </p:sp>
      <p:sp>
        <p:nvSpPr>
          <p:cNvPr id="261" name="Text 6"/>
          <p:cNvSpPr/>
          <p:nvPr/>
        </p:nvSpPr>
        <p:spPr>
          <a:xfrm>
            <a:off x="731520" y="3474720"/>
            <a:ext cx="76809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基于 Python 3 + Tkinter 与 Web 前端双重实现</a:t>
            </a:r>
            <a:endParaRPr lang="en-US" sz="1300" dirty="0"/>
          </a:p>
        </p:txBody>
      </p:sp>
      <p:sp>
        <p:nvSpPr>
          <p:cNvPr id="262" name="Text 7"/>
          <p:cNvSpPr/>
          <p:nvPr/>
        </p:nvSpPr>
        <p:spPr>
          <a:xfrm>
            <a:off x="731520" y="3840480"/>
            <a:ext cx="76809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MVC 设计模式  ·  图形用户界面  ·  本地数据持久化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B"/>
        </a:solidFill>
        <a:effectLst/>
      </p:bgPr>
    </p:bg>
    <p:spTree>
      <p:nvGrpSpPr>
        <p:cNvPr id="40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Shape 0"/>
          <p:cNvSpPr/>
          <p:nvPr/>
        </p:nvSpPr>
        <p:spPr>
          <a:xfrm>
            <a:off x="548640" y="320040"/>
            <a:ext cx="64008" cy="502920"/>
          </a:xfrm>
          <a:prstGeom prst="rect">
            <a:avLst/>
          </a:prstGeom>
          <a:solidFill>
            <a:srgbClr val="D4A574"/>
          </a:solidFill>
        </p:spPr>
        <p:txBody>
          <a:bodyPr/>
          <a:p/>
        </p:txBody>
      </p:sp>
      <p:sp>
        <p:nvSpPr>
          <p:cNvPr id="409" name="Text 1"/>
          <p:cNvSpPr/>
          <p:nvPr/>
        </p:nvSpPr>
        <p:spPr>
          <a:xfrm>
            <a:off x="822960" y="274320"/>
            <a:ext cx="777240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CONTENTS</a:t>
            </a:r>
            <a:endParaRPr lang="en-US" sz="2800" dirty="0"/>
          </a:p>
        </p:txBody>
      </p:sp>
      <p:sp>
        <p:nvSpPr>
          <p:cNvPr id="410" name="Text 2"/>
          <p:cNvSpPr/>
          <p:nvPr/>
        </p:nvSpPr>
        <p:spPr>
          <a:xfrm>
            <a:off x="914400" y="105156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4A574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01</a:t>
            </a:r>
            <a:endParaRPr lang="en-US" sz="1400" dirty="0"/>
          </a:p>
        </p:txBody>
      </p:sp>
      <p:sp>
        <p:nvSpPr>
          <p:cNvPr id="411" name="Text 3"/>
          <p:cNvSpPr/>
          <p:nvPr/>
        </p:nvSpPr>
        <p:spPr>
          <a:xfrm>
            <a:off x="1554480" y="105156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项目背景与概述</a:t>
            </a:r>
            <a:endParaRPr lang="en-US" sz="1300" dirty="0"/>
          </a:p>
        </p:txBody>
      </p:sp>
      <p:sp>
        <p:nvSpPr>
          <p:cNvPr id="412" name="Shape 4"/>
          <p:cNvSpPr/>
          <p:nvPr/>
        </p:nvSpPr>
        <p:spPr>
          <a:xfrm>
            <a:off x="914400" y="1325880"/>
            <a:ext cx="7315200" cy="5486"/>
          </a:xfrm>
          <a:prstGeom prst="rect">
            <a:avLst/>
          </a:prstGeom>
          <a:solidFill>
            <a:srgbClr val="E5E7EB"/>
          </a:solidFill>
        </p:spPr>
        <p:txBody>
          <a:bodyPr/>
          <a:p/>
        </p:txBody>
      </p:sp>
      <p:sp>
        <p:nvSpPr>
          <p:cNvPr id="413" name="Text 5"/>
          <p:cNvSpPr/>
          <p:nvPr/>
        </p:nvSpPr>
        <p:spPr>
          <a:xfrm>
            <a:off x="914400" y="1353312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4A574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02</a:t>
            </a:r>
            <a:endParaRPr lang="en-US" sz="1400" dirty="0"/>
          </a:p>
        </p:txBody>
      </p:sp>
      <p:sp>
        <p:nvSpPr>
          <p:cNvPr id="414" name="Text 6"/>
          <p:cNvSpPr/>
          <p:nvPr/>
        </p:nvSpPr>
        <p:spPr>
          <a:xfrm>
            <a:off x="1554480" y="1353312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MVC 三层架构</a:t>
            </a:r>
            <a:endParaRPr lang="en-US" sz="1300" dirty="0"/>
          </a:p>
        </p:txBody>
      </p:sp>
      <p:sp>
        <p:nvSpPr>
          <p:cNvPr id="415" name="Shape 7"/>
          <p:cNvSpPr/>
          <p:nvPr/>
        </p:nvSpPr>
        <p:spPr>
          <a:xfrm>
            <a:off x="914400" y="1627632"/>
            <a:ext cx="7315200" cy="5486"/>
          </a:xfrm>
          <a:prstGeom prst="rect">
            <a:avLst/>
          </a:prstGeom>
          <a:solidFill>
            <a:srgbClr val="E5E7EB"/>
          </a:solidFill>
        </p:spPr>
        <p:txBody>
          <a:bodyPr/>
          <a:p/>
        </p:txBody>
      </p:sp>
      <p:sp>
        <p:nvSpPr>
          <p:cNvPr id="416" name="Text 8"/>
          <p:cNvSpPr/>
          <p:nvPr/>
        </p:nvSpPr>
        <p:spPr>
          <a:xfrm>
            <a:off x="914400" y="16550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4A574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03</a:t>
            </a:r>
            <a:endParaRPr lang="en-US" sz="1400" dirty="0"/>
          </a:p>
        </p:txBody>
      </p:sp>
      <p:sp>
        <p:nvSpPr>
          <p:cNvPr id="417" name="Text 9"/>
          <p:cNvSpPr/>
          <p:nvPr/>
        </p:nvSpPr>
        <p:spPr>
          <a:xfrm>
            <a:off x="1554480" y="1655064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模型层 Model 详解</a:t>
            </a:r>
            <a:endParaRPr lang="en-US" sz="1300" dirty="0"/>
          </a:p>
        </p:txBody>
      </p:sp>
      <p:sp>
        <p:nvSpPr>
          <p:cNvPr id="418" name="Shape 10"/>
          <p:cNvSpPr/>
          <p:nvPr/>
        </p:nvSpPr>
        <p:spPr>
          <a:xfrm>
            <a:off x="914400" y="1929384"/>
            <a:ext cx="7315200" cy="5486"/>
          </a:xfrm>
          <a:prstGeom prst="rect">
            <a:avLst/>
          </a:prstGeom>
          <a:solidFill>
            <a:srgbClr val="E5E7EB"/>
          </a:solidFill>
        </p:spPr>
        <p:txBody>
          <a:bodyPr/>
          <a:p/>
        </p:txBody>
      </p:sp>
      <p:sp>
        <p:nvSpPr>
          <p:cNvPr id="419" name="Text 11"/>
          <p:cNvSpPr/>
          <p:nvPr/>
        </p:nvSpPr>
        <p:spPr>
          <a:xfrm>
            <a:off x="914400" y="1956816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4A574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04</a:t>
            </a:r>
            <a:endParaRPr lang="en-US" sz="1400" dirty="0"/>
          </a:p>
        </p:txBody>
      </p:sp>
      <p:sp>
        <p:nvSpPr>
          <p:cNvPr id="420" name="Text 12"/>
          <p:cNvSpPr/>
          <p:nvPr/>
        </p:nvSpPr>
        <p:spPr>
          <a:xfrm>
            <a:off x="1554480" y="1956816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视图层 </a:t>
            </a:r>
            <a:r>
              <a:rPr lang="en-US" sz="13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Controller </a:t>
            </a:r>
            <a:r>
              <a:rPr lang="en-US" sz="13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详解</a:t>
            </a:r>
            <a:endParaRPr lang="en-US" sz="1300" dirty="0"/>
          </a:p>
        </p:txBody>
      </p:sp>
      <p:sp>
        <p:nvSpPr>
          <p:cNvPr id="421" name="Shape 13"/>
          <p:cNvSpPr/>
          <p:nvPr/>
        </p:nvSpPr>
        <p:spPr>
          <a:xfrm>
            <a:off x="914400" y="2231136"/>
            <a:ext cx="7315200" cy="5486"/>
          </a:xfrm>
          <a:prstGeom prst="rect">
            <a:avLst/>
          </a:prstGeom>
          <a:solidFill>
            <a:srgbClr val="E5E7EB"/>
          </a:solidFill>
        </p:spPr>
        <p:txBody>
          <a:bodyPr/>
          <a:p/>
        </p:txBody>
      </p:sp>
      <p:sp>
        <p:nvSpPr>
          <p:cNvPr id="422" name="Text 14"/>
          <p:cNvSpPr/>
          <p:nvPr/>
        </p:nvSpPr>
        <p:spPr>
          <a:xfrm>
            <a:off x="914400" y="2258568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4A574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05</a:t>
            </a:r>
            <a:endParaRPr lang="en-US" sz="1400" dirty="0"/>
          </a:p>
        </p:txBody>
      </p:sp>
      <p:sp>
        <p:nvSpPr>
          <p:cNvPr id="423" name="Text 15"/>
          <p:cNvSpPr/>
          <p:nvPr/>
        </p:nvSpPr>
        <p:spPr>
          <a:xfrm>
            <a:off x="1554480" y="2258568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控制层 </a:t>
            </a:r>
            <a:r>
              <a:rPr lang="en-US" sz="13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View</a:t>
            </a:r>
            <a:r>
              <a:rPr lang="en-US" sz="13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详解</a:t>
            </a:r>
            <a:endParaRPr lang="en-US" sz="1300" dirty="0"/>
          </a:p>
        </p:txBody>
      </p:sp>
      <p:sp>
        <p:nvSpPr>
          <p:cNvPr id="424" name="Shape 16"/>
          <p:cNvSpPr/>
          <p:nvPr/>
        </p:nvSpPr>
        <p:spPr>
          <a:xfrm>
            <a:off x="914400" y="2532888"/>
            <a:ext cx="7315200" cy="5486"/>
          </a:xfrm>
          <a:prstGeom prst="rect">
            <a:avLst/>
          </a:prstGeom>
          <a:solidFill>
            <a:srgbClr val="E5E7EB"/>
          </a:solidFill>
        </p:spPr>
        <p:txBody>
          <a:bodyPr/>
          <a:p/>
        </p:txBody>
      </p:sp>
      <p:sp>
        <p:nvSpPr>
          <p:cNvPr id="425" name="Text 17"/>
          <p:cNvSpPr/>
          <p:nvPr/>
        </p:nvSpPr>
        <p:spPr>
          <a:xfrm>
            <a:off x="914400" y="25603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4A574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06</a:t>
            </a:r>
            <a:endParaRPr lang="en-US" sz="1400" dirty="0"/>
          </a:p>
        </p:txBody>
      </p:sp>
      <p:sp>
        <p:nvSpPr>
          <p:cNvPr id="426" name="Text 18"/>
          <p:cNvSpPr/>
          <p:nvPr/>
        </p:nvSpPr>
        <p:spPr>
          <a:xfrm>
            <a:off x="1554480" y="256032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业务规则与约束</a:t>
            </a:r>
            <a:endParaRPr lang="en-US" sz="1300" dirty="0"/>
          </a:p>
        </p:txBody>
      </p:sp>
      <p:sp>
        <p:nvSpPr>
          <p:cNvPr id="427" name="Shape 19"/>
          <p:cNvSpPr/>
          <p:nvPr/>
        </p:nvSpPr>
        <p:spPr>
          <a:xfrm>
            <a:off x="914400" y="2834640"/>
            <a:ext cx="7315200" cy="5486"/>
          </a:xfrm>
          <a:prstGeom prst="rect">
            <a:avLst/>
          </a:prstGeom>
          <a:solidFill>
            <a:srgbClr val="E5E7EB"/>
          </a:solidFill>
        </p:spPr>
        <p:txBody>
          <a:bodyPr/>
          <a:p/>
        </p:txBody>
      </p:sp>
      <p:sp>
        <p:nvSpPr>
          <p:cNvPr id="428" name="Text 20"/>
          <p:cNvSpPr/>
          <p:nvPr/>
        </p:nvSpPr>
        <p:spPr>
          <a:xfrm>
            <a:off x="914400" y="2862072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4A574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07</a:t>
            </a:r>
            <a:endParaRPr lang="en-US" sz="1400" dirty="0"/>
          </a:p>
        </p:txBody>
      </p:sp>
      <p:sp>
        <p:nvSpPr>
          <p:cNvPr id="429" name="Text 21"/>
          <p:cNvSpPr/>
          <p:nvPr/>
        </p:nvSpPr>
        <p:spPr>
          <a:xfrm>
            <a:off x="1554480" y="2862072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数据持久化方案</a:t>
            </a:r>
            <a:endParaRPr lang="en-US" sz="1300" dirty="0"/>
          </a:p>
        </p:txBody>
      </p:sp>
      <p:sp>
        <p:nvSpPr>
          <p:cNvPr id="430" name="Shape 22"/>
          <p:cNvSpPr/>
          <p:nvPr/>
        </p:nvSpPr>
        <p:spPr>
          <a:xfrm>
            <a:off x="914400" y="3136392"/>
            <a:ext cx="7315200" cy="5486"/>
          </a:xfrm>
          <a:prstGeom prst="rect">
            <a:avLst/>
          </a:prstGeom>
          <a:solidFill>
            <a:srgbClr val="E5E7EB"/>
          </a:solidFill>
        </p:spPr>
        <p:txBody>
          <a:bodyPr/>
          <a:p/>
        </p:txBody>
      </p:sp>
      <p:sp>
        <p:nvSpPr>
          <p:cNvPr id="431" name="Text 23"/>
          <p:cNvSpPr/>
          <p:nvPr/>
        </p:nvSpPr>
        <p:spPr>
          <a:xfrm>
            <a:off x="914400" y="316382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4A574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08</a:t>
            </a:r>
            <a:endParaRPr lang="en-US" sz="1400" dirty="0"/>
          </a:p>
        </p:txBody>
      </p:sp>
      <p:sp>
        <p:nvSpPr>
          <p:cNvPr id="432" name="Text 24"/>
          <p:cNvSpPr/>
          <p:nvPr/>
        </p:nvSpPr>
        <p:spPr>
          <a:xfrm>
            <a:off x="1554480" y="3163824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Web 版前端改造</a:t>
            </a:r>
            <a:endParaRPr lang="en-US" sz="1300" dirty="0"/>
          </a:p>
        </p:txBody>
      </p:sp>
      <p:sp>
        <p:nvSpPr>
          <p:cNvPr id="433" name="Shape 25"/>
          <p:cNvSpPr/>
          <p:nvPr/>
        </p:nvSpPr>
        <p:spPr>
          <a:xfrm>
            <a:off x="914400" y="3438144"/>
            <a:ext cx="7315200" cy="5486"/>
          </a:xfrm>
          <a:prstGeom prst="rect">
            <a:avLst/>
          </a:prstGeom>
          <a:solidFill>
            <a:srgbClr val="E5E7EB"/>
          </a:solidFill>
        </p:spPr>
        <p:txBody>
          <a:bodyPr/>
          <a:p/>
        </p:txBody>
      </p:sp>
      <p:sp>
        <p:nvSpPr>
          <p:cNvPr id="434" name="Text 26"/>
          <p:cNvSpPr/>
          <p:nvPr/>
        </p:nvSpPr>
        <p:spPr>
          <a:xfrm>
            <a:off x="914400" y="3465576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4A574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09</a:t>
            </a:r>
            <a:endParaRPr lang="en-US" sz="1400" dirty="0"/>
          </a:p>
        </p:txBody>
      </p:sp>
      <p:sp>
        <p:nvSpPr>
          <p:cNvPr id="435" name="Text 27"/>
          <p:cNvSpPr/>
          <p:nvPr/>
        </p:nvSpPr>
        <p:spPr>
          <a:xfrm>
            <a:off x="1554480" y="3465576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代码实现与解析</a:t>
            </a:r>
            <a:endParaRPr lang="en-US" sz="1300" dirty="0"/>
          </a:p>
        </p:txBody>
      </p:sp>
      <p:sp>
        <p:nvSpPr>
          <p:cNvPr id="436" name="Shape 28"/>
          <p:cNvSpPr/>
          <p:nvPr/>
        </p:nvSpPr>
        <p:spPr>
          <a:xfrm>
            <a:off x="914400" y="3739896"/>
            <a:ext cx="7315200" cy="5486"/>
          </a:xfrm>
          <a:prstGeom prst="rect">
            <a:avLst/>
          </a:prstGeom>
          <a:solidFill>
            <a:srgbClr val="E5E7EB"/>
          </a:solidFill>
        </p:spPr>
        <p:txBody>
          <a:bodyPr/>
          <a:p/>
        </p:txBody>
      </p:sp>
      <p:sp>
        <p:nvSpPr>
          <p:cNvPr id="437" name="Text 29"/>
          <p:cNvSpPr/>
          <p:nvPr/>
        </p:nvSpPr>
        <p:spPr>
          <a:xfrm>
            <a:off x="914400" y="3767328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4A574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10</a:t>
            </a:r>
            <a:endParaRPr lang="en-US" sz="1400" dirty="0"/>
          </a:p>
        </p:txBody>
      </p:sp>
      <p:sp>
        <p:nvSpPr>
          <p:cNvPr id="438" name="Text 30"/>
          <p:cNvSpPr/>
          <p:nvPr/>
        </p:nvSpPr>
        <p:spPr>
          <a:xfrm>
            <a:off x="1554480" y="3767328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测试策略与结果</a:t>
            </a:r>
            <a:endParaRPr lang="en-US" sz="1300" dirty="0"/>
          </a:p>
        </p:txBody>
      </p:sp>
      <p:sp>
        <p:nvSpPr>
          <p:cNvPr id="439" name="Shape 31"/>
          <p:cNvSpPr/>
          <p:nvPr/>
        </p:nvSpPr>
        <p:spPr>
          <a:xfrm>
            <a:off x="914400" y="4041648"/>
            <a:ext cx="7315200" cy="5486"/>
          </a:xfrm>
          <a:prstGeom prst="rect">
            <a:avLst/>
          </a:prstGeom>
          <a:solidFill>
            <a:srgbClr val="E5E7EB"/>
          </a:solidFill>
        </p:spPr>
        <p:txBody>
          <a:bodyPr/>
          <a:p/>
        </p:txBody>
      </p:sp>
      <p:sp>
        <p:nvSpPr>
          <p:cNvPr id="440" name="Text 32"/>
          <p:cNvSpPr/>
          <p:nvPr/>
        </p:nvSpPr>
        <p:spPr>
          <a:xfrm>
            <a:off x="914400" y="406908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4A574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11</a:t>
            </a:r>
            <a:endParaRPr lang="en-US" sz="1400" dirty="0"/>
          </a:p>
        </p:txBody>
      </p:sp>
      <p:sp>
        <p:nvSpPr>
          <p:cNvPr id="441" name="Text 33"/>
          <p:cNvSpPr/>
          <p:nvPr/>
        </p:nvSpPr>
        <p:spPr>
          <a:xfrm>
            <a:off x="1554480" y="406908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运行指南</a:t>
            </a:r>
            <a:endParaRPr lang="en-US" sz="1300" dirty="0"/>
          </a:p>
        </p:txBody>
      </p:sp>
      <p:sp>
        <p:nvSpPr>
          <p:cNvPr id="442" name="Shape 34"/>
          <p:cNvSpPr/>
          <p:nvPr/>
        </p:nvSpPr>
        <p:spPr>
          <a:xfrm>
            <a:off x="914400" y="4343400"/>
            <a:ext cx="7315200" cy="5486"/>
          </a:xfrm>
          <a:prstGeom prst="rect">
            <a:avLst/>
          </a:prstGeom>
          <a:solidFill>
            <a:srgbClr val="E5E7EB"/>
          </a:solidFill>
        </p:spPr>
        <p:txBody>
          <a:bodyPr/>
          <a:p/>
        </p:txBody>
      </p:sp>
      <p:sp>
        <p:nvSpPr>
          <p:cNvPr id="443" name="Text 35"/>
          <p:cNvSpPr/>
          <p:nvPr/>
        </p:nvSpPr>
        <p:spPr>
          <a:xfrm>
            <a:off x="914400" y="4370832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4A574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12</a:t>
            </a:r>
            <a:endParaRPr lang="en-US" sz="1400" dirty="0"/>
          </a:p>
        </p:txBody>
      </p:sp>
      <p:sp>
        <p:nvSpPr>
          <p:cNvPr id="444" name="Text 36"/>
          <p:cNvSpPr/>
          <p:nvPr/>
        </p:nvSpPr>
        <p:spPr>
          <a:xfrm>
            <a:off x="1554480" y="4370832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项目文件结构与分工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B"/>
        </a:solidFill>
        <a:effectLst/>
      </p:bgPr>
    </p:bg>
    <p:spTree>
      <p:nvGrpSpPr>
        <p:cNvPr id="53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7" name="Shape 0"/>
          <p:cNvSpPr/>
          <p:nvPr/>
        </p:nvSpPr>
        <p:spPr>
          <a:xfrm>
            <a:off x="548640" y="411480"/>
            <a:ext cx="64008" cy="502920"/>
          </a:xfrm>
          <a:prstGeom prst="rect">
            <a:avLst/>
          </a:prstGeom>
          <a:solidFill>
            <a:srgbClr val="D4A574"/>
          </a:solidFill>
        </p:spPr>
        <p:txBody>
          <a:bodyPr/>
          <a:p/>
        </p:txBody>
      </p:sp>
      <p:sp>
        <p:nvSpPr>
          <p:cNvPr id="538" name="Text 1"/>
          <p:cNvSpPr/>
          <p:nvPr/>
        </p:nvSpPr>
        <p:spPr>
          <a:xfrm>
            <a:off x="822960" y="365760"/>
            <a:ext cx="777240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项目文件结构与分工</a:t>
            </a:r>
            <a:endParaRPr lang="en-US" sz="2800" dirty="0"/>
          </a:p>
        </p:txBody>
      </p:sp>
      <p:sp>
        <p:nvSpPr>
          <p:cNvPr id="539" name="Text 2"/>
          <p:cNvSpPr/>
          <p:nvPr/>
        </p:nvSpPr>
        <p:spPr>
          <a:xfrm>
            <a:off x="548640" y="105156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项目文件</a:t>
            </a:r>
            <a:endParaRPr lang="en-US" sz="1400" dirty="0"/>
          </a:p>
        </p:txBody>
      </p:sp>
      <p:sp>
        <p:nvSpPr>
          <p:cNvPr id="540" name="Text 3"/>
          <p:cNvSpPr/>
          <p:nvPr/>
        </p:nvSpPr>
        <p:spPr>
          <a:xfrm>
            <a:off x="548640" y="1371600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F36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main.py</a:t>
            </a:r>
            <a:endParaRPr lang="en-US" sz="1000" dirty="0"/>
          </a:p>
        </p:txBody>
      </p:sp>
      <p:sp>
        <p:nvSpPr>
          <p:cNvPr id="541" name="Text 4"/>
          <p:cNvSpPr/>
          <p:nvPr/>
        </p:nvSpPr>
        <p:spPr>
          <a:xfrm>
            <a:off x="2103120" y="1371600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11行</a:t>
            </a:r>
            <a:endParaRPr lang="en-US" sz="900" dirty="0"/>
          </a:p>
        </p:txBody>
      </p:sp>
      <p:sp>
        <p:nvSpPr>
          <p:cNvPr id="542" name="Text 5"/>
          <p:cNvSpPr/>
          <p:nvPr/>
        </p:nvSpPr>
        <p:spPr>
          <a:xfrm>
            <a:off x="2834640" y="1371600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程序入口</a:t>
            </a:r>
            <a:endParaRPr lang="en-US" sz="1000" dirty="0"/>
          </a:p>
        </p:txBody>
      </p:sp>
      <p:sp>
        <p:nvSpPr>
          <p:cNvPr id="543" name="Shape 6"/>
          <p:cNvSpPr/>
          <p:nvPr/>
        </p:nvSpPr>
        <p:spPr>
          <a:xfrm>
            <a:off x="548640" y="1664208"/>
            <a:ext cx="4572000" cy="3658"/>
          </a:xfrm>
          <a:prstGeom prst="rect">
            <a:avLst/>
          </a:prstGeom>
          <a:solidFill>
            <a:srgbClr val="E5E7EB"/>
          </a:solidFill>
        </p:spPr>
        <p:txBody>
          <a:bodyPr/>
          <a:p/>
        </p:txBody>
      </p:sp>
      <p:sp>
        <p:nvSpPr>
          <p:cNvPr id="544" name="Text 7"/>
          <p:cNvSpPr/>
          <p:nvPr/>
        </p:nvSpPr>
        <p:spPr>
          <a:xfrm>
            <a:off x="548640" y="1691640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F36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models.py</a:t>
            </a:r>
            <a:endParaRPr lang="en-US" sz="1000" dirty="0"/>
          </a:p>
        </p:txBody>
      </p:sp>
      <p:sp>
        <p:nvSpPr>
          <p:cNvPr id="545" name="Text 8"/>
          <p:cNvSpPr/>
          <p:nvPr/>
        </p:nvSpPr>
        <p:spPr>
          <a:xfrm>
            <a:off x="2103120" y="1691640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~200行</a:t>
            </a:r>
            <a:endParaRPr lang="en-US" sz="900" dirty="0"/>
          </a:p>
        </p:txBody>
      </p:sp>
      <p:sp>
        <p:nvSpPr>
          <p:cNvPr id="546" name="Text 9"/>
          <p:cNvSpPr/>
          <p:nvPr/>
        </p:nvSpPr>
        <p:spPr>
          <a:xfrm>
            <a:off x="2834640" y="1691640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模型层（数据+业务）</a:t>
            </a:r>
            <a:endParaRPr lang="en-US" sz="1000" dirty="0"/>
          </a:p>
        </p:txBody>
      </p:sp>
      <p:sp>
        <p:nvSpPr>
          <p:cNvPr id="547" name="Shape 10"/>
          <p:cNvSpPr/>
          <p:nvPr/>
        </p:nvSpPr>
        <p:spPr>
          <a:xfrm>
            <a:off x="548640" y="1984248"/>
            <a:ext cx="4572000" cy="3658"/>
          </a:xfrm>
          <a:prstGeom prst="rect">
            <a:avLst/>
          </a:prstGeom>
          <a:solidFill>
            <a:srgbClr val="E5E7EB"/>
          </a:solidFill>
        </p:spPr>
        <p:txBody>
          <a:bodyPr/>
          <a:p/>
        </p:txBody>
      </p:sp>
      <p:sp>
        <p:nvSpPr>
          <p:cNvPr id="548" name="Text 11"/>
          <p:cNvSpPr/>
          <p:nvPr/>
        </p:nvSpPr>
        <p:spPr>
          <a:xfrm>
            <a:off x="548640" y="2011680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F36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views.py</a:t>
            </a:r>
            <a:endParaRPr lang="en-US" sz="1000" dirty="0"/>
          </a:p>
        </p:txBody>
      </p:sp>
      <p:sp>
        <p:nvSpPr>
          <p:cNvPr id="549" name="Text 12"/>
          <p:cNvSpPr/>
          <p:nvPr/>
        </p:nvSpPr>
        <p:spPr>
          <a:xfrm>
            <a:off x="2103120" y="2011680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~230行</a:t>
            </a:r>
            <a:endParaRPr lang="en-US" sz="900" dirty="0"/>
          </a:p>
        </p:txBody>
      </p:sp>
      <p:sp>
        <p:nvSpPr>
          <p:cNvPr id="550" name="Text 13"/>
          <p:cNvSpPr/>
          <p:nvPr/>
        </p:nvSpPr>
        <p:spPr>
          <a:xfrm>
            <a:off x="2834640" y="2011680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视图层（Tkinter 9 帧）</a:t>
            </a:r>
            <a:endParaRPr lang="en-US" sz="1000" dirty="0"/>
          </a:p>
        </p:txBody>
      </p:sp>
      <p:sp>
        <p:nvSpPr>
          <p:cNvPr id="551" name="Shape 14"/>
          <p:cNvSpPr/>
          <p:nvPr/>
        </p:nvSpPr>
        <p:spPr>
          <a:xfrm>
            <a:off x="548640" y="2304288"/>
            <a:ext cx="4572000" cy="3658"/>
          </a:xfrm>
          <a:prstGeom prst="rect">
            <a:avLst/>
          </a:prstGeom>
          <a:solidFill>
            <a:srgbClr val="E5E7EB"/>
          </a:solidFill>
        </p:spPr>
        <p:txBody>
          <a:bodyPr/>
          <a:p/>
        </p:txBody>
      </p:sp>
      <p:sp>
        <p:nvSpPr>
          <p:cNvPr id="552" name="Text 15"/>
          <p:cNvSpPr/>
          <p:nvPr/>
        </p:nvSpPr>
        <p:spPr>
          <a:xfrm>
            <a:off x="548640" y="2331720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F36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controllers.py</a:t>
            </a:r>
            <a:endParaRPr lang="en-US" sz="1000" dirty="0"/>
          </a:p>
        </p:txBody>
      </p:sp>
      <p:sp>
        <p:nvSpPr>
          <p:cNvPr id="553" name="Text 16"/>
          <p:cNvSpPr/>
          <p:nvPr/>
        </p:nvSpPr>
        <p:spPr>
          <a:xfrm>
            <a:off x="2103120" y="2331720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~130行</a:t>
            </a:r>
            <a:endParaRPr lang="en-US" sz="900" dirty="0"/>
          </a:p>
        </p:txBody>
      </p:sp>
      <p:sp>
        <p:nvSpPr>
          <p:cNvPr id="554" name="Text 17"/>
          <p:cNvSpPr/>
          <p:nvPr/>
        </p:nvSpPr>
        <p:spPr>
          <a:xfrm>
            <a:off x="2834640" y="2331720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控制层（逻辑调度）</a:t>
            </a:r>
            <a:endParaRPr lang="en-US" sz="1000" dirty="0"/>
          </a:p>
        </p:txBody>
      </p:sp>
      <p:sp>
        <p:nvSpPr>
          <p:cNvPr id="555" name="Shape 18"/>
          <p:cNvSpPr/>
          <p:nvPr/>
        </p:nvSpPr>
        <p:spPr>
          <a:xfrm>
            <a:off x="548640" y="2624328"/>
            <a:ext cx="4572000" cy="3658"/>
          </a:xfrm>
          <a:prstGeom prst="rect">
            <a:avLst/>
          </a:prstGeom>
          <a:solidFill>
            <a:srgbClr val="E5E7EB"/>
          </a:solidFill>
        </p:spPr>
        <p:txBody>
          <a:bodyPr/>
          <a:p/>
        </p:txBody>
      </p:sp>
      <p:sp>
        <p:nvSpPr>
          <p:cNvPr id="556" name="Text 19"/>
          <p:cNvSpPr/>
          <p:nvPr/>
        </p:nvSpPr>
        <p:spPr>
          <a:xfrm>
            <a:off x="548640" y="2651760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F36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lang.py</a:t>
            </a:r>
            <a:endParaRPr lang="en-US" sz="1000" dirty="0"/>
          </a:p>
        </p:txBody>
      </p:sp>
      <p:sp>
        <p:nvSpPr>
          <p:cNvPr id="557" name="Text 20"/>
          <p:cNvSpPr/>
          <p:nvPr/>
        </p:nvSpPr>
        <p:spPr>
          <a:xfrm>
            <a:off x="2103120" y="2651760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~130行</a:t>
            </a:r>
            <a:endParaRPr lang="en-US" sz="900" dirty="0"/>
          </a:p>
        </p:txBody>
      </p:sp>
      <p:sp>
        <p:nvSpPr>
          <p:cNvPr id="558" name="Text 21"/>
          <p:cNvSpPr/>
          <p:nvPr/>
        </p:nvSpPr>
        <p:spPr>
          <a:xfrm>
            <a:off x="2834640" y="2651760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多语言中英文字典</a:t>
            </a:r>
            <a:endParaRPr lang="en-US" sz="1000" dirty="0"/>
          </a:p>
        </p:txBody>
      </p:sp>
      <p:sp>
        <p:nvSpPr>
          <p:cNvPr id="559" name="Shape 22"/>
          <p:cNvSpPr/>
          <p:nvPr/>
        </p:nvSpPr>
        <p:spPr>
          <a:xfrm>
            <a:off x="548640" y="2944368"/>
            <a:ext cx="4572000" cy="3658"/>
          </a:xfrm>
          <a:prstGeom prst="rect">
            <a:avLst/>
          </a:prstGeom>
          <a:solidFill>
            <a:srgbClr val="E5E7EB"/>
          </a:solidFill>
        </p:spPr>
        <p:txBody>
          <a:bodyPr/>
          <a:p/>
        </p:txBody>
      </p:sp>
      <p:sp>
        <p:nvSpPr>
          <p:cNvPr id="560" name="Text 23"/>
          <p:cNvSpPr/>
          <p:nvPr/>
        </p:nvSpPr>
        <p:spPr>
          <a:xfrm>
            <a:off x="548640" y="2971800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F36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data.json</a:t>
            </a:r>
            <a:endParaRPr lang="en-US" sz="1000" dirty="0"/>
          </a:p>
        </p:txBody>
      </p:sp>
      <p:sp>
        <p:nvSpPr>
          <p:cNvPr id="561" name="Text 24"/>
          <p:cNvSpPr/>
          <p:nvPr/>
        </p:nvSpPr>
        <p:spPr>
          <a:xfrm>
            <a:off x="2103120" y="2971800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多用户</a:t>
            </a:r>
            <a:endParaRPr lang="en-US" sz="900" dirty="0"/>
          </a:p>
        </p:txBody>
      </p:sp>
      <p:sp>
        <p:nvSpPr>
          <p:cNvPr id="562" name="Text 25"/>
          <p:cNvSpPr/>
          <p:nvPr/>
        </p:nvSpPr>
        <p:spPr>
          <a:xfrm>
            <a:off x="2834640" y="2971800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JSON 数据持久化</a:t>
            </a:r>
            <a:endParaRPr lang="en-US" sz="1000" dirty="0"/>
          </a:p>
        </p:txBody>
      </p:sp>
      <p:sp>
        <p:nvSpPr>
          <p:cNvPr id="563" name="Shape 26"/>
          <p:cNvSpPr/>
          <p:nvPr/>
        </p:nvSpPr>
        <p:spPr>
          <a:xfrm>
            <a:off x="548640" y="3264408"/>
            <a:ext cx="4572000" cy="3658"/>
          </a:xfrm>
          <a:prstGeom prst="rect">
            <a:avLst/>
          </a:prstGeom>
          <a:solidFill>
            <a:srgbClr val="E5E7EB"/>
          </a:solidFill>
        </p:spPr>
        <p:txBody>
          <a:bodyPr/>
          <a:p/>
        </p:txBody>
      </p:sp>
      <p:sp>
        <p:nvSpPr>
          <p:cNvPr id="564" name="Text 27"/>
          <p:cNvSpPr/>
          <p:nvPr/>
        </p:nvSpPr>
        <p:spPr>
          <a:xfrm>
            <a:off x="548640" y="3291840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F36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index.html</a:t>
            </a:r>
            <a:endParaRPr lang="en-US" sz="1000" dirty="0"/>
          </a:p>
        </p:txBody>
      </p:sp>
      <p:sp>
        <p:nvSpPr>
          <p:cNvPr id="565" name="Text 28"/>
          <p:cNvSpPr/>
          <p:nvPr/>
        </p:nvSpPr>
        <p:spPr>
          <a:xfrm>
            <a:off x="2103120" y="3291840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~1500行</a:t>
            </a:r>
            <a:endParaRPr lang="en-US" sz="900" dirty="0"/>
          </a:p>
        </p:txBody>
      </p:sp>
      <p:sp>
        <p:nvSpPr>
          <p:cNvPr id="566" name="Text 29"/>
          <p:cNvSpPr/>
          <p:nvPr/>
        </p:nvSpPr>
        <p:spPr>
          <a:xfrm>
            <a:off x="2834640" y="3291840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Web 前端（全功能）</a:t>
            </a:r>
            <a:endParaRPr lang="en-US" sz="1000" dirty="0"/>
          </a:p>
        </p:txBody>
      </p:sp>
      <p:sp>
        <p:nvSpPr>
          <p:cNvPr id="567" name="Shape 30"/>
          <p:cNvSpPr/>
          <p:nvPr/>
        </p:nvSpPr>
        <p:spPr>
          <a:xfrm>
            <a:off x="548640" y="3584448"/>
            <a:ext cx="4572000" cy="3658"/>
          </a:xfrm>
          <a:prstGeom prst="rect">
            <a:avLst/>
          </a:prstGeom>
          <a:solidFill>
            <a:srgbClr val="E5E7EB"/>
          </a:solidFill>
        </p:spPr>
        <p:txBody>
          <a:bodyPr/>
          <a:p/>
        </p:txBody>
      </p:sp>
      <p:sp>
        <p:nvSpPr>
          <p:cNvPr id="571" name="Text 34"/>
          <p:cNvSpPr/>
          <p:nvPr/>
        </p:nvSpPr>
        <p:spPr>
          <a:xfrm>
            <a:off x="5486400" y="1051560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小组分工</a:t>
            </a:r>
            <a:endParaRPr lang="en-US" sz="1400" dirty="0"/>
          </a:p>
        </p:txBody>
      </p:sp>
      <p:sp>
        <p:nvSpPr>
          <p:cNvPr id="572" name="Shape 35"/>
          <p:cNvSpPr/>
          <p:nvPr/>
        </p:nvSpPr>
        <p:spPr>
          <a:xfrm>
            <a:off x="5486400" y="1371600"/>
            <a:ext cx="731520" cy="320040"/>
          </a:xfrm>
          <a:prstGeom prst="rect">
            <a:avLst/>
          </a:prstGeom>
          <a:solidFill>
            <a:srgbClr val="D4A574"/>
          </a:solidFill>
        </p:spPr>
        <p:txBody>
          <a:bodyPr/>
          <a:p>
            <a:endParaRPr lang="zh-CN" altLang="en-US"/>
          </a:p>
        </p:txBody>
      </p:sp>
      <p:sp>
        <p:nvSpPr>
          <p:cNvPr id="573" name="Text 36"/>
          <p:cNvSpPr/>
          <p:nvPr/>
        </p:nvSpPr>
        <p:spPr>
          <a:xfrm>
            <a:off x="5486400" y="1371600"/>
            <a:ext cx="7315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9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周楚宇</a:t>
            </a:r>
            <a:endParaRPr lang="zh-CN" altLang="en-US" sz="900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574" name="Text 37"/>
          <p:cNvSpPr/>
          <p:nvPr/>
        </p:nvSpPr>
        <p:spPr>
          <a:xfrm>
            <a:off x="6355080" y="1371600"/>
            <a:ext cx="25603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架构设计、Model + Controller 开发</a:t>
            </a:r>
            <a:endParaRPr lang="en-US" sz="950" dirty="0"/>
          </a:p>
        </p:txBody>
      </p:sp>
      <p:sp>
        <p:nvSpPr>
          <p:cNvPr id="575" name="Shape 38"/>
          <p:cNvSpPr/>
          <p:nvPr/>
        </p:nvSpPr>
        <p:spPr>
          <a:xfrm>
            <a:off x="5486400" y="1755648"/>
            <a:ext cx="731520" cy="320040"/>
          </a:xfrm>
          <a:prstGeom prst="rect">
            <a:avLst/>
          </a:prstGeom>
          <a:solidFill>
            <a:srgbClr val="1A1F36"/>
          </a:solidFill>
        </p:spPr>
        <p:txBody>
          <a:bodyPr/>
          <a:p/>
        </p:txBody>
      </p:sp>
      <p:sp>
        <p:nvSpPr>
          <p:cNvPr id="576" name="Text 39"/>
          <p:cNvSpPr/>
          <p:nvPr/>
        </p:nvSpPr>
        <p:spPr>
          <a:xfrm>
            <a:off x="5486400" y="1755648"/>
            <a:ext cx="7315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9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周潍可</a:t>
            </a:r>
            <a:endParaRPr lang="zh-CN" altLang="en-US" sz="900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577" name="Text 40"/>
          <p:cNvSpPr/>
          <p:nvPr/>
        </p:nvSpPr>
        <p:spPr>
          <a:xfrm>
            <a:off x="6355080" y="1755648"/>
            <a:ext cx="25603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Tkinter 视图层开发与 UI 设计</a:t>
            </a:r>
            <a:endParaRPr lang="en-US" sz="950" dirty="0"/>
          </a:p>
        </p:txBody>
      </p:sp>
      <p:sp>
        <p:nvSpPr>
          <p:cNvPr id="578" name="Shape 41"/>
          <p:cNvSpPr/>
          <p:nvPr/>
        </p:nvSpPr>
        <p:spPr>
          <a:xfrm>
            <a:off x="5486400" y="2139696"/>
            <a:ext cx="731520" cy="320040"/>
          </a:xfrm>
          <a:prstGeom prst="rect">
            <a:avLst/>
          </a:prstGeom>
          <a:solidFill>
            <a:srgbClr val="1A1F36"/>
          </a:solidFill>
        </p:spPr>
        <p:txBody>
          <a:bodyPr/>
          <a:p/>
        </p:txBody>
      </p:sp>
      <p:sp>
        <p:nvSpPr>
          <p:cNvPr id="579" name="Text 42"/>
          <p:cNvSpPr/>
          <p:nvPr/>
        </p:nvSpPr>
        <p:spPr>
          <a:xfrm>
            <a:off x="5486400" y="2139696"/>
            <a:ext cx="7315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9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袁锦</a:t>
            </a:r>
            <a:r>
              <a:rPr lang="zh-CN" altLang="en-US" sz="9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程</a:t>
            </a:r>
            <a:endParaRPr lang="zh-CN" altLang="en-US" sz="900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580" name="Text 43"/>
          <p:cNvSpPr/>
          <p:nvPr/>
        </p:nvSpPr>
        <p:spPr>
          <a:xfrm>
            <a:off x="6355080" y="2139696"/>
            <a:ext cx="25603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Web 前端改造、PPT 制作</a:t>
            </a:r>
            <a:endParaRPr lang="en-US" sz="950" dirty="0"/>
          </a:p>
        </p:txBody>
      </p:sp>
      <p:sp>
        <p:nvSpPr>
          <p:cNvPr id="581" name="Shape 44"/>
          <p:cNvSpPr/>
          <p:nvPr/>
        </p:nvSpPr>
        <p:spPr>
          <a:xfrm>
            <a:off x="5486400" y="2523744"/>
            <a:ext cx="731520" cy="320040"/>
          </a:xfrm>
          <a:prstGeom prst="rect">
            <a:avLst/>
          </a:prstGeom>
          <a:solidFill>
            <a:srgbClr val="1A1F36"/>
          </a:solidFill>
        </p:spPr>
        <p:txBody>
          <a:bodyPr/>
          <a:p/>
        </p:txBody>
      </p:sp>
      <p:sp>
        <p:nvSpPr>
          <p:cNvPr id="582" name="Text 45"/>
          <p:cNvSpPr/>
          <p:nvPr/>
        </p:nvSpPr>
        <p:spPr>
          <a:xfrm>
            <a:off x="5486400" y="2523744"/>
            <a:ext cx="7315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9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周宇航</a:t>
            </a:r>
            <a:endParaRPr lang="zh-CN" altLang="en-US" sz="900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583" name="Text 46"/>
          <p:cNvSpPr/>
          <p:nvPr/>
        </p:nvSpPr>
        <p:spPr>
          <a:xfrm>
            <a:off x="6355080" y="2523744"/>
            <a:ext cx="25603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需求分析、用例模型、测试</a:t>
            </a:r>
            <a:endParaRPr lang="zh-CN" altLang="en-US" sz="950" dirty="0">
              <a:solidFill>
                <a:srgbClr val="2D2D2D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584" name="Shape 47"/>
          <p:cNvSpPr/>
          <p:nvPr/>
        </p:nvSpPr>
        <p:spPr>
          <a:xfrm>
            <a:off x="5486400" y="2907792"/>
            <a:ext cx="731520" cy="320040"/>
          </a:xfrm>
          <a:prstGeom prst="rect">
            <a:avLst/>
          </a:prstGeom>
          <a:solidFill>
            <a:srgbClr val="1A1F36"/>
          </a:solidFill>
        </p:spPr>
        <p:txBody>
          <a:bodyPr/>
          <a:p/>
        </p:txBody>
      </p:sp>
      <p:sp>
        <p:nvSpPr>
          <p:cNvPr id="585" name="Text 48"/>
          <p:cNvSpPr/>
          <p:nvPr/>
        </p:nvSpPr>
        <p:spPr>
          <a:xfrm>
            <a:off x="5486400" y="2907792"/>
            <a:ext cx="7315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9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朱星宇</a:t>
            </a:r>
            <a:endParaRPr lang="zh-CN" altLang="en-US" sz="900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586" name="Text 49"/>
          <p:cNvSpPr/>
          <p:nvPr/>
        </p:nvSpPr>
        <p:spPr>
          <a:xfrm>
            <a:off x="6355080" y="2907792"/>
            <a:ext cx="25603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数据持久化、文档排版</a:t>
            </a:r>
            <a:endParaRPr lang="zh-CN" altLang="en-US" sz="950" dirty="0">
              <a:solidFill>
                <a:srgbClr val="2D2D2D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587" name="Text 50"/>
          <p:cNvSpPr/>
          <p:nvPr/>
        </p:nvSpPr>
        <p:spPr>
          <a:xfrm>
            <a:off x="548640" y="384048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技术特点</a:t>
            </a:r>
            <a:endParaRPr lang="en-US" sz="1200" dirty="0"/>
          </a:p>
        </p:txBody>
      </p:sp>
      <p:sp>
        <p:nvSpPr>
          <p:cNvPr id="588" name="Text 51"/>
          <p:cNvSpPr/>
          <p:nvPr/>
        </p:nvSpPr>
        <p:spPr>
          <a:xfrm>
            <a:off x="548640" y="411480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F3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零第三方依赖  |  MVC 全解耦  |  双端运行  |  Web 暗色设计  |  完整测试覆盖</a:t>
            </a:r>
            <a:endParaRPr lang="en-US" sz="1100" dirty="0"/>
          </a:p>
        </p:txBody>
      </p:sp>
      <p:pic>
        <p:nvPicPr>
          <p:cNvPr id="1" name="图片 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63845" y="3291840"/>
            <a:ext cx="3122930" cy="175641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58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Shape 0"/>
          <p:cNvSpPr/>
          <p:nvPr/>
        </p:nvSpPr>
        <p:spPr>
          <a:xfrm>
            <a:off x="548640" y="411480"/>
            <a:ext cx="64008" cy="502920"/>
          </a:xfrm>
          <a:prstGeom prst="rect">
            <a:avLst/>
          </a:prstGeom>
          <a:solidFill>
            <a:srgbClr val="D4A574"/>
          </a:solidFill>
        </p:spPr>
        <p:txBody>
          <a:bodyPr/>
          <a:p/>
        </p:txBody>
      </p:sp>
      <p:sp>
        <p:nvSpPr>
          <p:cNvPr id="591" name="Text 1"/>
          <p:cNvSpPr/>
          <p:nvPr/>
        </p:nvSpPr>
        <p:spPr>
          <a:xfrm>
            <a:off x="822960" y="365760"/>
            <a:ext cx="777240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项目背景</a:t>
            </a:r>
            <a:endParaRPr lang="en-US" sz="2800" dirty="0"/>
          </a:p>
        </p:txBody>
      </p:sp>
      <p:sp>
        <p:nvSpPr>
          <p:cNvPr id="592" name="Text 2"/>
          <p:cNvSpPr/>
          <p:nvPr/>
        </p:nvSpPr>
        <p:spPr>
          <a:xfrm>
            <a:off x="822960" y="1188720"/>
            <a:ext cx="749808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ATM（Automatic Teller Machine，自动柜员机）是银行业务中最重要的自助服务终端之一。随着金融科技的快速发展，ATM 系统的软件架构设计对可维护性、可扩展性和稳定性提出了更高要求。</a:t>
            </a:r>
            <a:endParaRPr lang="en-US" sz="1300" dirty="0"/>
          </a:p>
        </p:txBody>
      </p:sp>
      <p:sp>
        <p:nvSpPr>
          <p:cNvPr id="593" name="Text 3"/>
          <p:cNvSpPr/>
          <p:nvPr/>
        </p:nvSpPr>
        <p:spPr>
          <a:xfrm>
            <a:off x="822960" y="2103120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课程背景</a:t>
            </a:r>
            <a:endParaRPr lang="en-US" sz="1600" dirty="0"/>
          </a:p>
        </p:txBody>
      </p:sp>
      <p:sp>
        <p:nvSpPr>
          <p:cNvPr id="594" name="Text 4"/>
          <p:cNvSpPr/>
          <p:nvPr/>
        </p:nvSpPr>
        <p:spPr>
          <a:xfrm>
            <a:off x="822960" y="2514600"/>
            <a:ext cx="74980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《软件工程》课程期末项目 — 湘潭大学 计算机·网络空间安全学院</a:t>
            </a:r>
            <a:endParaRPr lang="en-US" sz="1200" dirty="0"/>
          </a:p>
        </p:txBody>
      </p:sp>
      <p:sp>
        <p:nvSpPr>
          <p:cNvPr id="595" name="Text 5"/>
          <p:cNvSpPr/>
          <p:nvPr/>
        </p:nvSpPr>
        <p:spPr>
          <a:xfrm>
            <a:off x="822960" y="2862072"/>
            <a:ext cx="74980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选题编号 23：ATM 柜员机模拟程序（课程指定选题）</a:t>
            </a:r>
            <a:endParaRPr lang="en-US" sz="1200" dirty="0"/>
          </a:p>
        </p:txBody>
      </p:sp>
      <p:sp>
        <p:nvSpPr>
          <p:cNvPr id="596" name="Text 6"/>
          <p:cNvSpPr/>
          <p:nvPr/>
        </p:nvSpPr>
        <p:spPr>
          <a:xfrm>
            <a:off x="822960" y="3209544"/>
            <a:ext cx="74980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要求使用图形用户界面，编程语言不限</a:t>
            </a:r>
            <a:endParaRPr lang="en-US" sz="1200" dirty="0"/>
          </a:p>
        </p:txBody>
      </p:sp>
      <p:sp>
        <p:nvSpPr>
          <p:cNvPr id="597" name="Text 7"/>
          <p:cNvSpPr/>
          <p:nvPr/>
        </p:nvSpPr>
        <p:spPr>
          <a:xfrm>
            <a:off x="822960" y="3557016"/>
            <a:ext cx="74980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要求采用软件工程方法进行需求分析、设计、实现和测试</a:t>
            </a:r>
            <a:endParaRPr lang="en-US" sz="1200" dirty="0"/>
          </a:p>
        </p:txBody>
      </p:sp>
      <p:sp>
        <p:nvSpPr>
          <p:cNvPr id="598" name="Text 8"/>
          <p:cNvSpPr/>
          <p:nvPr/>
        </p:nvSpPr>
        <p:spPr>
          <a:xfrm>
            <a:off x="822960" y="3904488"/>
            <a:ext cx="74980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核心目标：将 MVC 设计模式理论应用于实际开发</a:t>
            </a:r>
            <a:endParaRPr lang="en-US" sz="1200" dirty="0"/>
          </a:p>
        </p:txBody>
      </p:sp>
      <p:sp>
        <p:nvSpPr>
          <p:cNvPr id="599" name="Shape 9"/>
          <p:cNvSpPr/>
          <p:nvPr/>
        </p:nvSpPr>
        <p:spPr>
          <a:xfrm>
            <a:off x="0" y="4572000"/>
            <a:ext cx="9144000" cy="548640"/>
          </a:xfrm>
          <a:prstGeom prst="rect">
            <a:avLst/>
          </a:prstGeom>
          <a:solidFill>
            <a:srgbClr val="1A1F36"/>
          </a:solidFill>
        </p:spPr>
        <p:txBody>
          <a:bodyPr/>
          <a:p/>
        </p:txBody>
      </p:sp>
      <p:sp>
        <p:nvSpPr>
          <p:cNvPr id="600" name="Text 10"/>
          <p:cNvSpPr/>
          <p:nvPr/>
        </p:nvSpPr>
        <p:spPr>
          <a:xfrm>
            <a:off x="457200" y="4617720"/>
            <a:ext cx="82296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5F0E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初始账号 123456  ·  初始密码 123456  ·  初始余额 ¥10,000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B"/>
        </a:solidFill>
        <a:effectLst/>
      </p:bgPr>
    </p:bg>
    <p:spTree>
      <p:nvGrpSpPr>
        <p:cNvPr id="6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2" name="Shape 0"/>
          <p:cNvSpPr/>
          <p:nvPr/>
        </p:nvSpPr>
        <p:spPr>
          <a:xfrm>
            <a:off x="548640" y="411480"/>
            <a:ext cx="64008" cy="502920"/>
          </a:xfrm>
          <a:prstGeom prst="rect">
            <a:avLst/>
          </a:prstGeom>
          <a:solidFill>
            <a:srgbClr val="D4A574"/>
          </a:solidFill>
        </p:spPr>
        <p:txBody>
          <a:bodyPr/>
          <a:p/>
        </p:txBody>
      </p:sp>
      <p:sp>
        <p:nvSpPr>
          <p:cNvPr id="603" name="Text 1"/>
          <p:cNvSpPr/>
          <p:nvPr/>
        </p:nvSpPr>
        <p:spPr>
          <a:xfrm>
            <a:off x="822960" y="365760"/>
            <a:ext cx="777240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项目概述</a:t>
            </a:r>
            <a:endParaRPr lang="en-US" sz="2800" dirty="0"/>
          </a:p>
        </p:txBody>
      </p:sp>
      <p:sp>
        <p:nvSpPr>
          <p:cNvPr id="604" name="Text 2"/>
          <p:cNvSpPr/>
          <p:nvPr/>
        </p:nvSpPr>
        <p:spPr>
          <a:xfrm>
            <a:off x="822960" y="1097280"/>
            <a:ext cx="749808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本项目采用 Python 3 标准库开发 ATM 柜员机模拟系统，严格遵循 MVC 设计模式。在完成 Tkinter 桌面版后，又使用 HTML/CSS/JavaScript 改造为 Web 版，实现同一业务逻辑在两种前端下的运行。</a:t>
            </a:r>
            <a:endParaRPr lang="en-US" sz="1300" dirty="0"/>
          </a:p>
        </p:txBody>
      </p:sp>
      <p:sp>
        <p:nvSpPr>
          <p:cNvPr id="605" name="Shape 3"/>
          <p:cNvSpPr/>
          <p:nvPr/>
        </p:nvSpPr>
        <p:spPr>
          <a:xfrm>
            <a:off x="548640" y="2103120"/>
            <a:ext cx="2651760" cy="192024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606" name="Shape 4"/>
          <p:cNvSpPr/>
          <p:nvPr/>
        </p:nvSpPr>
        <p:spPr>
          <a:xfrm>
            <a:off x="548640" y="2103120"/>
            <a:ext cx="54864" cy="1920240"/>
          </a:xfrm>
          <a:prstGeom prst="rect">
            <a:avLst/>
          </a:prstGeom>
          <a:solidFill>
            <a:srgbClr val="D4A574"/>
          </a:solidFill>
        </p:spPr>
        <p:txBody>
          <a:bodyPr/>
          <a:p/>
        </p:txBody>
      </p:sp>
      <p:sp>
        <p:nvSpPr>
          <p:cNvPr id="607" name="Text 5"/>
          <p:cNvSpPr/>
          <p:nvPr/>
        </p:nvSpPr>
        <p:spPr>
          <a:xfrm>
            <a:off x="777240" y="2286000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Python 3</a:t>
            </a:r>
            <a:endParaRPr lang="en-US" sz="1600" dirty="0"/>
          </a:p>
        </p:txBody>
      </p:sp>
      <p:sp>
        <p:nvSpPr>
          <p:cNvPr id="608" name="Text 6"/>
          <p:cNvSpPr/>
          <p:nvPr/>
        </p:nvSpPr>
        <p:spPr>
          <a:xfrm>
            <a:off x="777240" y="2697480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纯标准库开发</a:t>
            </a:r>
            <a:endParaRPr lang="en-US" sz="1200" dirty="0"/>
          </a:p>
        </p:txBody>
      </p:sp>
      <p:sp>
        <p:nvSpPr>
          <p:cNvPr id="609" name="Text 7"/>
          <p:cNvSpPr/>
          <p:nvPr/>
        </p:nvSpPr>
        <p:spPr>
          <a:xfrm>
            <a:off x="777240" y="3108960"/>
            <a:ext cx="21945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零第三方依赖</a:t>
            </a:r>
            <a:endParaRPr lang="en-US" sz="1100" dirty="0"/>
          </a:p>
        </p:txBody>
      </p:sp>
      <p:sp>
        <p:nvSpPr>
          <p:cNvPr id="610" name="Shape 8"/>
          <p:cNvSpPr/>
          <p:nvPr/>
        </p:nvSpPr>
        <p:spPr>
          <a:xfrm>
            <a:off x="3429000" y="2103120"/>
            <a:ext cx="2651760" cy="192024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611" name="Shape 9"/>
          <p:cNvSpPr/>
          <p:nvPr/>
        </p:nvSpPr>
        <p:spPr>
          <a:xfrm>
            <a:off x="3429000" y="2103120"/>
            <a:ext cx="54864" cy="1920240"/>
          </a:xfrm>
          <a:prstGeom prst="rect">
            <a:avLst/>
          </a:prstGeom>
          <a:solidFill>
            <a:srgbClr val="D4A574"/>
          </a:solidFill>
        </p:spPr>
        <p:txBody>
          <a:bodyPr/>
          <a:p/>
        </p:txBody>
      </p:sp>
      <p:sp>
        <p:nvSpPr>
          <p:cNvPr id="612" name="Text 10"/>
          <p:cNvSpPr/>
          <p:nvPr/>
        </p:nvSpPr>
        <p:spPr>
          <a:xfrm>
            <a:off x="3657600" y="2286000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MVC 模式</a:t>
            </a:r>
            <a:endParaRPr lang="en-US" sz="1600" dirty="0"/>
          </a:p>
        </p:txBody>
      </p:sp>
      <p:sp>
        <p:nvSpPr>
          <p:cNvPr id="613" name="Text 11"/>
          <p:cNvSpPr/>
          <p:nvPr/>
        </p:nvSpPr>
        <p:spPr>
          <a:xfrm>
            <a:off x="3657600" y="2697480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Model/View/Controller</a:t>
            </a:r>
            <a:endParaRPr lang="en-US" sz="1200" dirty="0"/>
          </a:p>
        </p:txBody>
      </p:sp>
      <p:sp>
        <p:nvSpPr>
          <p:cNvPr id="614" name="Text 12"/>
          <p:cNvSpPr/>
          <p:nvPr/>
        </p:nvSpPr>
        <p:spPr>
          <a:xfrm>
            <a:off x="3657600" y="3108960"/>
            <a:ext cx="21945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三层解耦架构</a:t>
            </a:r>
            <a:endParaRPr lang="en-US" sz="1100" dirty="0"/>
          </a:p>
        </p:txBody>
      </p:sp>
      <p:sp>
        <p:nvSpPr>
          <p:cNvPr id="615" name="Shape 13"/>
          <p:cNvSpPr/>
          <p:nvPr/>
        </p:nvSpPr>
        <p:spPr>
          <a:xfrm>
            <a:off x="6309360" y="2103120"/>
            <a:ext cx="2651760" cy="192024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616" name="Shape 14"/>
          <p:cNvSpPr/>
          <p:nvPr/>
        </p:nvSpPr>
        <p:spPr>
          <a:xfrm>
            <a:off x="6309360" y="2103120"/>
            <a:ext cx="54864" cy="1920240"/>
          </a:xfrm>
          <a:prstGeom prst="rect">
            <a:avLst/>
          </a:prstGeom>
          <a:solidFill>
            <a:srgbClr val="D4A574"/>
          </a:solidFill>
        </p:spPr>
        <p:txBody>
          <a:bodyPr/>
          <a:p/>
        </p:txBody>
      </p:sp>
      <p:sp>
        <p:nvSpPr>
          <p:cNvPr id="617" name="Text 15"/>
          <p:cNvSpPr/>
          <p:nvPr/>
        </p:nvSpPr>
        <p:spPr>
          <a:xfrm>
            <a:off x="6537960" y="2286000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双端实现</a:t>
            </a:r>
            <a:endParaRPr lang="en-US" sz="1600" dirty="0"/>
          </a:p>
        </p:txBody>
      </p:sp>
      <p:sp>
        <p:nvSpPr>
          <p:cNvPr id="618" name="Text 16"/>
          <p:cNvSpPr/>
          <p:nvPr/>
        </p:nvSpPr>
        <p:spPr>
          <a:xfrm>
            <a:off x="6537960" y="2697480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Tkinter 桌面 + Web</a:t>
            </a:r>
            <a:endParaRPr lang="en-US" sz="1200" dirty="0"/>
          </a:p>
        </p:txBody>
      </p:sp>
      <p:sp>
        <p:nvSpPr>
          <p:cNvPr id="619" name="Text 17"/>
          <p:cNvSpPr/>
          <p:nvPr/>
        </p:nvSpPr>
        <p:spPr>
          <a:xfrm>
            <a:off x="6537960" y="3108960"/>
            <a:ext cx="21945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同一业务逻辑</a:t>
            </a:r>
            <a:endParaRPr lang="en-US" sz="1100" dirty="0"/>
          </a:p>
        </p:txBody>
      </p:sp>
      <p:sp>
        <p:nvSpPr>
          <p:cNvPr id="620" name="Shape 18"/>
          <p:cNvSpPr/>
          <p:nvPr/>
        </p:nvSpPr>
        <p:spPr>
          <a:xfrm>
            <a:off x="0" y="4572000"/>
            <a:ext cx="9144000" cy="548640"/>
          </a:xfrm>
          <a:prstGeom prst="rect">
            <a:avLst/>
          </a:prstGeom>
          <a:solidFill>
            <a:srgbClr val="1A1F36"/>
          </a:solidFill>
        </p:spPr>
        <p:txBody>
          <a:bodyPr/>
          <a:p/>
        </p:txBody>
      </p:sp>
      <p:sp>
        <p:nvSpPr>
          <p:cNvPr id="621" name="Text 19"/>
          <p:cNvSpPr/>
          <p:nvPr/>
        </p:nvSpPr>
        <p:spPr>
          <a:xfrm>
            <a:off x="457200" y="4617720"/>
            <a:ext cx="82296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5F0E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初始账号 123456  ·  初始密码 123456  ·  初始余额 ¥10,000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62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3" name="Shape 0"/>
          <p:cNvSpPr/>
          <p:nvPr/>
        </p:nvSpPr>
        <p:spPr>
          <a:xfrm>
            <a:off x="548640" y="411480"/>
            <a:ext cx="64008" cy="502920"/>
          </a:xfrm>
          <a:prstGeom prst="rect">
            <a:avLst/>
          </a:prstGeom>
          <a:solidFill>
            <a:srgbClr val="D4A574"/>
          </a:solidFill>
        </p:spPr>
        <p:txBody>
          <a:bodyPr/>
          <a:p/>
        </p:txBody>
      </p:sp>
      <p:sp>
        <p:nvSpPr>
          <p:cNvPr id="624" name="Text 1"/>
          <p:cNvSpPr/>
          <p:nvPr/>
        </p:nvSpPr>
        <p:spPr>
          <a:xfrm>
            <a:off x="822960" y="365760"/>
            <a:ext cx="777240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项目特点与技术栈</a:t>
            </a:r>
            <a:endParaRPr lang="en-US" sz="2800" dirty="0"/>
          </a:p>
        </p:txBody>
      </p:sp>
      <p:sp>
        <p:nvSpPr>
          <p:cNvPr id="625" name="Text 2"/>
          <p:cNvSpPr/>
          <p:nvPr/>
        </p:nvSpPr>
        <p:spPr>
          <a:xfrm>
            <a:off x="822960" y="1097280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核心特点</a:t>
            </a:r>
            <a:endParaRPr lang="en-US" sz="1600" dirty="0"/>
          </a:p>
        </p:txBody>
      </p:sp>
      <p:sp>
        <p:nvSpPr>
          <p:cNvPr id="626" name="Text 3"/>
          <p:cNvSpPr/>
          <p:nvPr/>
        </p:nvSpPr>
        <p:spPr>
          <a:xfrm>
            <a:off x="822960" y="1508760"/>
            <a:ext cx="50292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严格 MVC 分层：Model / View / Controller 职责完全分离</a:t>
            </a:r>
            <a:endParaRPr lang="en-US" sz="1200" dirty="0"/>
          </a:p>
        </p:txBody>
      </p:sp>
      <p:sp>
        <p:nvSpPr>
          <p:cNvPr id="627" name="Text 4"/>
          <p:cNvSpPr/>
          <p:nvPr/>
        </p:nvSpPr>
        <p:spPr>
          <a:xfrm>
            <a:off x="822960" y="1856232"/>
            <a:ext cx="50292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双前端实现：Tkinter 桌面版 + Web 版共存</a:t>
            </a:r>
            <a:endParaRPr lang="en-US" sz="1200" dirty="0"/>
          </a:p>
        </p:txBody>
      </p:sp>
      <p:sp>
        <p:nvSpPr>
          <p:cNvPr id="628" name="Text 5"/>
          <p:cNvSpPr/>
          <p:nvPr/>
        </p:nvSpPr>
        <p:spPr>
          <a:xfrm>
            <a:off x="822960" y="2203704"/>
            <a:ext cx="50292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零第三方依赖：桌面版完全基于 Python 3 标准库</a:t>
            </a:r>
            <a:endParaRPr lang="en-US" sz="1200" dirty="0"/>
          </a:p>
        </p:txBody>
      </p:sp>
      <p:sp>
        <p:nvSpPr>
          <p:cNvPr id="629" name="Text 6"/>
          <p:cNvSpPr/>
          <p:nvPr/>
        </p:nvSpPr>
        <p:spPr>
          <a:xfrm>
            <a:off x="822960" y="2551176"/>
            <a:ext cx="50292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Web 版零框架：纯原生 HTML / CSS / JavaScript</a:t>
            </a:r>
            <a:endParaRPr lang="en-US" sz="1200" dirty="0"/>
          </a:p>
        </p:txBody>
      </p:sp>
      <p:sp>
        <p:nvSpPr>
          <p:cNvPr id="630" name="Text 7"/>
          <p:cNvSpPr/>
          <p:nvPr/>
        </p:nvSpPr>
        <p:spPr>
          <a:xfrm>
            <a:off x="822960" y="2898648"/>
            <a:ext cx="50292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数据持久化：JSON 文件 / localStorage 双方案</a:t>
            </a:r>
            <a:endParaRPr lang="en-US" sz="1200" dirty="0"/>
          </a:p>
        </p:txBody>
      </p:sp>
      <p:sp>
        <p:nvSpPr>
          <p:cNvPr id="631" name="Text 8"/>
          <p:cNvSpPr/>
          <p:nvPr/>
        </p:nvSpPr>
        <p:spPr>
          <a:xfrm>
            <a:off x="822960" y="3246120"/>
            <a:ext cx="50292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完整业务规则：取款/存款/修改密码全部校验</a:t>
            </a:r>
            <a:endParaRPr lang="en-US" sz="1200" dirty="0"/>
          </a:p>
        </p:txBody>
      </p:sp>
      <p:sp>
        <p:nvSpPr>
          <p:cNvPr id="632" name="Text 9"/>
          <p:cNvSpPr/>
          <p:nvPr/>
        </p:nvSpPr>
        <p:spPr>
          <a:xfrm>
            <a:off x="5974080" y="1097280"/>
            <a:ext cx="27432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技术栈</a:t>
            </a:r>
            <a:endParaRPr lang="en-US" sz="1600" dirty="0"/>
          </a:p>
        </p:txBody>
      </p:sp>
      <p:sp>
        <p:nvSpPr>
          <p:cNvPr id="633" name="Text 10"/>
          <p:cNvSpPr/>
          <p:nvPr/>
        </p:nvSpPr>
        <p:spPr>
          <a:xfrm>
            <a:off x="5974080" y="1508760"/>
            <a:ext cx="14630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F36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Python 3.10+</a:t>
            </a:r>
            <a:endParaRPr lang="en-US" sz="1100" dirty="0"/>
          </a:p>
        </p:txBody>
      </p:sp>
      <p:sp>
        <p:nvSpPr>
          <p:cNvPr id="634" name="Text 11"/>
          <p:cNvSpPr/>
          <p:nvPr/>
        </p:nvSpPr>
        <p:spPr>
          <a:xfrm>
            <a:off x="7437120" y="1508760"/>
            <a:ext cx="12801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核心开发语言</a:t>
            </a:r>
            <a:endParaRPr lang="en-US" sz="1100" dirty="0"/>
          </a:p>
        </p:txBody>
      </p:sp>
      <p:sp>
        <p:nvSpPr>
          <p:cNvPr id="635" name="Shape 12"/>
          <p:cNvSpPr/>
          <p:nvPr/>
        </p:nvSpPr>
        <p:spPr>
          <a:xfrm>
            <a:off x="5974080" y="1847088"/>
            <a:ext cx="2743200" cy="4572"/>
          </a:xfrm>
          <a:prstGeom prst="rect">
            <a:avLst/>
          </a:prstGeom>
          <a:solidFill>
            <a:srgbClr val="E5E7EB"/>
          </a:solidFill>
        </p:spPr>
        <p:txBody>
          <a:bodyPr/>
          <a:p/>
        </p:txBody>
      </p:sp>
      <p:sp>
        <p:nvSpPr>
          <p:cNvPr id="636" name="Text 13"/>
          <p:cNvSpPr/>
          <p:nvPr/>
        </p:nvSpPr>
        <p:spPr>
          <a:xfrm>
            <a:off x="5974080" y="1892808"/>
            <a:ext cx="14630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F36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Tkinter</a:t>
            </a:r>
            <a:endParaRPr lang="en-US" sz="1100" dirty="0"/>
          </a:p>
        </p:txBody>
      </p:sp>
      <p:sp>
        <p:nvSpPr>
          <p:cNvPr id="637" name="Text 14"/>
          <p:cNvSpPr/>
          <p:nvPr/>
        </p:nvSpPr>
        <p:spPr>
          <a:xfrm>
            <a:off x="7437120" y="1892808"/>
            <a:ext cx="12801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桌面 GUI 框架</a:t>
            </a:r>
            <a:endParaRPr lang="en-US" sz="1100" dirty="0"/>
          </a:p>
        </p:txBody>
      </p:sp>
      <p:sp>
        <p:nvSpPr>
          <p:cNvPr id="638" name="Shape 15"/>
          <p:cNvSpPr/>
          <p:nvPr/>
        </p:nvSpPr>
        <p:spPr>
          <a:xfrm>
            <a:off x="5974080" y="2231136"/>
            <a:ext cx="2743200" cy="4572"/>
          </a:xfrm>
          <a:prstGeom prst="rect">
            <a:avLst/>
          </a:prstGeom>
          <a:solidFill>
            <a:srgbClr val="E5E7EB"/>
          </a:solidFill>
        </p:spPr>
        <p:txBody>
          <a:bodyPr/>
          <a:p/>
        </p:txBody>
      </p:sp>
      <p:sp>
        <p:nvSpPr>
          <p:cNvPr id="639" name="Text 16"/>
          <p:cNvSpPr/>
          <p:nvPr/>
        </p:nvSpPr>
        <p:spPr>
          <a:xfrm>
            <a:off x="5974080" y="2276856"/>
            <a:ext cx="14630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F36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json (stdlib)</a:t>
            </a:r>
            <a:endParaRPr lang="en-US" sz="1100" dirty="0"/>
          </a:p>
        </p:txBody>
      </p:sp>
      <p:sp>
        <p:nvSpPr>
          <p:cNvPr id="640" name="Text 17"/>
          <p:cNvSpPr/>
          <p:nvPr/>
        </p:nvSpPr>
        <p:spPr>
          <a:xfrm>
            <a:off x="7437120" y="2276856"/>
            <a:ext cx="12801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本地数据持久化</a:t>
            </a:r>
            <a:endParaRPr lang="en-US" sz="1100" dirty="0"/>
          </a:p>
        </p:txBody>
      </p:sp>
      <p:sp>
        <p:nvSpPr>
          <p:cNvPr id="641" name="Shape 18"/>
          <p:cNvSpPr/>
          <p:nvPr/>
        </p:nvSpPr>
        <p:spPr>
          <a:xfrm>
            <a:off x="5974080" y="2615184"/>
            <a:ext cx="2743200" cy="4572"/>
          </a:xfrm>
          <a:prstGeom prst="rect">
            <a:avLst/>
          </a:prstGeom>
          <a:solidFill>
            <a:srgbClr val="E5E7EB"/>
          </a:solidFill>
        </p:spPr>
        <p:txBody>
          <a:bodyPr/>
          <a:p/>
        </p:txBody>
      </p:sp>
      <p:sp>
        <p:nvSpPr>
          <p:cNvPr id="642" name="Text 19"/>
          <p:cNvSpPr/>
          <p:nvPr/>
        </p:nvSpPr>
        <p:spPr>
          <a:xfrm>
            <a:off x="5974080" y="2660904"/>
            <a:ext cx="14630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F36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HTML5 + CSS3</a:t>
            </a:r>
            <a:endParaRPr lang="en-US" sz="1100" dirty="0"/>
          </a:p>
        </p:txBody>
      </p:sp>
      <p:sp>
        <p:nvSpPr>
          <p:cNvPr id="643" name="Text 20"/>
          <p:cNvSpPr/>
          <p:nvPr/>
        </p:nvSpPr>
        <p:spPr>
          <a:xfrm>
            <a:off x="7437120" y="2660904"/>
            <a:ext cx="12801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Web 前端结构</a:t>
            </a:r>
            <a:endParaRPr lang="en-US" sz="1100" dirty="0"/>
          </a:p>
        </p:txBody>
      </p:sp>
      <p:sp>
        <p:nvSpPr>
          <p:cNvPr id="644" name="Shape 21"/>
          <p:cNvSpPr/>
          <p:nvPr/>
        </p:nvSpPr>
        <p:spPr>
          <a:xfrm>
            <a:off x="5974080" y="2999232"/>
            <a:ext cx="2743200" cy="4572"/>
          </a:xfrm>
          <a:prstGeom prst="rect">
            <a:avLst/>
          </a:prstGeom>
          <a:solidFill>
            <a:srgbClr val="E5E7EB"/>
          </a:solidFill>
        </p:spPr>
        <p:txBody>
          <a:bodyPr/>
          <a:p/>
        </p:txBody>
      </p:sp>
      <p:sp>
        <p:nvSpPr>
          <p:cNvPr id="645" name="Text 22"/>
          <p:cNvSpPr/>
          <p:nvPr/>
        </p:nvSpPr>
        <p:spPr>
          <a:xfrm>
            <a:off x="5974080" y="3044952"/>
            <a:ext cx="14630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F36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JavaScript ES6+</a:t>
            </a:r>
            <a:endParaRPr lang="en-US" sz="1100" dirty="0"/>
          </a:p>
        </p:txBody>
      </p:sp>
      <p:sp>
        <p:nvSpPr>
          <p:cNvPr id="646" name="Text 23"/>
          <p:cNvSpPr/>
          <p:nvPr/>
        </p:nvSpPr>
        <p:spPr>
          <a:xfrm>
            <a:off x="7437120" y="3044952"/>
            <a:ext cx="12801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Web 交互逻辑</a:t>
            </a:r>
            <a:endParaRPr lang="en-US" sz="1100" dirty="0"/>
          </a:p>
        </p:txBody>
      </p:sp>
      <p:sp>
        <p:nvSpPr>
          <p:cNvPr id="647" name="Shape 24"/>
          <p:cNvSpPr/>
          <p:nvPr/>
        </p:nvSpPr>
        <p:spPr>
          <a:xfrm>
            <a:off x="5974080" y="3383280"/>
            <a:ext cx="2743200" cy="4572"/>
          </a:xfrm>
          <a:prstGeom prst="rect">
            <a:avLst/>
          </a:prstGeom>
          <a:solidFill>
            <a:srgbClr val="E5E7EB"/>
          </a:solidFill>
        </p:spPr>
        <p:txBody>
          <a:bodyPr/>
          <a:p/>
        </p:txBody>
      </p:sp>
      <p:sp>
        <p:nvSpPr>
          <p:cNvPr id="648" name="Text 25"/>
          <p:cNvSpPr/>
          <p:nvPr/>
        </p:nvSpPr>
        <p:spPr>
          <a:xfrm>
            <a:off x="5974080" y="3429000"/>
            <a:ext cx="14630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F36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Canvas 2D</a:t>
            </a:r>
            <a:endParaRPr lang="en-US" sz="1100" dirty="0"/>
          </a:p>
        </p:txBody>
      </p:sp>
      <p:sp>
        <p:nvSpPr>
          <p:cNvPr id="649" name="Text 26"/>
          <p:cNvSpPr/>
          <p:nvPr/>
        </p:nvSpPr>
        <p:spPr>
          <a:xfrm>
            <a:off x="7437120" y="3429000"/>
            <a:ext cx="12801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背景动画渲染</a:t>
            </a:r>
            <a:endParaRPr lang="en-US" sz="1100" dirty="0"/>
          </a:p>
        </p:txBody>
      </p:sp>
      <p:sp>
        <p:nvSpPr>
          <p:cNvPr id="650" name="Shape 27"/>
          <p:cNvSpPr/>
          <p:nvPr/>
        </p:nvSpPr>
        <p:spPr>
          <a:xfrm>
            <a:off x="5974080" y="3767328"/>
            <a:ext cx="2743200" cy="4572"/>
          </a:xfrm>
          <a:prstGeom prst="rect">
            <a:avLst/>
          </a:prstGeom>
          <a:solidFill>
            <a:srgbClr val="E5E7EB"/>
          </a:solidFill>
        </p:spPr>
        <p:txBody>
          <a:bodyPr/>
          <a:p/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B"/>
        </a:solidFill>
        <a:effectLst/>
      </p:bgPr>
    </p:bg>
    <p:spTree>
      <p:nvGrpSpPr>
        <p:cNvPr id="65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2" name="Shape 0"/>
          <p:cNvSpPr/>
          <p:nvPr/>
        </p:nvSpPr>
        <p:spPr>
          <a:xfrm>
            <a:off x="548640" y="411480"/>
            <a:ext cx="64008" cy="502920"/>
          </a:xfrm>
          <a:prstGeom prst="rect">
            <a:avLst/>
          </a:prstGeom>
          <a:solidFill>
            <a:srgbClr val="D4A574"/>
          </a:solidFill>
        </p:spPr>
        <p:txBody>
          <a:bodyPr/>
          <a:p/>
        </p:txBody>
      </p:sp>
      <p:sp>
        <p:nvSpPr>
          <p:cNvPr id="653" name="Text 1"/>
          <p:cNvSpPr/>
          <p:nvPr/>
        </p:nvSpPr>
        <p:spPr>
          <a:xfrm>
            <a:off x="822960" y="365760"/>
            <a:ext cx="777240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MVC 三层架构</a:t>
            </a:r>
            <a:endParaRPr lang="en-US" sz="2800" dirty="0"/>
          </a:p>
        </p:txBody>
      </p:sp>
      <p:sp>
        <p:nvSpPr>
          <p:cNvPr id="654" name="Shape 2"/>
          <p:cNvSpPr/>
          <p:nvPr/>
        </p:nvSpPr>
        <p:spPr>
          <a:xfrm>
            <a:off x="457200" y="1097280"/>
            <a:ext cx="2651760" cy="347472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655" name="Shape 3"/>
          <p:cNvSpPr/>
          <p:nvPr/>
        </p:nvSpPr>
        <p:spPr>
          <a:xfrm>
            <a:off x="457200" y="1097280"/>
            <a:ext cx="54864" cy="3474720"/>
          </a:xfrm>
          <a:prstGeom prst="rect">
            <a:avLst/>
          </a:prstGeom>
          <a:solidFill>
            <a:srgbClr val="1A73E8"/>
          </a:solidFill>
        </p:spPr>
        <p:txBody>
          <a:bodyPr/>
          <a:p/>
        </p:txBody>
      </p:sp>
      <p:sp>
        <p:nvSpPr>
          <p:cNvPr id="656" name="Text 4"/>
          <p:cNvSpPr/>
          <p:nvPr/>
        </p:nvSpPr>
        <p:spPr>
          <a:xfrm>
            <a:off x="640080" y="1234440"/>
            <a:ext cx="3657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73E8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1</a:t>
            </a:r>
            <a:endParaRPr lang="en-US" sz="1800" dirty="0"/>
          </a:p>
        </p:txBody>
      </p:sp>
      <p:sp>
        <p:nvSpPr>
          <p:cNvPr id="657" name="Text 5"/>
          <p:cNvSpPr/>
          <p:nvPr/>
        </p:nvSpPr>
        <p:spPr>
          <a:xfrm>
            <a:off x="1005840" y="1234440"/>
            <a:ext cx="16459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Model</a:t>
            </a:r>
            <a:endParaRPr lang="en-US" sz="1800" dirty="0"/>
          </a:p>
        </p:txBody>
      </p:sp>
      <p:sp>
        <p:nvSpPr>
          <p:cNvPr id="658" name="Text 6"/>
          <p:cNvSpPr/>
          <p:nvPr/>
        </p:nvSpPr>
        <p:spPr>
          <a:xfrm>
            <a:off x="640080" y="1600200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模型层</a:t>
            </a:r>
            <a:endParaRPr lang="en-US" sz="1200" dirty="0"/>
          </a:p>
        </p:txBody>
      </p:sp>
      <p:sp>
        <p:nvSpPr>
          <p:cNvPr id="659" name="Text 7"/>
          <p:cNvSpPr/>
          <p:nvPr/>
        </p:nvSpPr>
        <p:spPr>
          <a:xfrm>
            <a:off x="640080" y="1828800"/>
            <a:ext cx="22860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73E8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models.py</a:t>
            </a:r>
            <a:endParaRPr lang="en-US" sz="900" dirty="0"/>
          </a:p>
        </p:txBody>
      </p:sp>
      <p:sp>
        <p:nvSpPr>
          <p:cNvPr id="660" name="Shape 8"/>
          <p:cNvSpPr/>
          <p:nvPr/>
        </p:nvSpPr>
        <p:spPr>
          <a:xfrm>
            <a:off x="640080" y="2194560"/>
            <a:ext cx="2286000" cy="7315"/>
          </a:xfrm>
          <a:prstGeom prst="rect">
            <a:avLst/>
          </a:prstGeom>
          <a:solidFill>
            <a:srgbClr val="E5E7EB"/>
          </a:solidFill>
        </p:spPr>
        <p:txBody>
          <a:bodyPr/>
          <a:p/>
        </p:txBody>
      </p:sp>
      <p:sp>
        <p:nvSpPr>
          <p:cNvPr id="661" name="Text 9"/>
          <p:cNvSpPr/>
          <p:nvPr/>
        </p:nvSpPr>
        <p:spPr>
          <a:xfrm>
            <a:off x="640080" y="2377440"/>
            <a:ext cx="22860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管理核心数据与业务规则</a:t>
            </a:r>
            <a:endParaRPr lang="en-US" sz="1100" dirty="0"/>
          </a:p>
        </p:txBody>
      </p:sp>
      <p:sp>
        <p:nvSpPr>
          <p:cNvPr id="662" name="Text 10"/>
          <p:cNvSpPr/>
          <p:nvPr/>
        </p:nvSpPr>
        <p:spPr>
          <a:xfrm>
            <a:off x="640080" y="2788920"/>
            <a:ext cx="22860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封装 data.json 读写逻辑</a:t>
            </a:r>
            <a:endParaRPr lang="en-US" sz="1100" dirty="0"/>
          </a:p>
        </p:txBody>
      </p:sp>
      <p:sp>
        <p:nvSpPr>
          <p:cNvPr id="663" name="Text 11"/>
          <p:cNvSpPr/>
          <p:nvPr/>
        </p:nvSpPr>
        <p:spPr>
          <a:xfrm>
            <a:off x="640080" y="3200400"/>
            <a:ext cx="22860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所有业务判断在此完成</a:t>
            </a:r>
            <a:endParaRPr lang="en-US" sz="1100" dirty="0"/>
          </a:p>
        </p:txBody>
      </p:sp>
      <p:sp>
        <p:nvSpPr>
          <p:cNvPr id="664" name="Shape 12"/>
          <p:cNvSpPr/>
          <p:nvPr/>
        </p:nvSpPr>
        <p:spPr>
          <a:xfrm>
            <a:off x="3337560" y="1097280"/>
            <a:ext cx="2651760" cy="347472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665" name="Shape 13"/>
          <p:cNvSpPr/>
          <p:nvPr/>
        </p:nvSpPr>
        <p:spPr>
          <a:xfrm>
            <a:off x="3337560" y="1097280"/>
            <a:ext cx="54864" cy="3474720"/>
          </a:xfrm>
          <a:prstGeom prst="rect">
            <a:avLst/>
          </a:prstGeom>
          <a:solidFill>
            <a:srgbClr val="10B981"/>
          </a:solidFill>
        </p:spPr>
        <p:txBody>
          <a:bodyPr/>
          <a:p/>
        </p:txBody>
      </p:sp>
      <p:sp>
        <p:nvSpPr>
          <p:cNvPr id="666" name="Text 14"/>
          <p:cNvSpPr/>
          <p:nvPr/>
        </p:nvSpPr>
        <p:spPr>
          <a:xfrm>
            <a:off x="3520440" y="1234440"/>
            <a:ext cx="3657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0B981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2</a:t>
            </a:r>
            <a:endParaRPr lang="en-US" sz="1800" dirty="0"/>
          </a:p>
        </p:txBody>
      </p:sp>
      <p:sp>
        <p:nvSpPr>
          <p:cNvPr id="667" name="Text 15"/>
          <p:cNvSpPr/>
          <p:nvPr/>
        </p:nvSpPr>
        <p:spPr>
          <a:xfrm>
            <a:off x="3886200" y="1234440"/>
            <a:ext cx="16459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View</a:t>
            </a:r>
            <a:endParaRPr lang="en-US" sz="1800" dirty="0"/>
          </a:p>
        </p:txBody>
      </p:sp>
      <p:sp>
        <p:nvSpPr>
          <p:cNvPr id="668" name="Text 16"/>
          <p:cNvSpPr/>
          <p:nvPr/>
        </p:nvSpPr>
        <p:spPr>
          <a:xfrm>
            <a:off x="3520440" y="1600200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视图层</a:t>
            </a:r>
            <a:endParaRPr lang="en-US" sz="1200" dirty="0"/>
          </a:p>
        </p:txBody>
      </p:sp>
      <p:sp>
        <p:nvSpPr>
          <p:cNvPr id="669" name="Text 17"/>
          <p:cNvSpPr/>
          <p:nvPr/>
        </p:nvSpPr>
        <p:spPr>
          <a:xfrm>
            <a:off x="3520440" y="1828800"/>
            <a:ext cx="22860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0B981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views.py / index.html</a:t>
            </a:r>
            <a:endParaRPr lang="en-US" sz="900" dirty="0"/>
          </a:p>
        </p:txBody>
      </p:sp>
      <p:sp>
        <p:nvSpPr>
          <p:cNvPr id="670" name="Shape 18"/>
          <p:cNvSpPr/>
          <p:nvPr/>
        </p:nvSpPr>
        <p:spPr>
          <a:xfrm>
            <a:off x="3520440" y="2194560"/>
            <a:ext cx="2286000" cy="7315"/>
          </a:xfrm>
          <a:prstGeom prst="rect">
            <a:avLst/>
          </a:prstGeom>
          <a:solidFill>
            <a:srgbClr val="E5E7EB"/>
          </a:solidFill>
        </p:spPr>
        <p:txBody>
          <a:bodyPr/>
          <a:p/>
        </p:txBody>
      </p:sp>
      <p:sp>
        <p:nvSpPr>
          <p:cNvPr id="671" name="Text 19"/>
          <p:cNvSpPr/>
          <p:nvPr/>
        </p:nvSpPr>
        <p:spPr>
          <a:xfrm>
            <a:off x="3520440" y="2377440"/>
            <a:ext cx="22860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负责 GUI 布局与呈现</a:t>
            </a:r>
            <a:endParaRPr lang="en-US" sz="1100" dirty="0"/>
          </a:p>
        </p:txBody>
      </p:sp>
      <p:sp>
        <p:nvSpPr>
          <p:cNvPr id="672" name="Text 20"/>
          <p:cNvSpPr/>
          <p:nvPr/>
        </p:nvSpPr>
        <p:spPr>
          <a:xfrm>
            <a:off x="3520440" y="2788920"/>
            <a:ext cx="22860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将用户输入传递给 Controller</a:t>
            </a:r>
            <a:endParaRPr lang="en-US" sz="1100" dirty="0"/>
          </a:p>
        </p:txBody>
      </p:sp>
      <p:sp>
        <p:nvSpPr>
          <p:cNvPr id="673" name="Text 21"/>
          <p:cNvSpPr/>
          <p:nvPr/>
        </p:nvSpPr>
        <p:spPr>
          <a:xfrm>
            <a:off x="3520440" y="3200400"/>
            <a:ext cx="22860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不含任何业务逻辑判断</a:t>
            </a:r>
            <a:endParaRPr lang="en-US" sz="1100" dirty="0"/>
          </a:p>
        </p:txBody>
      </p:sp>
      <p:sp>
        <p:nvSpPr>
          <p:cNvPr id="674" name="Shape 22"/>
          <p:cNvSpPr/>
          <p:nvPr/>
        </p:nvSpPr>
        <p:spPr>
          <a:xfrm>
            <a:off x="6217920" y="1097280"/>
            <a:ext cx="2651760" cy="347472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675" name="Shape 23"/>
          <p:cNvSpPr/>
          <p:nvPr/>
        </p:nvSpPr>
        <p:spPr>
          <a:xfrm>
            <a:off x="6217920" y="1097280"/>
            <a:ext cx="54864" cy="3474720"/>
          </a:xfrm>
          <a:prstGeom prst="rect">
            <a:avLst/>
          </a:prstGeom>
          <a:solidFill>
            <a:srgbClr val="D4A574"/>
          </a:solidFill>
        </p:spPr>
        <p:txBody>
          <a:bodyPr/>
          <a:p/>
        </p:txBody>
      </p:sp>
      <p:sp>
        <p:nvSpPr>
          <p:cNvPr id="676" name="Text 24"/>
          <p:cNvSpPr/>
          <p:nvPr/>
        </p:nvSpPr>
        <p:spPr>
          <a:xfrm>
            <a:off x="6400800" y="1234440"/>
            <a:ext cx="3657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D4A574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3</a:t>
            </a:r>
            <a:endParaRPr lang="en-US" sz="1800" dirty="0"/>
          </a:p>
        </p:txBody>
      </p:sp>
      <p:sp>
        <p:nvSpPr>
          <p:cNvPr id="677" name="Text 25"/>
          <p:cNvSpPr/>
          <p:nvPr/>
        </p:nvSpPr>
        <p:spPr>
          <a:xfrm>
            <a:off x="6766560" y="1234440"/>
            <a:ext cx="16459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Controller</a:t>
            </a:r>
            <a:endParaRPr lang="en-US" sz="1800" dirty="0"/>
          </a:p>
        </p:txBody>
      </p:sp>
      <p:sp>
        <p:nvSpPr>
          <p:cNvPr id="678" name="Text 26"/>
          <p:cNvSpPr/>
          <p:nvPr/>
        </p:nvSpPr>
        <p:spPr>
          <a:xfrm>
            <a:off x="6400800" y="1600200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控制层</a:t>
            </a:r>
            <a:endParaRPr lang="en-US" sz="1200" dirty="0"/>
          </a:p>
        </p:txBody>
      </p:sp>
      <p:sp>
        <p:nvSpPr>
          <p:cNvPr id="679" name="Text 27"/>
          <p:cNvSpPr/>
          <p:nvPr/>
        </p:nvSpPr>
        <p:spPr>
          <a:xfrm>
            <a:off x="6400800" y="1828800"/>
            <a:ext cx="22860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4A574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controllers.py / JS</a:t>
            </a:r>
            <a:endParaRPr lang="en-US" sz="900" dirty="0"/>
          </a:p>
        </p:txBody>
      </p:sp>
      <p:sp>
        <p:nvSpPr>
          <p:cNvPr id="680" name="Shape 28"/>
          <p:cNvSpPr/>
          <p:nvPr/>
        </p:nvSpPr>
        <p:spPr>
          <a:xfrm>
            <a:off x="6400800" y="2194560"/>
            <a:ext cx="2286000" cy="7315"/>
          </a:xfrm>
          <a:prstGeom prst="rect">
            <a:avLst/>
          </a:prstGeom>
          <a:solidFill>
            <a:srgbClr val="E5E7EB"/>
          </a:solidFill>
        </p:spPr>
        <p:txBody>
          <a:bodyPr/>
          <a:p/>
        </p:txBody>
      </p:sp>
      <p:sp>
        <p:nvSpPr>
          <p:cNvPr id="681" name="Text 29"/>
          <p:cNvSpPr/>
          <p:nvPr/>
        </p:nvSpPr>
        <p:spPr>
          <a:xfrm>
            <a:off x="6400800" y="2377440"/>
            <a:ext cx="22860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作为 Model 和 View 的桥梁</a:t>
            </a:r>
            <a:endParaRPr lang="en-US" sz="1100" dirty="0"/>
          </a:p>
        </p:txBody>
      </p:sp>
      <p:sp>
        <p:nvSpPr>
          <p:cNvPr id="682" name="Text 30"/>
          <p:cNvSpPr/>
          <p:nvPr/>
        </p:nvSpPr>
        <p:spPr>
          <a:xfrm>
            <a:off x="6400800" y="2788920"/>
            <a:ext cx="22860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接收输入 → 调用 Model → 更新 View</a:t>
            </a:r>
            <a:endParaRPr lang="en-US" sz="1100" dirty="0"/>
          </a:p>
        </p:txBody>
      </p:sp>
      <p:sp>
        <p:nvSpPr>
          <p:cNvPr id="683" name="Text 31"/>
          <p:cNvSpPr/>
          <p:nvPr/>
        </p:nvSpPr>
        <p:spPr>
          <a:xfrm>
            <a:off x="6400800" y="3200400"/>
            <a:ext cx="22860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逻辑调度与中转枢纽</a:t>
            </a:r>
            <a:endParaRPr lang="en-US" sz="1100" dirty="0"/>
          </a:p>
        </p:txBody>
      </p:sp>
      <p:sp>
        <p:nvSpPr>
          <p:cNvPr id="684" name="Text 32"/>
          <p:cNvSpPr/>
          <p:nvPr/>
        </p:nvSpPr>
        <p:spPr>
          <a:xfrm>
            <a:off x="3108960" y="2377440"/>
            <a:ext cx="27432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6B7280"/>
                </a:solidFill>
              </a:rPr>
              <a:t>→</a:t>
            </a:r>
            <a:endParaRPr lang="en-US" sz="2200" dirty="0"/>
          </a:p>
        </p:txBody>
      </p:sp>
      <p:sp>
        <p:nvSpPr>
          <p:cNvPr id="685" name="Text 33"/>
          <p:cNvSpPr/>
          <p:nvPr/>
        </p:nvSpPr>
        <p:spPr>
          <a:xfrm>
            <a:off x="5989320" y="2377440"/>
            <a:ext cx="27432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6B7280"/>
                </a:solidFill>
              </a:rPr>
              <a:t>→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68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7" name="Shape 0"/>
          <p:cNvSpPr/>
          <p:nvPr/>
        </p:nvSpPr>
        <p:spPr>
          <a:xfrm>
            <a:off x="548640" y="411480"/>
            <a:ext cx="64008" cy="502920"/>
          </a:xfrm>
          <a:prstGeom prst="rect">
            <a:avLst/>
          </a:prstGeom>
          <a:solidFill>
            <a:srgbClr val="D4A574"/>
          </a:solidFill>
        </p:spPr>
        <p:txBody>
          <a:bodyPr/>
          <a:p/>
        </p:txBody>
      </p:sp>
      <p:sp>
        <p:nvSpPr>
          <p:cNvPr id="688" name="Text 1"/>
          <p:cNvSpPr/>
          <p:nvPr/>
        </p:nvSpPr>
        <p:spPr>
          <a:xfrm>
            <a:off x="822960" y="365760"/>
            <a:ext cx="777240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模型层 Model — 数据与业务逻辑</a:t>
            </a:r>
            <a:endParaRPr lang="en-US" sz="2800" dirty="0"/>
          </a:p>
        </p:txBody>
      </p:sp>
      <p:sp>
        <p:nvSpPr>
          <p:cNvPr id="689" name="Text 2"/>
          <p:cNvSpPr/>
          <p:nvPr/>
        </p:nvSpPr>
        <p:spPr>
          <a:xfrm>
            <a:off x="822960" y="1097280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核心职责</a:t>
            </a:r>
            <a:endParaRPr lang="en-US" sz="1600" dirty="0"/>
          </a:p>
        </p:txBody>
      </p:sp>
      <p:sp>
        <p:nvSpPr>
          <p:cNvPr id="690" name="Text 3"/>
          <p:cNvSpPr/>
          <p:nvPr/>
        </p:nvSpPr>
        <p:spPr>
          <a:xfrm>
            <a:off x="822960" y="1554480"/>
            <a:ext cx="50292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用户数据加载与持久化（JSON 文件读写）</a:t>
            </a:r>
            <a:endParaRPr lang="en-US" sz="1200" dirty="0"/>
          </a:p>
        </p:txBody>
      </p:sp>
      <p:sp>
        <p:nvSpPr>
          <p:cNvPr id="691" name="Text 4"/>
          <p:cNvSpPr/>
          <p:nvPr/>
        </p:nvSpPr>
        <p:spPr>
          <a:xfrm>
            <a:off x="822960" y="1920240"/>
            <a:ext cx="50292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登录验证：账号和密码匹配校验</a:t>
            </a:r>
            <a:endParaRPr lang="en-US" sz="1200" dirty="0"/>
          </a:p>
        </p:txBody>
      </p:sp>
      <p:sp>
        <p:nvSpPr>
          <p:cNvPr id="692" name="Text 5"/>
          <p:cNvSpPr/>
          <p:nvPr/>
        </p:nvSpPr>
        <p:spPr>
          <a:xfrm>
            <a:off x="822960" y="2286000"/>
            <a:ext cx="50292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余额查询：返回当前账户余额</a:t>
            </a:r>
            <a:endParaRPr lang="en-US" sz="1200" dirty="0"/>
          </a:p>
        </p:txBody>
      </p:sp>
      <p:sp>
        <p:nvSpPr>
          <p:cNvPr id="693" name="Text 6"/>
          <p:cNvSpPr/>
          <p:nvPr/>
        </p:nvSpPr>
        <p:spPr>
          <a:xfrm>
            <a:off x="822960" y="2651760"/>
            <a:ext cx="50292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存款业务：不可为负数的校验与更新</a:t>
            </a:r>
            <a:endParaRPr lang="en-US" sz="1200" dirty="0"/>
          </a:p>
        </p:txBody>
      </p:sp>
      <p:sp>
        <p:nvSpPr>
          <p:cNvPr id="694" name="Text 7"/>
          <p:cNvSpPr/>
          <p:nvPr/>
        </p:nvSpPr>
        <p:spPr>
          <a:xfrm>
            <a:off x="822960" y="3017520"/>
            <a:ext cx="50292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取款业务：100 倍数 / 上限 5000 / 不透支</a:t>
            </a:r>
            <a:endParaRPr lang="en-US" sz="1200" dirty="0"/>
          </a:p>
        </p:txBody>
      </p:sp>
      <p:sp>
        <p:nvSpPr>
          <p:cNvPr id="695" name="Text 8"/>
          <p:cNvSpPr/>
          <p:nvPr/>
        </p:nvSpPr>
        <p:spPr>
          <a:xfrm>
            <a:off x="822960" y="3383280"/>
            <a:ext cx="50292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修改密码：旧密码验证 / 长度 / 相同字符检测</a:t>
            </a:r>
            <a:endParaRPr lang="en-US" sz="1200" dirty="0"/>
          </a:p>
        </p:txBody>
      </p:sp>
      <p:sp>
        <p:nvSpPr>
          <p:cNvPr id="696" name="Shape 9"/>
          <p:cNvSpPr/>
          <p:nvPr/>
        </p:nvSpPr>
        <p:spPr>
          <a:xfrm>
            <a:off x="5943600" y="1097280"/>
            <a:ext cx="2926080" cy="306832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697" name="Shape 10"/>
          <p:cNvSpPr/>
          <p:nvPr/>
        </p:nvSpPr>
        <p:spPr>
          <a:xfrm>
            <a:off x="5943600" y="1097280"/>
            <a:ext cx="80010" cy="3068320"/>
          </a:xfrm>
          <a:prstGeom prst="rect">
            <a:avLst/>
          </a:prstGeom>
          <a:solidFill>
            <a:srgbClr val="1A73E8"/>
          </a:solidFill>
        </p:spPr>
        <p:txBody>
          <a:bodyPr/>
          <a:p/>
        </p:txBody>
      </p:sp>
      <p:sp>
        <p:nvSpPr>
          <p:cNvPr id="698" name="Text 11"/>
          <p:cNvSpPr/>
          <p:nvPr/>
        </p:nvSpPr>
        <p:spPr>
          <a:xfrm>
            <a:off x="6217920" y="1234440"/>
            <a:ext cx="24688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73E8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models.py — 取款业务</a:t>
            </a:r>
            <a:endParaRPr lang="en-US" sz="1000" dirty="0"/>
          </a:p>
        </p:txBody>
      </p:sp>
      <p:sp>
        <p:nvSpPr>
          <p:cNvPr id="699" name="Text 12"/>
          <p:cNvSpPr/>
          <p:nvPr/>
        </p:nvSpPr>
        <p:spPr>
          <a:xfrm>
            <a:off x="6217920" y="1645920"/>
            <a:ext cx="2468880" cy="2346960"/>
          </a:xfrm>
          <a:prstGeom prst="rect">
            <a:avLst/>
          </a:prstGeom>
          <a:solidFill>
            <a:srgbClr val="F8F9FA"/>
          </a:solidFill>
        </p:spPr>
        <p:txBody>
          <a:bodyPr wrap="square" lIns="1270" tIns="1270" rIns="1270" bIns="127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def withdraw(self, amount):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if amount &lt;= 0: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    return False, '无效'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if amount % 100 != 0: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    return False, '需100倍数'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if amount &gt; 5000: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    return False, '超上限'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if amount &gt; balance: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    return False, '余额不足'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self.user_data['balance'] -= amount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self._save_to_disk()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return True, '取款成功'</a:t>
            </a:r>
            <a:endParaRPr lang="en-US" sz="850" dirty="0"/>
          </a:p>
        </p:txBody>
      </p:sp>
      <p:sp>
        <p:nvSpPr>
          <p:cNvPr id="700" name="Shape 13"/>
          <p:cNvSpPr/>
          <p:nvPr/>
        </p:nvSpPr>
        <p:spPr>
          <a:xfrm>
            <a:off x="0" y="4572000"/>
            <a:ext cx="9144000" cy="548640"/>
          </a:xfrm>
          <a:prstGeom prst="rect">
            <a:avLst/>
          </a:prstGeom>
          <a:solidFill>
            <a:srgbClr val="1A1F36"/>
          </a:solidFill>
        </p:spPr>
        <p:txBody>
          <a:bodyPr/>
          <a:p/>
        </p:txBody>
      </p:sp>
      <p:sp>
        <p:nvSpPr>
          <p:cNvPr id="701" name="Text 14"/>
          <p:cNvSpPr/>
          <p:nvPr/>
        </p:nvSpPr>
        <p:spPr>
          <a:xfrm>
            <a:off x="457200" y="4617720"/>
            <a:ext cx="82296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5F0E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所有 6 项业务规则均在 Model 层实现 — View 层不包含任何逻辑判断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64008" cy="502920"/>
          </a:xfrm>
          <a:prstGeom prst="rect">
            <a:avLst/>
          </a:prstGeom>
          <a:solidFill>
            <a:srgbClr val="D4A574"/>
          </a:solidFill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822960" y="365760"/>
            <a:ext cx="777240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代码实现 — 模型层源码解析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105156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models.py — 核心业务逻辑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3931920" cy="150876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457200" y="1463040"/>
            <a:ext cx="54864" cy="1508760"/>
          </a:xfrm>
          <a:prstGeom prst="rect">
            <a:avLst/>
          </a:prstGeom>
          <a:solidFill>
            <a:srgbClr val="1A73E8"/>
          </a:solidFill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40080" y="1508760"/>
            <a:ext cx="34747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73E8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登录验证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783080"/>
            <a:ext cx="3474720" cy="868680"/>
          </a:xfrm>
          <a:prstGeom prst="rect">
            <a:avLst/>
          </a:prstGeom>
          <a:solidFill>
            <a:srgbClr val="F8F9FA"/>
          </a:solidFill>
        </p:spPr>
        <p:txBody>
          <a:bodyPr wrap="square" lIns="1016" tIns="1016" rIns="1016" bIns="1016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def check_login(self, acc, pwd):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return acc == self.user_data['account'] \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   and pwd == self.user_data['password']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640080" y="2697480"/>
            <a:ext cx="34747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O(1) 字符串比较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754880" y="1463040"/>
            <a:ext cx="3931920" cy="150876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754880" y="1463040"/>
            <a:ext cx="54864" cy="1508760"/>
          </a:xfrm>
          <a:prstGeom prst="rect">
            <a:avLst/>
          </a:prstGeom>
          <a:solidFill>
            <a:srgbClr val="1A73E8"/>
          </a:solidFill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937760" y="1508760"/>
            <a:ext cx="34747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73E8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存款业务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937760" y="1783080"/>
            <a:ext cx="3474720" cy="868680"/>
          </a:xfrm>
          <a:prstGeom prst="rect">
            <a:avLst/>
          </a:prstGeom>
          <a:solidFill>
            <a:srgbClr val="F8F9FA"/>
          </a:solidFill>
        </p:spPr>
        <p:txBody>
          <a:bodyPr wrap="square" lIns="1016" tIns="1016" rIns="1016" bIns="1016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def deposit(self, amount):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if amount &lt;= 0: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    return False, '金额必须大于0'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self.user_data['balance'] += amount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self._save_to_disk(self.user_data)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return True, f'存款成功，余额: {bal}'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4937760" y="2697480"/>
            <a:ext cx="34747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金额 &gt; 0 校验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3154680"/>
            <a:ext cx="3931920" cy="150876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457200" y="3154680"/>
            <a:ext cx="54864" cy="1508760"/>
          </a:xfrm>
          <a:prstGeom prst="rect">
            <a:avLst/>
          </a:prstGeom>
          <a:solidFill>
            <a:srgbClr val="1A73E8"/>
          </a:solidFill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40080" y="3200400"/>
            <a:ext cx="34747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73E8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取款业务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3474720"/>
            <a:ext cx="3474720" cy="868680"/>
          </a:xfrm>
          <a:prstGeom prst="rect">
            <a:avLst/>
          </a:prstGeom>
          <a:solidFill>
            <a:srgbClr val="F8F9FA"/>
          </a:solidFill>
        </p:spPr>
        <p:txBody>
          <a:bodyPr wrap="square" lIns="1016" tIns="1016" rIns="1016" bIns="1016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def withdraw(self, amount):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if amount &lt;= 0: return False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if amount % 100 != 0: return False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if amount &gt; 5000: return False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if amount &gt; self.balance: return False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self.balance -= amount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self._save_to_disk()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return True, '取款成功'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640080" y="4389120"/>
            <a:ext cx="34747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 项规则依次判断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754880" y="3154680"/>
            <a:ext cx="3931920" cy="150876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4754880" y="3154680"/>
            <a:ext cx="54864" cy="1508760"/>
          </a:xfrm>
          <a:prstGeom prst="rect">
            <a:avLst/>
          </a:prstGeom>
          <a:solidFill>
            <a:srgbClr val="1A73E8"/>
          </a:solidFill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4937760" y="3200400"/>
            <a:ext cx="34747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73E8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修改密码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937760" y="3474720"/>
            <a:ext cx="3474720" cy="868680"/>
          </a:xfrm>
          <a:prstGeom prst="rect">
            <a:avLst/>
          </a:prstGeom>
          <a:solidFill>
            <a:srgbClr val="F8F9FA"/>
          </a:solidFill>
        </p:spPr>
        <p:txBody>
          <a:bodyPr wrap="square" lIns="1016" tIns="1016" rIns="1016" bIns="1016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def change_password(self, old, new, cf):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if old != self.password: return False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if new != cf: return False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if len(new) &lt; 6: return False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if len(set(new)) == 1: return False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self.password = new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self._save_to_disk()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return True, '密码修改成功'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4937760" y="4389120"/>
            <a:ext cx="34747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 项安全检查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2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Shape 0"/>
          <p:cNvSpPr/>
          <p:nvPr/>
        </p:nvSpPr>
        <p:spPr>
          <a:xfrm>
            <a:off x="548640" y="411480"/>
            <a:ext cx="64008" cy="502920"/>
          </a:xfrm>
          <a:prstGeom prst="rect">
            <a:avLst/>
          </a:prstGeom>
          <a:solidFill>
            <a:srgbClr val="D4A574"/>
          </a:solidFill>
        </p:spPr>
        <p:txBody>
          <a:bodyPr/>
          <a:p/>
        </p:txBody>
      </p:sp>
      <p:sp>
        <p:nvSpPr>
          <p:cNvPr id="27" name="Text 1"/>
          <p:cNvSpPr/>
          <p:nvPr/>
        </p:nvSpPr>
        <p:spPr>
          <a:xfrm>
            <a:off x="822960" y="365760"/>
            <a:ext cx="777240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控制层 Controller — 逻辑调度</a:t>
            </a:r>
            <a:endParaRPr lang="en-US" sz="2800" dirty="0"/>
          </a:p>
        </p:txBody>
      </p:sp>
      <p:sp>
        <p:nvSpPr>
          <p:cNvPr id="28" name="Shape 2"/>
          <p:cNvSpPr/>
          <p:nvPr/>
        </p:nvSpPr>
        <p:spPr>
          <a:xfrm>
            <a:off x="457200" y="1280160"/>
            <a:ext cx="1828800" cy="109728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9" name="Shape 3"/>
          <p:cNvSpPr/>
          <p:nvPr/>
        </p:nvSpPr>
        <p:spPr>
          <a:xfrm>
            <a:off x="457200" y="1280160"/>
            <a:ext cx="54864" cy="1097280"/>
          </a:xfrm>
          <a:prstGeom prst="rect">
            <a:avLst/>
          </a:prstGeom>
          <a:solidFill>
            <a:srgbClr val="D4A574"/>
          </a:solidFill>
        </p:spPr>
        <p:txBody>
          <a:bodyPr/>
          <a:p/>
        </p:txBody>
      </p:sp>
      <p:sp>
        <p:nvSpPr>
          <p:cNvPr id="30" name="Text 4"/>
          <p:cNvSpPr/>
          <p:nvPr/>
        </p:nvSpPr>
        <p:spPr>
          <a:xfrm>
            <a:off x="640080" y="1371600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用户操作</a:t>
            </a:r>
            <a:endParaRPr lang="en-US" sz="1400" dirty="0"/>
          </a:p>
        </p:txBody>
      </p:sp>
      <p:sp>
        <p:nvSpPr>
          <p:cNvPr id="31" name="Text 5"/>
          <p:cNvSpPr/>
          <p:nvPr/>
        </p:nvSpPr>
        <p:spPr>
          <a:xfrm>
            <a:off x="640080" y="1783080"/>
            <a:ext cx="14630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点击按钮 / 输入</a:t>
            </a:r>
            <a:endParaRPr lang="en-US" sz="1100" dirty="0"/>
          </a:p>
        </p:txBody>
      </p:sp>
      <p:sp>
        <p:nvSpPr>
          <p:cNvPr id="32" name="Text 6"/>
          <p:cNvSpPr/>
          <p:nvPr/>
        </p:nvSpPr>
        <p:spPr>
          <a:xfrm>
            <a:off x="2286000" y="1463040"/>
            <a:ext cx="36576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6B7280"/>
                </a:solidFill>
              </a:rPr>
              <a:t>→</a:t>
            </a:r>
            <a:endParaRPr lang="en-US" sz="2000" dirty="0"/>
          </a:p>
        </p:txBody>
      </p:sp>
      <p:sp>
        <p:nvSpPr>
          <p:cNvPr id="33" name="Shape 7"/>
          <p:cNvSpPr/>
          <p:nvPr/>
        </p:nvSpPr>
        <p:spPr>
          <a:xfrm>
            <a:off x="2651760" y="1280160"/>
            <a:ext cx="1828800" cy="1097280"/>
          </a:xfrm>
          <a:prstGeom prst="rect">
            <a:avLst/>
          </a:prstGeom>
          <a:solidFill>
            <a:srgbClr val="D4A574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4" name="Shape 8"/>
          <p:cNvSpPr/>
          <p:nvPr/>
        </p:nvSpPr>
        <p:spPr>
          <a:xfrm>
            <a:off x="2651760" y="1280160"/>
            <a:ext cx="54864" cy="1097280"/>
          </a:xfrm>
          <a:prstGeom prst="rect">
            <a:avLst/>
          </a:prstGeom>
          <a:solidFill>
            <a:srgbClr val="1A1F36"/>
          </a:solidFill>
        </p:spPr>
        <p:txBody>
          <a:bodyPr/>
          <a:p/>
        </p:txBody>
      </p:sp>
      <p:sp>
        <p:nvSpPr>
          <p:cNvPr id="35" name="Text 9"/>
          <p:cNvSpPr/>
          <p:nvPr/>
        </p:nvSpPr>
        <p:spPr>
          <a:xfrm>
            <a:off x="2834640" y="1371600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0A0C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Controller</a:t>
            </a:r>
            <a:endParaRPr lang="en-US" sz="1400" dirty="0"/>
          </a:p>
        </p:txBody>
      </p:sp>
      <p:sp>
        <p:nvSpPr>
          <p:cNvPr id="36" name="Text 10"/>
          <p:cNvSpPr/>
          <p:nvPr/>
        </p:nvSpPr>
        <p:spPr>
          <a:xfrm>
            <a:off x="2834640" y="1783080"/>
            <a:ext cx="14630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A0A0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接收并处理请求</a:t>
            </a:r>
            <a:endParaRPr lang="en-US" sz="1100" dirty="0"/>
          </a:p>
        </p:txBody>
      </p:sp>
      <p:sp>
        <p:nvSpPr>
          <p:cNvPr id="37" name="Text 11"/>
          <p:cNvSpPr/>
          <p:nvPr/>
        </p:nvSpPr>
        <p:spPr>
          <a:xfrm>
            <a:off x="4480560" y="1463040"/>
            <a:ext cx="36576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6B7280"/>
                </a:solidFill>
              </a:rPr>
              <a:t>→</a:t>
            </a:r>
            <a:endParaRPr lang="en-US" sz="2000" dirty="0"/>
          </a:p>
        </p:txBody>
      </p:sp>
      <p:sp>
        <p:nvSpPr>
          <p:cNvPr id="38" name="Shape 12"/>
          <p:cNvSpPr/>
          <p:nvPr/>
        </p:nvSpPr>
        <p:spPr>
          <a:xfrm>
            <a:off x="4846320" y="1280160"/>
            <a:ext cx="1828800" cy="109728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9" name="Shape 13"/>
          <p:cNvSpPr/>
          <p:nvPr/>
        </p:nvSpPr>
        <p:spPr>
          <a:xfrm>
            <a:off x="4846320" y="1280160"/>
            <a:ext cx="54864" cy="1097280"/>
          </a:xfrm>
          <a:prstGeom prst="rect">
            <a:avLst/>
          </a:prstGeom>
          <a:solidFill>
            <a:srgbClr val="D4A574"/>
          </a:solidFill>
        </p:spPr>
        <p:txBody>
          <a:bodyPr/>
          <a:p/>
        </p:txBody>
      </p:sp>
      <p:sp>
        <p:nvSpPr>
          <p:cNvPr id="40" name="Text 14"/>
          <p:cNvSpPr/>
          <p:nvPr/>
        </p:nvSpPr>
        <p:spPr>
          <a:xfrm>
            <a:off x="5029200" y="1371600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Model</a:t>
            </a:r>
            <a:endParaRPr lang="en-US" sz="1400" dirty="0"/>
          </a:p>
        </p:txBody>
      </p:sp>
      <p:sp>
        <p:nvSpPr>
          <p:cNvPr id="41" name="Text 15"/>
          <p:cNvSpPr/>
          <p:nvPr/>
        </p:nvSpPr>
        <p:spPr>
          <a:xfrm>
            <a:off x="5029200" y="1783080"/>
            <a:ext cx="14630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执行业务逻辑</a:t>
            </a:r>
            <a:endParaRPr lang="en-US" sz="1100" dirty="0"/>
          </a:p>
        </p:txBody>
      </p:sp>
      <p:sp>
        <p:nvSpPr>
          <p:cNvPr id="42" name="Text 16"/>
          <p:cNvSpPr/>
          <p:nvPr/>
        </p:nvSpPr>
        <p:spPr>
          <a:xfrm>
            <a:off x="6675120" y="1463040"/>
            <a:ext cx="36576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6B7280"/>
                </a:solidFill>
              </a:rPr>
              <a:t>→</a:t>
            </a:r>
            <a:endParaRPr lang="en-US" sz="2000" dirty="0"/>
          </a:p>
        </p:txBody>
      </p:sp>
      <p:sp>
        <p:nvSpPr>
          <p:cNvPr id="43" name="Shape 17"/>
          <p:cNvSpPr/>
          <p:nvPr/>
        </p:nvSpPr>
        <p:spPr>
          <a:xfrm>
            <a:off x="7040880" y="1280160"/>
            <a:ext cx="1828800" cy="109728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44" name="Shape 18"/>
          <p:cNvSpPr/>
          <p:nvPr/>
        </p:nvSpPr>
        <p:spPr>
          <a:xfrm>
            <a:off x="7040880" y="1280160"/>
            <a:ext cx="54864" cy="1097280"/>
          </a:xfrm>
          <a:prstGeom prst="rect">
            <a:avLst/>
          </a:prstGeom>
          <a:solidFill>
            <a:srgbClr val="D4A574"/>
          </a:solidFill>
        </p:spPr>
        <p:txBody>
          <a:bodyPr/>
          <a:p/>
        </p:txBody>
      </p:sp>
      <p:sp>
        <p:nvSpPr>
          <p:cNvPr id="45" name="Text 19"/>
          <p:cNvSpPr/>
          <p:nvPr/>
        </p:nvSpPr>
        <p:spPr>
          <a:xfrm>
            <a:off x="7223760" y="1371600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View</a:t>
            </a:r>
            <a:endParaRPr lang="en-US" sz="1400" dirty="0"/>
          </a:p>
        </p:txBody>
      </p:sp>
      <p:sp>
        <p:nvSpPr>
          <p:cNvPr id="46" name="Text 20"/>
          <p:cNvSpPr/>
          <p:nvPr/>
        </p:nvSpPr>
        <p:spPr>
          <a:xfrm>
            <a:off x="7223760" y="1783080"/>
            <a:ext cx="14630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更新显示结果</a:t>
            </a:r>
            <a:endParaRPr lang="en-US" sz="1100" dirty="0"/>
          </a:p>
        </p:txBody>
      </p:sp>
      <p:sp>
        <p:nvSpPr>
          <p:cNvPr id="47" name="Text 21"/>
          <p:cNvSpPr/>
          <p:nvPr/>
        </p:nvSpPr>
        <p:spPr>
          <a:xfrm>
            <a:off x="822960" y="265176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核心方法</a:t>
            </a:r>
            <a:endParaRPr lang="en-US" sz="1600" dirty="0"/>
          </a:p>
        </p:txBody>
      </p:sp>
      <p:sp>
        <p:nvSpPr>
          <p:cNvPr id="48" name="Shape 22"/>
          <p:cNvSpPr/>
          <p:nvPr/>
        </p:nvSpPr>
        <p:spPr>
          <a:xfrm>
            <a:off x="548640" y="3063240"/>
            <a:ext cx="3931920" cy="411480"/>
          </a:xfrm>
          <a:prstGeom prst="rect">
            <a:avLst/>
          </a:prstGeom>
          <a:solidFill>
            <a:srgbClr val="F5F0EB"/>
          </a:solidFill>
        </p:spPr>
        <p:txBody>
          <a:bodyPr/>
          <a:p/>
        </p:txBody>
      </p:sp>
      <p:sp>
        <p:nvSpPr>
          <p:cNvPr id="49" name="Text 23"/>
          <p:cNvSpPr/>
          <p:nvPr/>
        </p:nvSpPr>
        <p:spPr>
          <a:xfrm>
            <a:off x="658368" y="3063240"/>
            <a:ext cx="173736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F36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login(acc, pwd)</a:t>
            </a:r>
            <a:endParaRPr lang="en-US" sz="1100" dirty="0"/>
          </a:p>
        </p:txBody>
      </p:sp>
      <p:sp>
        <p:nvSpPr>
          <p:cNvPr id="50" name="Text 24"/>
          <p:cNvSpPr/>
          <p:nvPr/>
        </p:nvSpPr>
        <p:spPr>
          <a:xfrm>
            <a:off x="2423160" y="3063240"/>
            <a:ext cx="192024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校验 → 成功切菜单 / 失败报错</a:t>
            </a:r>
            <a:endParaRPr lang="en-US" sz="1100" dirty="0"/>
          </a:p>
        </p:txBody>
      </p:sp>
      <p:sp>
        <p:nvSpPr>
          <p:cNvPr id="51" name="Shape 25"/>
          <p:cNvSpPr/>
          <p:nvPr/>
        </p:nvSpPr>
        <p:spPr>
          <a:xfrm>
            <a:off x="4846320" y="3063240"/>
            <a:ext cx="3931920" cy="411480"/>
          </a:xfrm>
          <a:prstGeom prst="rect">
            <a:avLst/>
          </a:prstGeom>
          <a:solidFill>
            <a:srgbClr val="F5F0EB"/>
          </a:solidFill>
        </p:spPr>
        <p:txBody>
          <a:bodyPr/>
          <a:p/>
        </p:txBody>
      </p:sp>
      <p:sp>
        <p:nvSpPr>
          <p:cNvPr id="52" name="Text 26"/>
          <p:cNvSpPr/>
          <p:nvPr/>
        </p:nvSpPr>
        <p:spPr>
          <a:xfrm>
            <a:off x="4956048" y="3063240"/>
            <a:ext cx="173736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F36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show_balance()</a:t>
            </a:r>
            <a:endParaRPr lang="en-US" sz="1100" dirty="0"/>
          </a:p>
        </p:txBody>
      </p:sp>
      <p:sp>
        <p:nvSpPr>
          <p:cNvPr id="53" name="Text 27"/>
          <p:cNvSpPr/>
          <p:nvPr/>
        </p:nvSpPr>
        <p:spPr>
          <a:xfrm>
            <a:off x="6720840" y="3063240"/>
            <a:ext cx="192024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调用 model.get → 显示余额</a:t>
            </a:r>
            <a:endParaRPr lang="en-US" sz="1100" dirty="0"/>
          </a:p>
        </p:txBody>
      </p:sp>
      <p:sp>
        <p:nvSpPr>
          <p:cNvPr id="54" name="Shape 28"/>
          <p:cNvSpPr/>
          <p:nvPr/>
        </p:nvSpPr>
        <p:spPr>
          <a:xfrm>
            <a:off x="548640" y="3566160"/>
            <a:ext cx="3931920" cy="411480"/>
          </a:xfrm>
          <a:prstGeom prst="rect">
            <a:avLst/>
          </a:prstGeom>
          <a:solidFill>
            <a:srgbClr val="F5F0EB"/>
          </a:solidFill>
        </p:spPr>
        <p:txBody>
          <a:bodyPr/>
          <a:p/>
        </p:txBody>
      </p:sp>
      <p:sp>
        <p:nvSpPr>
          <p:cNvPr id="55" name="Text 29"/>
          <p:cNvSpPr/>
          <p:nvPr/>
        </p:nvSpPr>
        <p:spPr>
          <a:xfrm>
            <a:off x="658368" y="3566160"/>
            <a:ext cx="173736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F36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handle_deposit(amt)</a:t>
            </a:r>
            <a:endParaRPr lang="en-US" sz="1100" dirty="0"/>
          </a:p>
        </p:txBody>
      </p:sp>
      <p:sp>
        <p:nvSpPr>
          <p:cNvPr id="56" name="Text 30"/>
          <p:cNvSpPr/>
          <p:nvPr/>
        </p:nvSpPr>
        <p:spPr>
          <a:xfrm>
            <a:off x="2423160" y="3566160"/>
            <a:ext cx="192024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校验格式 → model.deposit → 反馈</a:t>
            </a:r>
            <a:endParaRPr lang="en-US" sz="1100" dirty="0"/>
          </a:p>
        </p:txBody>
      </p:sp>
      <p:sp>
        <p:nvSpPr>
          <p:cNvPr id="57" name="Shape 31"/>
          <p:cNvSpPr/>
          <p:nvPr/>
        </p:nvSpPr>
        <p:spPr>
          <a:xfrm>
            <a:off x="4846320" y="3566160"/>
            <a:ext cx="3931920" cy="411480"/>
          </a:xfrm>
          <a:prstGeom prst="rect">
            <a:avLst/>
          </a:prstGeom>
          <a:solidFill>
            <a:srgbClr val="F5F0EB"/>
          </a:solidFill>
        </p:spPr>
        <p:txBody>
          <a:bodyPr/>
          <a:p/>
        </p:txBody>
      </p:sp>
      <p:sp>
        <p:nvSpPr>
          <p:cNvPr id="58" name="Text 32"/>
          <p:cNvSpPr/>
          <p:nvPr/>
        </p:nvSpPr>
        <p:spPr>
          <a:xfrm>
            <a:off x="4956048" y="3566160"/>
            <a:ext cx="173736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F36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handle_withdraw(amt)</a:t>
            </a:r>
            <a:endParaRPr lang="en-US" sz="1100" dirty="0"/>
          </a:p>
        </p:txBody>
      </p:sp>
      <p:sp>
        <p:nvSpPr>
          <p:cNvPr id="59" name="Text 33"/>
          <p:cNvSpPr/>
          <p:nvPr/>
        </p:nvSpPr>
        <p:spPr>
          <a:xfrm>
            <a:off x="6720840" y="3566160"/>
            <a:ext cx="192024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校验格式和规则 → model.withdraw → 反馈</a:t>
            </a:r>
            <a:endParaRPr lang="en-US" sz="1100" dirty="0"/>
          </a:p>
        </p:txBody>
      </p:sp>
      <p:sp>
        <p:nvSpPr>
          <p:cNvPr id="60" name="Shape 34"/>
          <p:cNvSpPr/>
          <p:nvPr/>
        </p:nvSpPr>
        <p:spPr>
          <a:xfrm>
            <a:off x="548640" y="4069080"/>
            <a:ext cx="3931920" cy="411480"/>
          </a:xfrm>
          <a:prstGeom prst="rect">
            <a:avLst/>
          </a:prstGeom>
          <a:solidFill>
            <a:srgbClr val="F5F0EB"/>
          </a:solidFill>
        </p:spPr>
        <p:txBody>
          <a:bodyPr/>
          <a:p/>
        </p:txBody>
      </p:sp>
      <p:sp>
        <p:nvSpPr>
          <p:cNvPr id="61" name="Text 35"/>
          <p:cNvSpPr/>
          <p:nvPr/>
        </p:nvSpPr>
        <p:spPr>
          <a:xfrm>
            <a:off x="658368" y="4069080"/>
            <a:ext cx="173736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F36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handle_change_pwd(...)</a:t>
            </a:r>
            <a:endParaRPr lang="en-US" sz="1100" dirty="0"/>
          </a:p>
        </p:txBody>
      </p:sp>
      <p:sp>
        <p:nvSpPr>
          <p:cNvPr id="62" name="Text 36"/>
          <p:cNvSpPr/>
          <p:nvPr/>
        </p:nvSpPr>
        <p:spPr>
          <a:xfrm>
            <a:off x="2423160" y="4069080"/>
            <a:ext cx="192024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校验旧密码/一致性/强度 → model更新</a:t>
            </a:r>
            <a:endParaRPr lang="en-US" sz="1100" dirty="0"/>
          </a:p>
        </p:txBody>
      </p:sp>
      <p:sp>
        <p:nvSpPr>
          <p:cNvPr id="63" name="Shape 37"/>
          <p:cNvSpPr/>
          <p:nvPr/>
        </p:nvSpPr>
        <p:spPr>
          <a:xfrm>
            <a:off x="4846320" y="4069080"/>
            <a:ext cx="3931920" cy="411480"/>
          </a:xfrm>
          <a:prstGeom prst="rect">
            <a:avLst/>
          </a:prstGeom>
          <a:solidFill>
            <a:srgbClr val="F5F0EB"/>
          </a:solidFill>
        </p:spPr>
        <p:txBody>
          <a:bodyPr/>
          <a:p/>
        </p:txBody>
      </p:sp>
      <p:sp>
        <p:nvSpPr>
          <p:cNvPr id="64" name="Text 38"/>
          <p:cNvSpPr/>
          <p:nvPr/>
        </p:nvSpPr>
        <p:spPr>
          <a:xfrm>
            <a:off x="4956048" y="4069080"/>
            <a:ext cx="173736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F36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logout()</a:t>
            </a:r>
            <a:endParaRPr lang="en-US" sz="1100" dirty="0"/>
          </a:p>
        </p:txBody>
      </p:sp>
      <p:sp>
        <p:nvSpPr>
          <p:cNvPr id="65" name="Text 39"/>
          <p:cNvSpPr/>
          <p:nvPr/>
        </p:nvSpPr>
        <p:spPr>
          <a:xfrm>
            <a:off x="6720840" y="4069080"/>
            <a:ext cx="192024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清空状态 → 返回登录界面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B"/>
        </a:solidFill>
        <a:effectLst/>
      </p:bgPr>
    </p:bg>
    <p:spTree>
      <p:nvGrpSpPr>
        <p:cNvPr id="6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Shape 0"/>
          <p:cNvSpPr/>
          <p:nvPr/>
        </p:nvSpPr>
        <p:spPr>
          <a:xfrm>
            <a:off x="548640" y="411480"/>
            <a:ext cx="64008" cy="502920"/>
          </a:xfrm>
          <a:prstGeom prst="rect">
            <a:avLst/>
          </a:prstGeom>
          <a:solidFill>
            <a:srgbClr val="D4A574"/>
          </a:solidFill>
        </p:spPr>
        <p:txBody>
          <a:bodyPr/>
          <a:p/>
        </p:txBody>
      </p:sp>
      <p:sp>
        <p:nvSpPr>
          <p:cNvPr id="68" name="Text 1"/>
          <p:cNvSpPr/>
          <p:nvPr/>
        </p:nvSpPr>
        <p:spPr>
          <a:xfrm>
            <a:off x="822960" y="365760"/>
            <a:ext cx="777240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代码实现 — 控制层源码解析</a:t>
            </a:r>
            <a:endParaRPr lang="en-US" sz="2800" dirty="0"/>
          </a:p>
        </p:txBody>
      </p:sp>
      <p:sp>
        <p:nvSpPr>
          <p:cNvPr id="69" name="Text 2"/>
          <p:cNvSpPr/>
          <p:nvPr/>
        </p:nvSpPr>
        <p:spPr>
          <a:xfrm>
            <a:off x="822960" y="105156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controllers.py — 请求处理流程</a:t>
            </a:r>
            <a:endParaRPr lang="en-US" sz="1600" dirty="0"/>
          </a:p>
        </p:txBody>
      </p:sp>
      <p:sp>
        <p:nvSpPr>
          <p:cNvPr id="70" name="Shape 3"/>
          <p:cNvSpPr/>
          <p:nvPr/>
        </p:nvSpPr>
        <p:spPr>
          <a:xfrm>
            <a:off x="548640" y="1463040"/>
            <a:ext cx="1828800" cy="457200"/>
          </a:xfrm>
          <a:prstGeom prst="rect">
            <a:avLst/>
          </a:prstGeom>
          <a:solidFill>
            <a:srgbClr val="1A1F36"/>
          </a:solidFill>
        </p:spPr>
        <p:txBody>
          <a:bodyPr/>
          <a:p/>
        </p:txBody>
      </p:sp>
      <p:sp>
        <p:nvSpPr>
          <p:cNvPr id="71" name="Text 4"/>
          <p:cNvSpPr/>
          <p:nvPr/>
        </p:nvSpPr>
        <p:spPr>
          <a:xfrm>
            <a:off x="548640" y="1463040"/>
            <a:ext cx="18288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5F0EB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handle_deposit</a:t>
            </a:r>
            <a:endParaRPr lang="en-US" sz="1100" dirty="0"/>
          </a:p>
        </p:txBody>
      </p:sp>
      <p:sp>
        <p:nvSpPr>
          <p:cNvPr id="72" name="Shape 5"/>
          <p:cNvSpPr/>
          <p:nvPr/>
        </p:nvSpPr>
        <p:spPr>
          <a:xfrm>
            <a:off x="2377440" y="1463040"/>
            <a:ext cx="6217920" cy="45720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73" name="Text 6"/>
          <p:cNvSpPr/>
          <p:nvPr/>
        </p:nvSpPr>
        <p:spPr>
          <a:xfrm>
            <a:off x="2560320" y="1463040"/>
            <a:ext cx="585216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收到金额字符串 → float 解析 → model.deposit → 成功切菜单 / 失败弹窗</a:t>
            </a:r>
            <a:endParaRPr lang="en-US" sz="1050" dirty="0"/>
          </a:p>
        </p:txBody>
      </p:sp>
      <p:sp>
        <p:nvSpPr>
          <p:cNvPr id="74" name="Shape 7"/>
          <p:cNvSpPr/>
          <p:nvPr/>
        </p:nvSpPr>
        <p:spPr>
          <a:xfrm>
            <a:off x="548640" y="1993392"/>
            <a:ext cx="1828800" cy="457200"/>
          </a:xfrm>
          <a:prstGeom prst="rect">
            <a:avLst/>
          </a:prstGeom>
          <a:solidFill>
            <a:srgbClr val="1A1F36"/>
          </a:solidFill>
        </p:spPr>
        <p:txBody>
          <a:bodyPr/>
          <a:p/>
        </p:txBody>
      </p:sp>
      <p:sp>
        <p:nvSpPr>
          <p:cNvPr id="75" name="Text 8"/>
          <p:cNvSpPr/>
          <p:nvPr/>
        </p:nvSpPr>
        <p:spPr>
          <a:xfrm>
            <a:off x="548640" y="1993392"/>
            <a:ext cx="18288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5F0EB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handle_withdraw</a:t>
            </a:r>
            <a:endParaRPr lang="en-US" sz="1100" dirty="0"/>
          </a:p>
        </p:txBody>
      </p:sp>
      <p:sp>
        <p:nvSpPr>
          <p:cNvPr id="76" name="Shape 9"/>
          <p:cNvSpPr/>
          <p:nvPr/>
        </p:nvSpPr>
        <p:spPr>
          <a:xfrm>
            <a:off x="2377440" y="1993392"/>
            <a:ext cx="6217920" cy="45720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77" name="Text 10"/>
          <p:cNvSpPr/>
          <p:nvPr/>
        </p:nvSpPr>
        <p:spPr>
          <a:xfrm>
            <a:off x="2560320" y="1993392"/>
            <a:ext cx="585216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收到金额字符串 → int 解析 → model.withdraw → 成功切菜单 / 失败弹窗</a:t>
            </a:r>
            <a:endParaRPr lang="en-US" sz="1050" dirty="0"/>
          </a:p>
        </p:txBody>
      </p:sp>
      <p:sp>
        <p:nvSpPr>
          <p:cNvPr id="78" name="Shape 11"/>
          <p:cNvSpPr/>
          <p:nvPr/>
        </p:nvSpPr>
        <p:spPr>
          <a:xfrm>
            <a:off x="548640" y="2523744"/>
            <a:ext cx="1828800" cy="457200"/>
          </a:xfrm>
          <a:prstGeom prst="rect">
            <a:avLst/>
          </a:prstGeom>
          <a:solidFill>
            <a:srgbClr val="1A1F36"/>
          </a:solidFill>
        </p:spPr>
        <p:txBody>
          <a:bodyPr/>
          <a:p/>
        </p:txBody>
      </p:sp>
      <p:sp>
        <p:nvSpPr>
          <p:cNvPr id="79" name="Text 12"/>
          <p:cNvSpPr/>
          <p:nvPr/>
        </p:nvSpPr>
        <p:spPr>
          <a:xfrm>
            <a:off x="548640" y="2523744"/>
            <a:ext cx="18288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5F0EB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handle_change_pwd</a:t>
            </a:r>
            <a:endParaRPr lang="en-US" sz="1100" dirty="0"/>
          </a:p>
        </p:txBody>
      </p:sp>
      <p:sp>
        <p:nvSpPr>
          <p:cNvPr id="80" name="Shape 13"/>
          <p:cNvSpPr/>
          <p:nvPr/>
        </p:nvSpPr>
        <p:spPr>
          <a:xfrm>
            <a:off x="2377440" y="2523744"/>
            <a:ext cx="6217920" cy="45720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81" name="Text 14"/>
          <p:cNvSpPr/>
          <p:nvPr/>
        </p:nvSpPr>
        <p:spPr>
          <a:xfrm>
            <a:off x="2560320" y="2523744"/>
            <a:ext cx="585216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收到 old/new/confirm → 格式预检 → model.change_password → 成功返回登录</a:t>
            </a:r>
            <a:endParaRPr lang="en-US" sz="1050" dirty="0"/>
          </a:p>
        </p:txBody>
      </p:sp>
      <p:sp>
        <p:nvSpPr>
          <p:cNvPr id="82" name="Shape 15"/>
          <p:cNvSpPr/>
          <p:nvPr/>
        </p:nvSpPr>
        <p:spPr>
          <a:xfrm>
            <a:off x="548640" y="3054096"/>
            <a:ext cx="1828800" cy="457200"/>
          </a:xfrm>
          <a:prstGeom prst="rect">
            <a:avLst/>
          </a:prstGeom>
          <a:solidFill>
            <a:srgbClr val="1A1F36"/>
          </a:solidFill>
        </p:spPr>
        <p:txBody>
          <a:bodyPr/>
          <a:p/>
        </p:txBody>
      </p:sp>
      <p:sp>
        <p:nvSpPr>
          <p:cNvPr id="83" name="Text 16"/>
          <p:cNvSpPr/>
          <p:nvPr/>
        </p:nvSpPr>
        <p:spPr>
          <a:xfrm>
            <a:off x="548640" y="3054096"/>
            <a:ext cx="18288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5F0EB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login</a:t>
            </a:r>
            <a:endParaRPr lang="en-US" sz="1100" dirty="0"/>
          </a:p>
        </p:txBody>
      </p:sp>
      <p:sp>
        <p:nvSpPr>
          <p:cNvPr id="84" name="Shape 17"/>
          <p:cNvSpPr/>
          <p:nvPr/>
        </p:nvSpPr>
        <p:spPr>
          <a:xfrm>
            <a:off x="2377440" y="3054096"/>
            <a:ext cx="6217920" cy="45720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85" name="Text 18"/>
          <p:cNvSpPr/>
          <p:nvPr/>
        </p:nvSpPr>
        <p:spPr>
          <a:xfrm>
            <a:off x="2560320" y="3054096"/>
            <a:ext cx="585216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字符串比对 → model.check_login → 成功显示菜单 / 失败提示错误</a:t>
            </a:r>
            <a:endParaRPr lang="en-US" sz="1050" dirty="0"/>
          </a:p>
        </p:txBody>
      </p:sp>
      <p:sp>
        <p:nvSpPr>
          <p:cNvPr id="86" name="Shape 19"/>
          <p:cNvSpPr/>
          <p:nvPr/>
        </p:nvSpPr>
        <p:spPr>
          <a:xfrm>
            <a:off x="548640" y="3584448"/>
            <a:ext cx="1828800" cy="457200"/>
          </a:xfrm>
          <a:prstGeom prst="rect">
            <a:avLst/>
          </a:prstGeom>
          <a:solidFill>
            <a:srgbClr val="1A1F36"/>
          </a:solidFill>
        </p:spPr>
        <p:txBody>
          <a:bodyPr/>
          <a:p/>
        </p:txBody>
      </p:sp>
      <p:sp>
        <p:nvSpPr>
          <p:cNvPr id="87" name="Text 20"/>
          <p:cNvSpPr/>
          <p:nvPr/>
        </p:nvSpPr>
        <p:spPr>
          <a:xfrm>
            <a:off x="548640" y="3584448"/>
            <a:ext cx="18288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5F0EB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show_balance</a:t>
            </a:r>
            <a:endParaRPr lang="en-US" sz="1100" dirty="0"/>
          </a:p>
        </p:txBody>
      </p:sp>
      <p:sp>
        <p:nvSpPr>
          <p:cNvPr id="88" name="Shape 21"/>
          <p:cNvSpPr/>
          <p:nvPr/>
        </p:nvSpPr>
        <p:spPr>
          <a:xfrm>
            <a:off x="2377440" y="3584448"/>
            <a:ext cx="6217920" cy="45720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89" name="Text 22"/>
          <p:cNvSpPr/>
          <p:nvPr/>
        </p:nvSpPr>
        <p:spPr>
          <a:xfrm>
            <a:off x="2560320" y="3584448"/>
            <a:ext cx="585216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调用 model.get_balance → 格式化 ¥xxx.xx → 显示余额界面</a:t>
            </a:r>
            <a:endParaRPr lang="en-US" sz="1050" dirty="0"/>
          </a:p>
        </p:txBody>
      </p:sp>
      <p:sp>
        <p:nvSpPr>
          <p:cNvPr id="90" name="Shape 23"/>
          <p:cNvSpPr/>
          <p:nvPr/>
        </p:nvSpPr>
        <p:spPr>
          <a:xfrm>
            <a:off x="548640" y="4114800"/>
            <a:ext cx="1828800" cy="457200"/>
          </a:xfrm>
          <a:prstGeom prst="rect">
            <a:avLst/>
          </a:prstGeom>
          <a:solidFill>
            <a:srgbClr val="1A1F36"/>
          </a:solidFill>
        </p:spPr>
        <p:txBody>
          <a:bodyPr/>
          <a:p/>
        </p:txBody>
      </p:sp>
      <p:sp>
        <p:nvSpPr>
          <p:cNvPr id="91" name="Text 24"/>
          <p:cNvSpPr/>
          <p:nvPr/>
        </p:nvSpPr>
        <p:spPr>
          <a:xfrm>
            <a:off x="548640" y="4114800"/>
            <a:ext cx="18288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5F0EB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logout</a:t>
            </a:r>
            <a:endParaRPr lang="en-US" sz="1100" dirty="0"/>
          </a:p>
        </p:txBody>
      </p:sp>
      <p:sp>
        <p:nvSpPr>
          <p:cNvPr id="92" name="Shape 25"/>
          <p:cNvSpPr/>
          <p:nvPr/>
        </p:nvSpPr>
        <p:spPr>
          <a:xfrm>
            <a:off x="2377440" y="4114800"/>
            <a:ext cx="6217920" cy="45720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93" name="Text 26"/>
          <p:cNvSpPr/>
          <p:nvPr/>
        </p:nvSpPr>
        <p:spPr>
          <a:xfrm>
            <a:off x="2560320" y="4114800"/>
            <a:ext cx="585216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清空输入框 → 重设数据 → switch_frame(LoginFrame)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C"/>
        </a:solidFill>
        <a:effectLst/>
      </p:bgPr>
    </p:bg>
    <p:spTree>
      <p:nvGrpSpPr>
        <p:cNvPr id="9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Shape 0"/>
          <p:cNvSpPr/>
          <p:nvPr/>
        </p:nvSpPr>
        <p:spPr>
          <a:xfrm>
            <a:off x="6858000" y="-1371600"/>
            <a:ext cx="3657600" cy="3657600"/>
          </a:xfrm>
          <a:prstGeom prst="ellipse">
            <a:avLst/>
          </a:prstGeom>
          <a:solidFill>
            <a:srgbClr val="D4A574">
              <a:alpha val="8000"/>
            </a:srgbClr>
          </a:solidFill>
        </p:spPr>
        <p:txBody>
          <a:bodyPr/>
          <a:p/>
        </p:txBody>
      </p:sp>
      <p:sp>
        <p:nvSpPr>
          <p:cNvPr id="96" name="Shape 1"/>
          <p:cNvSpPr/>
          <p:nvPr/>
        </p:nvSpPr>
        <p:spPr>
          <a:xfrm>
            <a:off x="7772400" y="2743200"/>
            <a:ext cx="2743200" cy="2743200"/>
          </a:xfrm>
          <a:prstGeom prst="ellipse">
            <a:avLst/>
          </a:prstGeom>
          <a:solidFill>
            <a:srgbClr val="D4A574">
              <a:alpha val="10000"/>
            </a:srgbClr>
          </a:solidFill>
        </p:spPr>
        <p:txBody>
          <a:bodyPr/>
          <a:p/>
        </p:txBody>
      </p:sp>
      <p:sp>
        <p:nvSpPr>
          <p:cNvPr id="97" name="Text 2"/>
          <p:cNvSpPr/>
          <p:nvPr/>
        </p:nvSpPr>
        <p:spPr>
          <a:xfrm>
            <a:off x="731520" y="914400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D4A574"/>
                </a:solidFill>
              </a:rPr>
              <a:t>✦</a:t>
            </a:r>
            <a:endParaRPr lang="en-US" sz="2400" dirty="0"/>
          </a:p>
        </p:txBody>
      </p:sp>
      <p:sp>
        <p:nvSpPr>
          <p:cNvPr id="98" name="Text 3"/>
          <p:cNvSpPr/>
          <p:nvPr/>
        </p:nvSpPr>
        <p:spPr>
          <a:xfrm>
            <a:off x="731520" y="1554480"/>
            <a:ext cx="7680960" cy="914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zh-CN" sz="3600" b="1" dirty="0">
                <a:solidFill>
                  <a:srgbClr val="D4A574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Tkinter </a:t>
            </a:r>
            <a:r>
              <a:rPr lang="zh-CN" altLang="en-US" sz="3600" b="1" dirty="0">
                <a:solidFill>
                  <a:srgbClr val="D4A574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视图层开发与</a:t>
            </a:r>
            <a:r>
              <a:rPr lang="en-US" altLang="zh-CN" sz="3600" b="1" dirty="0">
                <a:solidFill>
                  <a:srgbClr val="D4A574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 UI </a:t>
            </a:r>
            <a:r>
              <a:rPr lang="zh-CN" altLang="en-US" sz="3600" b="1" dirty="0">
                <a:solidFill>
                  <a:srgbClr val="D4A574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设计</a:t>
            </a:r>
            <a:endParaRPr lang="zh-CN" altLang="en-US" sz="3600" b="1" dirty="0">
              <a:solidFill>
                <a:srgbClr val="D4A574"/>
              </a:solidFill>
              <a:latin typeface="Georgia" panose="02040502050405020303" pitchFamily="34" charset="0"/>
              <a:ea typeface="Georgia" panose="02040502050405020303" pitchFamily="34" charset="-122"/>
              <a:cs typeface="Georgia" panose="02040502050405020303" pitchFamily="34" charset="-120"/>
            </a:endParaRPr>
          </a:p>
          <a:p>
            <a:pPr marL="0" indent="0">
              <a:buNone/>
            </a:pPr>
            <a:endParaRPr lang="zh-CN" altLang="en-US" sz="3600" b="1" dirty="0">
              <a:solidFill>
                <a:srgbClr val="D4A574"/>
              </a:solidFill>
              <a:latin typeface="Georgia" panose="02040502050405020303" pitchFamily="34" charset="0"/>
              <a:ea typeface="Georgia" panose="02040502050405020303" pitchFamily="34" charset="-122"/>
              <a:cs typeface="Georgia" panose="02040502050405020303" pitchFamily="34" charset="-12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B"/>
        </a:solidFill>
        <a:effectLst/>
      </p:bgPr>
    </p:bg>
    <p:spTree>
      <p:nvGrpSpPr>
        <p:cNvPr id="9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hape 0"/>
          <p:cNvSpPr/>
          <p:nvPr/>
        </p:nvSpPr>
        <p:spPr>
          <a:xfrm>
            <a:off x="548640" y="411480"/>
            <a:ext cx="64008" cy="502920"/>
          </a:xfrm>
          <a:prstGeom prst="rect">
            <a:avLst/>
          </a:prstGeom>
          <a:solidFill>
            <a:srgbClr val="D4A574"/>
          </a:solidFill>
        </p:spPr>
        <p:txBody>
          <a:bodyPr/>
          <a:p/>
        </p:txBody>
      </p:sp>
      <p:sp>
        <p:nvSpPr>
          <p:cNvPr id="101" name="Text 1"/>
          <p:cNvSpPr/>
          <p:nvPr/>
        </p:nvSpPr>
        <p:spPr>
          <a:xfrm>
            <a:off x="822960" y="365760"/>
            <a:ext cx="777240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视图层 View — Tkinter 桌面版</a:t>
            </a:r>
            <a:endParaRPr lang="en-US" sz="2800" dirty="0"/>
          </a:p>
        </p:txBody>
      </p:sp>
      <p:sp>
        <p:nvSpPr>
          <p:cNvPr id="102" name="Shape 2"/>
          <p:cNvSpPr/>
          <p:nvPr/>
        </p:nvSpPr>
        <p:spPr>
          <a:xfrm>
            <a:off x="548640" y="1082040"/>
            <a:ext cx="8046720" cy="91440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03" name="Shape 3"/>
          <p:cNvSpPr/>
          <p:nvPr/>
        </p:nvSpPr>
        <p:spPr>
          <a:xfrm>
            <a:off x="548640" y="1082040"/>
            <a:ext cx="54864" cy="914400"/>
          </a:xfrm>
          <a:prstGeom prst="rect">
            <a:avLst/>
          </a:prstGeom>
          <a:solidFill>
            <a:srgbClr val="10B981"/>
          </a:solidFill>
        </p:spPr>
        <p:txBody>
          <a:bodyPr/>
          <a:p/>
        </p:txBody>
      </p:sp>
      <p:sp>
        <p:nvSpPr>
          <p:cNvPr id="104" name="Text 4"/>
          <p:cNvSpPr/>
          <p:nvPr/>
        </p:nvSpPr>
        <p:spPr>
          <a:xfrm>
            <a:off x="777240" y="1173480"/>
            <a:ext cx="758952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ATMView — 主窗口 (tk.Tk)   |   尺寸 450×400   |   switch_frame() 统一切换</a:t>
            </a:r>
            <a:endParaRPr lang="en-US" sz="1200" dirty="0"/>
          </a:p>
        </p:txBody>
      </p:sp>
      <p:sp>
        <p:nvSpPr>
          <p:cNvPr id="105" name="Shape 5"/>
          <p:cNvSpPr/>
          <p:nvPr/>
        </p:nvSpPr>
        <p:spPr>
          <a:xfrm>
            <a:off x="548640" y="2075180"/>
            <a:ext cx="8046720" cy="438912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06" name="Shape 6"/>
          <p:cNvSpPr/>
          <p:nvPr/>
        </p:nvSpPr>
        <p:spPr>
          <a:xfrm>
            <a:off x="548640" y="2075180"/>
            <a:ext cx="54864" cy="438912"/>
          </a:xfrm>
          <a:prstGeom prst="rect">
            <a:avLst/>
          </a:prstGeom>
          <a:solidFill>
            <a:srgbClr val="1A73E8"/>
          </a:solidFill>
        </p:spPr>
        <p:txBody>
          <a:bodyPr/>
          <a:p/>
        </p:txBody>
      </p:sp>
      <p:sp>
        <p:nvSpPr>
          <p:cNvPr id="107" name="Text 7"/>
          <p:cNvSpPr/>
          <p:nvPr/>
        </p:nvSpPr>
        <p:spPr>
          <a:xfrm>
            <a:off x="777240" y="2075180"/>
            <a:ext cx="137160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73E8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LoginFrame</a:t>
            </a:r>
            <a:endParaRPr lang="en-US" sz="1100" dirty="0"/>
          </a:p>
        </p:txBody>
      </p:sp>
      <p:sp>
        <p:nvSpPr>
          <p:cNvPr id="108" name="Text 8"/>
          <p:cNvSpPr/>
          <p:nvPr/>
        </p:nvSpPr>
        <p:spPr>
          <a:xfrm>
            <a:off x="2194560" y="2075180"/>
            <a:ext cx="109728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F3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登录界面</a:t>
            </a:r>
            <a:endParaRPr lang="en-US" sz="1100" dirty="0"/>
          </a:p>
        </p:txBody>
      </p:sp>
      <p:sp>
        <p:nvSpPr>
          <p:cNvPr id="109" name="Text 9"/>
          <p:cNvSpPr/>
          <p:nvPr/>
        </p:nvSpPr>
        <p:spPr>
          <a:xfrm>
            <a:off x="3383280" y="2075180"/>
            <a:ext cx="502920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账号输入 + 密码输入 + 登录按钮</a:t>
            </a:r>
            <a:endParaRPr lang="en-US" sz="1100" dirty="0"/>
          </a:p>
        </p:txBody>
      </p:sp>
      <p:sp>
        <p:nvSpPr>
          <p:cNvPr id="110" name="Shape 10"/>
          <p:cNvSpPr/>
          <p:nvPr/>
        </p:nvSpPr>
        <p:spPr>
          <a:xfrm>
            <a:off x="548640" y="2578100"/>
            <a:ext cx="8046720" cy="438912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11" name="Shape 11"/>
          <p:cNvSpPr/>
          <p:nvPr/>
        </p:nvSpPr>
        <p:spPr>
          <a:xfrm>
            <a:off x="548640" y="2578100"/>
            <a:ext cx="54864" cy="438912"/>
          </a:xfrm>
          <a:prstGeom prst="rect">
            <a:avLst/>
          </a:prstGeom>
          <a:solidFill>
            <a:srgbClr val="D4A574"/>
          </a:solidFill>
        </p:spPr>
        <p:txBody>
          <a:bodyPr/>
          <a:p/>
        </p:txBody>
      </p:sp>
      <p:sp>
        <p:nvSpPr>
          <p:cNvPr id="112" name="Text 12"/>
          <p:cNvSpPr/>
          <p:nvPr/>
        </p:nvSpPr>
        <p:spPr>
          <a:xfrm>
            <a:off x="777240" y="2578100"/>
            <a:ext cx="137160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4A574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MenuFrame</a:t>
            </a:r>
            <a:endParaRPr lang="en-US" sz="1100" dirty="0"/>
          </a:p>
        </p:txBody>
      </p:sp>
      <p:sp>
        <p:nvSpPr>
          <p:cNvPr id="113" name="Text 13"/>
          <p:cNvSpPr/>
          <p:nvPr/>
        </p:nvSpPr>
        <p:spPr>
          <a:xfrm>
            <a:off x="2194560" y="2578100"/>
            <a:ext cx="109728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F3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主菜单</a:t>
            </a:r>
            <a:endParaRPr lang="en-US" sz="1100" dirty="0"/>
          </a:p>
        </p:txBody>
      </p:sp>
      <p:sp>
        <p:nvSpPr>
          <p:cNvPr id="114" name="Text 14"/>
          <p:cNvSpPr/>
          <p:nvPr/>
        </p:nvSpPr>
        <p:spPr>
          <a:xfrm>
            <a:off x="3383280" y="2578100"/>
            <a:ext cx="502920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 个功能按钮纵向排列</a:t>
            </a:r>
            <a:endParaRPr lang="en-US" sz="1100" dirty="0"/>
          </a:p>
        </p:txBody>
      </p:sp>
      <p:sp>
        <p:nvSpPr>
          <p:cNvPr id="115" name="Shape 15"/>
          <p:cNvSpPr/>
          <p:nvPr/>
        </p:nvSpPr>
        <p:spPr>
          <a:xfrm>
            <a:off x="548640" y="3081020"/>
            <a:ext cx="8046720" cy="438912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16" name="Shape 16"/>
          <p:cNvSpPr/>
          <p:nvPr/>
        </p:nvSpPr>
        <p:spPr>
          <a:xfrm>
            <a:off x="548640" y="3081020"/>
            <a:ext cx="54864" cy="438912"/>
          </a:xfrm>
          <a:prstGeom prst="rect">
            <a:avLst/>
          </a:prstGeom>
          <a:solidFill>
            <a:srgbClr val="10B981"/>
          </a:solidFill>
        </p:spPr>
        <p:txBody>
          <a:bodyPr/>
          <a:p/>
        </p:txBody>
      </p:sp>
      <p:sp>
        <p:nvSpPr>
          <p:cNvPr id="117" name="Text 17"/>
          <p:cNvSpPr/>
          <p:nvPr/>
        </p:nvSpPr>
        <p:spPr>
          <a:xfrm>
            <a:off x="777240" y="3081020"/>
            <a:ext cx="137160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0B981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BalanceFrame</a:t>
            </a:r>
            <a:endParaRPr lang="en-US" sz="1100" dirty="0"/>
          </a:p>
        </p:txBody>
      </p:sp>
      <p:sp>
        <p:nvSpPr>
          <p:cNvPr id="118" name="Text 18"/>
          <p:cNvSpPr/>
          <p:nvPr/>
        </p:nvSpPr>
        <p:spPr>
          <a:xfrm>
            <a:off x="2194560" y="3081020"/>
            <a:ext cx="109728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F3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余额查询</a:t>
            </a:r>
            <a:endParaRPr lang="en-US" sz="1100" dirty="0"/>
          </a:p>
        </p:txBody>
      </p:sp>
      <p:sp>
        <p:nvSpPr>
          <p:cNvPr id="119" name="Text 19"/>
          <p:cNvSpPr/>
          <p:nvPr/>
        </p:nvSpPr>
        <p:spPr>
          <a:xfrm>
            <a:off x="3383280" y="3081020"/>
            <a:ext cx="502920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大字体余额 + 返回按钮</a:t>
            </a:r>
            <a:endParaRPr lang="en-US" sz="1100" dirty="0"/>
          </a:p>
        </p:txBody>
      </p:sp>
      <p:sp>
        <p:nvSpPr>
          <p:cNvPr id="120" name="Shape 20"/>
          <p:cNvSpPr/>
          <p:nvPr/>
        </p:nvSpPr>
        <p:spPr>
          <a:xfrm>
            <a:off x="548640" y="3583940"/>
            <a:ext cx="8046720" cy="438912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21" name="Shape 21"/>
          <p:cNvSpPr/>
          <p:nvPr/>
        </p:nvSpPr>
        <p:spPr>
          <a:xfrm>
            <a:off x="548640" y="3583940"/>
            <a:ext cx="54864" cy="438912"/>
          </a:xfrm>
          <a:prstGeom prst="rect">
            <a:avLst/>
          </a:prstGeom>
          <a:solidFill>
            <a:srgbClr val="1A1F36"/>
          </a:solidFill>
        </p:spPr>
        <p:txBody>
          <a:bodyPr/>
          <a:p/>
        </p:txBody>
      </p:sp>
      <p:sp>
        <p:nvSpPr>
          <p:cNvPr id="122" name="Text 22"/>
          <p:cNvSpPr/>
          <p:nvPr/>
        </p:nvSpPr>
        <p:spPr>
          <a:xfrm>
            <a:off x="777240" y="3583940"/>
            <a:ext cx="137160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F36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ActionFrame</a:t>
            </a:r>
            <a:endParaRPr lang="en-US" sz="1100" dirty="0"/>
          </a:p>
        </p:txBody>
      </p:sp>
      <p:sp>
        <p:nvSpPr>
          <p:cNvPr id="123" name="Text 23"/>
          <p:cNvSpPr/>
          <p:nvPr/>
        </p:nvSpPr>
        <p:spPr>
          <a:xfrm>
            <a:off x="2194560" y="3583940"/>
            <a:ext cx="109728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F3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存/取款</a:t>
            </a:r>
            <a:endParaRPr lang="en-US" sz="1100" dirty="0"/>
          </a:p>
        </p:txBody>
      </p:sp>
      <p:sp>
        <p:nvSpPr>
          <p:cNvPr id="124" name="Text 24"/>
          <p:cNvSpPr/>
          <p:nvPr/>
        </p:nvSpPr>
        <p:spPr>
          <a:xfrm>
            <a:off x="3383280" y="3583940"/>
            <a:ext cx="502920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金额输入框 + 提交/返回</a:t>
            </a:r>
            <a:endParaRPr lang="en-US" sz="1100" dirty="0"/>
          </a:p>
        </p:txBody>
      </p:sp>
      <p:sp>
        <p:nvSpPr>
          <p:cNvPr id="125" name="Shape 25"/>
          <p:cNvSpPr/>
          <p:nvPr/>
        </p:nvSpPr>
        <p:spPr>
          <a:xfrm>
            <a:off x="548640" y="4086860"/>
            <a:ext cx="8046720" cy="438912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26" name="Shape 26"/>
          <p:cNvSpPr/>
          <p:nvPr/>
        </p:nvSpPr>
        <p:spPr>
          <a:xfrm>
            <a:off x="548640" y="4086860"/>
            <a:ext cx="54864" cy="438912"/>
          </a:xfrm>
          <a:prstGeom prst="rect">
            <a:avLst/>
          </a:prstGeom>
          <a:solidFill>
            <a:srgbClr val="EF4444"/>
          </a:solidFill>
        </p:spPr>
        <p:txBody>
          <a:bodyPr/>
          <a:p/>
        </p:txBody>
      </p:sp>
      <p:sp>
        <p:nvSpPr>
          <p:cNvPr id="127" name="Text 27"/>
          <p:cNvSpPr/>
          <p:nvPr/>
        </p:nvSpPr>
        <p:spPr>
          <a:xfrm>
            <a:off x="777240" y="4086860"/>
            <a:ext cx="137160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F4444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ChangePwdFrame</a:t>
            </a:r>
            <a:endParaRPr lang="en-US" sz="1100" dirty="0"/>
          </a:p>
        </p:txBody>
      </p:sp>
      <p:sp>
        <p:nvSpPr>
          <p:cNvPr id="128" name="Text 28"/>
          <p:cNvSpPr/>
          <p:nvPr/>
        </p:nvSpPr>
        <p:spPr>
          <a:xfrm>
            <a:off x="2194560" y="4086860"/>
            <a:ext cx="109728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F3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修改密码</a:t>
            </a:r>
            <a:endParaRPr lang="en-US" sz="1100" dirty="0"/>
          </a:p>
        </p:txBody>
      </p:sp>
      <p:sp>
        <p:nvSpPr>
          <p:cNvPr id="129" name="Text 29"/>
          <p:cNvSpPr/>
          <p:nvPr/>
        </p:nvSpPr>
        <p:spPr>
          <a:xfrm>
            <a:off x="3383280" y="4086860"/>
            <a:ext cx="502920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三个密码输入框 + 确认/返回</a:t>
            </a:r>
            <a:endParaRPr lang="en-US" sz="1100" dirty="0"/>
          </a:p>
        </p:txBody>
      </p:sp>
      <p:sp>
        <p:nvSpPr>
          <p:cNvPr id="130" name="Shape 30"/>
          <p:cNvSpPr/>
          <p:nvPr/>
        </p:nvSpPr>
        <p:spPr>
          <a:xfrm>
            <a:off x="0" y="4572000"/>
            <a:ext cx="9144000" cy="548640"/>
          </a:xfrm>
          <a:prstGeom prst="rect">
            <a:avLst/>
          </a:prstGeom>
          <a:solidFill>
            <a:srgbClr val="1A1F36"/>
          </a:solidFill>
        </p:spPr>
        <p:txBody>
          <a:bodyPr/>
          <a:p/>
        </p:txBody>
      </p:sp>
      <p:sp>
        <p:nvSpPr>
          <p:cNvPr id="131" name="Text 31"/>
          <p:cNvSpPr/>
          <p:nvPr/>
        </p:nvSpPr>
        <p:spPr>
          <a:xfrm>
            <a:off x="457200" y="4617720"/>
            <a:ext cx="82296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5F0E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views.py  —  ATMView 继承 tk.Tk，每个界面封装为独立 Frame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B"/>
        </a:solidFill>
        <a:effectLst/>
      </p:bgPr>
    </p:bg>
    <p:spTree>
      <p:nvGrpSpPr>
        <p:cNvPr id="13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Shape 0"/>
          <p:cNvSpPr/>
          <p:nvPr/>
        </p:nvSpPr>
        <p:spPr>
          <a:xfrm>
            <a:off x="548640" y="411480"/>
            <a:ext cx="64008" cy="502920"/>
          </a:xfrm>
          <a:prstGeom prst="rect">
            <a:avLst/>
          </a:prstGeom>
          <a:solidFill>
            <a:srgbClr val="D4A574"/>
          </a:solidFill>
        </p:spPr>
        <p:txBody>
          <a:bodyPr/>
          <a:p/>
        </p:txBody>
      </p:sp>
      <p:sp>
        <p:nvSpPr>
          <p:cNvPr id="134" name="Text 1"/>
          <p:cNvSpPr/>
          <p:nvPr/>
        </p:nvSpPr>
        <p:spPr>
          <a:xfrm>
            <a:off x="822960" y="365760"/>
            <a:ext cx="777240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视图层 View — Web 前端版</a:t>
            </a:r>
            <a:endParaRPr lang="en-US" sz="2800" dirty="0"/>
          </a:p>
        </p:txBody>
      </p:sp>
      <p:sp>
        <p:nvSpPr>
          <p:cNvPr id="135" name="Shape 2"/>
          <p:cNvSpPr/>
          <p:nvPr/>
        </p:nvSpPr>
        <p:spPr>
          <a:xfrm>
            <a:off x="548640" y="1097280"/>
            <a:ext cx="8046720" cy="82296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36" name="Shape 3"/>
          <p:cNvSpPr/>
          <p:nvPr/>
        </p:nvSpPr>
        <p:spPr>
          <a:xfrm>
            <a:off x="548640" y="1097280"/>
            <a:ext cx="54864" cy="822960"/>
          </a:xfrm>
          <a:prstGeom prst="rect">
            <a:avLst/>
          </a:prstGeom>
          <a:solidFill>
            <a:srgbClr val="D4A574"/>
          </a:solidFill>
        </p:spPr>
        <p:txBody>
          <a:bodyPr/>
          <a:p/>
        </p:txBody>
      </p:sp>
      <p:sp>
        <p:nvSpPr>
          <p:cNvPr id="137" name="Text 4"/>
          <p:cNvSpPr/>
          <p:nvPr/>
        </p:nvSpPr>
        <p:spPr>
          <a:xfrm>
            <a:off x="777240" y="1234440"/>
            <a:ext cx="758952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F36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index.html  —  原生 HTML + CSS + JavaScript  |  零框架依赖  |  单文件部署</a:t>
            </a:r>
            <a:endParaRPr lang="en-US" sz="1200" dirty="0"/>
          </a:p>
        </p:txBody>
      </p:sp>
      <p:sp>
        <p:nvSpPr>
          <p:cNvPr id="138" name="Shape 5"/>
          <p:cNvSpPr/>
          <p:nvPr/>
        </p:nvSpPr>
        <p:spPr>
          <a:xfrm>
            <a:off x="548640" y="2148840"/>
            <a:ext cx="8046720" cy="384048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39" name="Shape 6"/>
          <p:cNvSpPr/>
          <p:nvPr/>
        </p:nvSpPr>
        <p:spPr>
          <a:xfrm>
            <a:off x="548640" y="2148840"/>
            <a:ext cx="54864" cy="384048"/>
          </a:xfrm>
          <a:prstGeom prst="rect">
            <a:avLst/>
          </a:prstGeom>
          <a:solidFill>
            <a:srgbClr val="D4A574"/>
          </a:solidFill>
        </p:spPr>
        <p:txBody>
          <a:bodyPr/>
          <a:p/>
        </p:txBody>
      </p:sp>
      <p:sp>
        <p:nvSpPr>
          <p:cNvPr id="140" name="Text 7"/>
          <p:cNvSpPr/>
          <p:nvPr/>
        </p:nvSpPr>
        <p:spPr>
          <a:xfrm>
            <a:off x="777240" y="2148840"/>
            <a:ext cx="146304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4A574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screen-login</a:t>
            </a:r>
            <a:endParaRPr lang="en-US" sz="950" dirty="0"/>
          </a:p>
        </p:txBody>
      </p:sp>
      <p:sp>
        <p:nvSpPr>
          <p:cNvPr id="141" name="Text 8"/>
          <p:cNvSpPr/>
          <p:nvPr/>
        </p:nvSpPr>
        <p:spPr>
          <a:xfrm>
            <a:off x="2286000" y="2148840"/>
            <a:ext cx="91440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F3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登录界面</a:t>
            </a:r>
            <a:endParaRPr lang="en-US" sz="1100" dirty="0"/>
          </a:p>
        </p:txBody>
      </p:sp>
      <p:sp>
        <p:nvSpPr>
          <p:cNvPr id="142" name="Text 9"/>
          <p:cNvSpPr/>
          <p:nvPr/>
        </p:nvSpPr>
        <p:spPr>
          <a:xfrm>
            <a:off x="3291840" y="2148840"/>
            <a:ext cx="512064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AETHER 品牌标识 + 毛玻璃卡片 + 默认账号填充</a:t>
            </a:r>
            <a:endParaRPr lang="en-US" sz="1050" dirty="0"/>
          </a:p>
        </p:txBody>
      </p:sp>
      <p:sp>
        <p:nvSpPr>
          <p:cNvPr id="143" name="Shape 10"/>
          <p:cNvSpPr/>
          <p:nvPr/>
        </p:nvSpPr>
        <p:spPr>
          <a:xfrm>
            <a:off x="548640" y="2587752"/>
            <a:ext cx="8046720" cy="384048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44" name="Shape 11"/>
          <p:cNvSpPr/>
          <p:nvPr/>
        </p:nvSpPr>
        <p:spPr>
          <a:xfrm>
            <a:off x="548640" y="2587752"/>
            <a:ext cx="54864" cy="384048"/>
          </a:xfrm>
          <a:prstGeom prst="rect">
            <a:avLst/>
          </a:prstGeom>
          <a:solidFill>
            <a:srgbClr val="D4A574"/>
          </a:solidFill>
        </p:spPr>
        <p:txBody>
          <a:bodyPr/>
          <a:p/>
        </p:txBody>
      </p:sp>
      <p:sp>
        <p:nvSpPr>
          <p:cNvPr id="145" name="Text 12"/>
          <p:cNvSpPr/>
          <p:nvPr/>
        </p:nvSpPr>
        <p:spPr>
          <a:xfrm>
            <a:off x="777240" y="2587752"/>
            <a:ext cx="146304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4A574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screen-menu</a:t>
            </a:r>
            <a:endParaRPr lang="en-US" sz="950" dirty="0"/>
          </a:p>
        </p:txBody>
      </p:sp>
      <p:sp>
        <p:nvSpPr>
          <p:cNvPr id="146" name="Text 13"/>
          <p:cNvSpPr/>
          <p:nvPr/>
        </p:nvSpPr>
        <p:spPr>
          <a:xfrm>
            <a:off x="2286000" y="2587752"/>
            <a:ext cx="91440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F3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主菜单</a:t>
            </a:r>
            <a:endParaRPr lang="en-US" sz="1100" dirty="0"/>
          </a:p>
        </p:txBody>
      </p:sp>
      <p:sp>
        <p:nvSpPr>
          <p:cNvPr id="147" name="Text 14"/>
          <p:cNvSpPr/>
          <p:nvPr/>
        </p:nvSpPr>
        <p:spPr>
          <a:xfrm>
            <a:off x="3291840" y="2587752"/>
            <a:ext cx="512064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2×2 网格按钮布局 + 底部退出 + 欢迎词</a:t>
            </a:r>
            <a:endParaRPr lang="en-US" sz="1050" dirty="0"/>
          </a:p>
        </p:txBody>
      </p:sp>
      <p:sp>
        <p:nvSpPr>
          <p:cNvPr id="148" name="Shape 15"/>
          <p:cNvSpPr/>
          <p:nvPr/>
        </p:nvSpPr>
        <p:spPr>
          <a:xfrm>
            <a:off x="548640" y="3026664"/>
            <a:ext cx="8046720" cy="384048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49" name="Shape 16"/>
          <p:cNvSpPr/>
          <p:nvPr/>
        </p:nvSpPr>
        <p:spPr>
          <a:xfrm>
            <a:off x="548640" y="3026664"/>
            <a:ext cx="54864" cy="384048"/>
          </a:xfrm>
          <a:prstGeom prst="rect">
            <a:avLst/>
          </a:prstGeom>
          <a:solidFill>
            <a:srgbClr val="D4A574"/>
          </a:solidFill>
        </p:spPr>
        <p:txBody>
          <a:bodyPr/>
          <a:p/>
        </p:txBody>
      </p:sp>
      <p:sp>
        <p:nvSpPr>
          <p:cNvPr id="150" name="Text 17"/>
          <p:cNvSpPr/>
          <p:nvPr/>
        </p:nvSpPr>
        <p:spPr>
          <a:xfrm>
            <a:off x="777240" y="3026664"/>
            <a:ext cx="146304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4A574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screen-balance</a:t>
            </a:r>
            <a:endParaRPr lang="en-US" sz="950" dirty="0"/>
          </a:p>
        </p:txBody>
      </p:sp>
      <p:sp>
        <p:nvSpPr>
          <p:cNvPr id="151" name="Text 18"/>
          <p:cNvSpPr/>
          <p:nvPr/>
        </p:nvSpPr>
        <p:spPr>
          <a:xfrm>
            <a:off x="2286000" y="3026664"/>
            <a:ext cx="91440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F3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余额查询</a:t>
            </a:r>
            <a:endParaRPr lang="en-US" sz="1100" dirty="0"/>
          </a:p>
        </p:txBody>
      </p:sp>
      <p:sp>
        <p:nvSpPr>
          <p:cNvPr id="152" name="Text 19"/>
          <p:cNvSpPr/>
          <p:nvPr/>
        </p:nvSpPr>
        <p:spPr>
          <a:xfrm>
            <a:off x="3291840" y="3026664"/>
            <a:ext cx="512064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金色衬线大字余额 ¥ 0.00 + 装饰分隔线</a:t>
            </a:r>
            <a:endParaRPr lang="en-US" sz="1050" dirty="0"/>
          </a:p>
        </p:txBody>
      </p:sp>
      <p:sp>
        <p:nvSpPr>
          <p:cNvPr id="153" name="Shape 20"/>
          <p:cNvSpPr/>
          <p:nvPr/>
        </p:nvSpPr>
        <p:spPr>
          <a:xfrm>
            <a:off x="548640" y="3465576"/>
            <a:ext cx="8046720" cy="384048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54" name="Shape 21"/>
          <p:cNvSpPr/>
          <p:nvPr/>
        </p:nvSpPr>
        <p:spPr>
          <a:xfrm>
            <a:off x="548640" y="3465576"/>
            <a:ext cx="54864" cy="384048"/>
          </a:xfrm>
          <a:prstGeom prst="rect">
            <a:avLst/>
          </a:prstGeom>
          <a:solidFill>
            <a:srgbClr val="D4A574"/>
          </a:solidFill>
        </p:spPr>
        <p:txBody>
          <a:bodyPr/>
          <a:p/>
        </p:txBody>
      </p:sp>
      <p:sp>
        <p:nvSpPr>
          <p:cNvPr id="155" name="Text 22"/>
          <p:cNvSpPr/>
          <p:nvPr/>
        </p:nvSpPr>
        <p:spPr>
          <a:xfrm>
            <a:off x="777240" y="3465576"/>
            <a:ext cx="146304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4A574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screen-deposit</a:t>
            </a:r>
            <a:endParaRPr lang="en-US" sz="950" dirty="0"/>
          </a:p>
        </p:txBody>
      </p:sp>
      <p:sp>
        <p:nvSpPr>
          <p:cNvPr id="156" name="Text 23"/>
          <p:cNvSpPr/>
          <p:nvPr/>
        </p:nvSpPr>
        <p:spPr>
          <a:xfrm>
            <a:off x="2286000" y="3465576"/>
            <a:ext cx="91440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F3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存款业务</a:t>
            </a:r>
            <a:endParaRPr lang="en-US" sz="1100" dirty="0"/>
          </a:p>
        </p:txBody>
      </p:sp>
      <p:sp>
        <p:nvSpPr>
          <p:cNvPr id="157" name="Text 24"/>
          <p:cNvSpPr/>
          <p:nvPr/>
        </p:nvSpPr>
        <p:spPr>
          <a:xfrm>
            <a:off x="3291840" y="3465576"/>
            <a:ext cx="512064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数字输入 + 实时校验 + 成功/错误提示</a:t>
            </a:r>
            <a:endParaRPr lang="en-US" sz="1050" dirty="0"/>
          </a:p>
        </p:txBody>
      </p:sp>
      <p:sp>
        <p:nvSpPr>
          <p:cNvPr id="158" name="Shape 25"/>
          <p:cNvSpPr/>
          <p:nvPr/>
        </p:nvSpPr>
        <p:spPr>
          <a:xfrm>
            <a:off x="548640" y="3904488"/>
            <a:ext cx="8046720" cy="384048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59" name="Shape 26"/>
          <p:cNvSpPr/>
          <p:nvPr/>
        </p:nvSpPr>
        <p:spPr>
          <a:xfrm>
            <a:off x="548640" y="3904488"/>
            <a:ext cx="54864" cy="384048"/>
          </a:xfrm>
          <a:prstGeom prst="rect">
            <a:avLst/>
          </a:prstGeom>
          <a:solidFill>
            <a:srgbClr val="D4A574"/>
          </a:solidFill>
        </p:spPr>
        <p:txBody>
          <a:bodyPr/>
          <a:p/>
        </p:txBody>
      </p:sp>
      <p:sp>
        <p:nvSpPr>
          <p:cNvPr id="160" name="Text 27"/>
          <p:cNvSpPr/>
          <p:nvPr/>
        </p:nvSpPr>
        <p:spPr>
          <a:xfrm>
            <a:off x="777240" y="3904488"/>
            <a:ext cx="146304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4A574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screen-withdraw</a:t>
            </a:r>
            <a:endParaRPr lang="en-US" sz="950" dirty="0"/>
          </a:p>
        </p:txBody>
      </p:sp>
      <p:sp>
        <p:nvSpPr>
          <p:cNvPr id="161" name="Text 28"/>
          <p:cNvSpPr/>
          <p:nvPr/>
        </p:nvSpPr>
        <p:spPr>
          <a:xfrm>
            <a:off x="2286000" y="3904488"/>
            <a:ext cx="91440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F3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取款业务</a:t>
            </a:r>
            <a:endParaRPr lang="en-US" sz="1100" dirty="0"/>
          </a:p>
        </p:txBody>
      </p:sp>
      <p:sp>
        <p:nvSpPr>
          <p:cNvPr id="162" name="Text 29"/>
          <p:cNvSpPr/>
          <p:nvPr/>
        </p:nvSpPr>
        <p:spPr>
          <a:xfrm>
            <a:off x="3291840" y="3904488"/>
            <a:ext cx="512064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Enter 快捷提交 + 100 倍数提示 + 规则说明</a:t>
            </a:r>
            <a:endParaRPr lang="en-US" sz="1050" dirty="0"/>
          </a:p>
        </p:txBody>
      </p:sp>
      <p:sp>
        <p:nvSpPr>
          <p:cNvPr id="163" name="Shape 30"/>
          <p:cNvSpPr/>
          <p:nvPr/>
        </p:nvSpPr>
        <p:spPr>
          <a:xfrm>
            <a:off x="548640" y="4343400"/>
            <a:ext cx="8046720" cy="384048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64" name="Shape 31"/>
          <p:cNvSpPr/>
          <p:nvPr/>
        </p:nvSpPr>
        <p:spPr>
          <a:xfrm>
            <a:off x="548640" y="4343400"/>
            <a:ext cx="54864" cy="384048"/>
          </a:xfrm>
          <a:prstGeom prst="rect">
            <a:avLst/>
          </a:prstGeom>
          <a:solidFill>
            <a:srgbClr val="D4A574"/>
          </a:solidFill>
        </p:spPr>
        <p:txBody>
          <a:bodyPr/>
          <a:p/>
        </p:txBody>
      </p:sp>
      <p:sp>
        <p:nvSpPr>
          <p:cNvPr id="165" name="Text 32"/>
          <p:cNvSpPr/>
          <p:nvPr/>
        </p:nvSpPr>
        <p:spPr>
          <a:xfrm>
            <a:off x="777240" y="4343400"/>
            <a:ext cx="146304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4A574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screen-changepwd</a:t>
            </a:r>
            <a:endParaRPr lang="en-US" sz="950" dirty="0"/>
          </a:p>
        </p:txBody>
      </p:sp>
      <p:sp>
        <p:nvSpPr>
          <p:cNvPr id="166" name="Text 33"/>
          <p:cNvSpPr/>
          <p:nvPr/>
        </p:nvSpPr>
        <p:spPr>
          <a:xfrm>
            <a:off x="2286000" y="4343400"/>
            <a:ext cx="91440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F3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修改密码</a:t>
            </a:r>
            <a:endParaRPr lang="en-US" sz="1100" dirty="0"/>
          </a:p>
        </p:txBody>
      </p:sp>
      <p:sp>
        <p:nvSpPr>
          <p:cNvPr id="167" name="Text 34"/>
          <p:cNvSpPr/>
          <p:nvPr/>
        </p:nvSpPr>
        <p:spPr>
          <a:xfrm>
            <a:off x="3291840" y="4343400"/>
            <a:ext cx="512064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三段密码表单 + 全新安全中心样式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6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Shape 0"/>
          <p:cNvSpPr/>
          <p:nvPr/>
        </p:nvSpPr>
        <p:spPr>
          <a:xfrm>
            <a:off x="548640" y="411480"/>
            <a:ext cx="64008" cy="502920"/>
          </a:xfrm>
          <a:prstGeom prst="rect">
            <a:avLst/>
          </a:prstGeom>
          <a:solidFill>
            <a:srgbClr val="D4A574"/>
          </a:solidFill>
        </p:spPr>
        <p:txBody>
          <a:bodyPr/>
          <a:p/>
        </p:txBody>
      </p:sp>
      <p:sp>
        <p:nvSpPr>
          <p:cNvPr id="170" name="Text 1"/>
          <p:cNvSpPr/>
          <p:nvPr/>
        </p:nvSpPr>
        <p:spPr>
          <a:xfrm>
            <a:off x="822960" y="365760"/>
            <a:ext cx="777240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业务规则 — ATM 取款</a:t>
            </a:r>
            <a:endParaRPr lang="en-US" sz="2800" dirty="0"/>
          </a:p>
        </p:txBody>
      </p:sp>
      <p:sp>
        <p:nvSpPr>
          <p:cNvPr id="171" name="Shape 2"/>
          <p:cNvSpPr/>
          <p:nvPr/>
        </p:nvSpPr>
        <p:spPr>
          <a:xfrm>
            <a:off x="548640" y="1097280"/>
            <a:ext cx="8046720" cy="329184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72" name="Shape 3"/>
          <p:cNvSpPr/>
          <p:nvPr/>
        </p:nvSpPr>
        <p:spPr>
          <a:xfrm>
            <a:off x="548640" y="1097280"/>
            <a:ext cx="54864" cy="3291840"/>
          </a:xfrm>
          <a:prstGeom prst="rect">
            <a:avLst/>
          </a:prstGeom>
          <a:solidFill>
            <a:srgbClr val="EF4444"/>
          </a:solidFill>
        </p:spPr>
        <p:txBody>
          <a:bodyPr/>
          <a:p/>
        </p:txBody>
      </p:sp>
      <p:sp>
        <p:nvSpPr>
          <p:cNvPr id="173" name="Text 4"/>
          <p:cNvSpPr/>
          <p:nvPr/>
        </p:nvSpPr>
        <p:spPr>
          <a:xfrm>
            <a:off x="822960" y="1280160"/>
            <a:ext cx="73152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💳  ATM 取款规则</a:t>
            </a:r>
            <a:endParaRPr lang="en-US" sz="2200" dirty="0"/>
          </a:p>
        </p:txBody>
      </p:sp>
      <p:sp>
        <p:nvSpPr>
          <p:cNvPr id="174" name="Shape 5"/>
          <p:cNvSpPr/>
          <p:nvPr/>
        </p:nvSpPr>
        <p:spPr>
          <a:xfrm>
            <a:off x="914400" y="1920240"/>
            <a:ext cx="7498080" cy="457200"/>
          </a:xfrm>
          <a:prstGeom prst="rect">
            <a:avLst/>
          </a:prstGeom>
          <a:solidFill>
            <a:srgbClr val="FFF5F5"/>
          </a:solidFill>
        </p:spPr>
        <p:txBody>
          <a:bodyPr/>
          <a:p/>
        </p:txBody>
      </p:sp>
      <p:sp>
        <p:nvSpPr>
          <p:cNvPr id="175" name="Shape 6"/>
          <p:cNvSpPr/>
          <p:nvPr/>
        </p:nvSpPr>
        <p:spPr>
          <a:xfrm>
            <a:off x="914400" y="1920240"/>
            <a:ext cx="45720" cy="457200"/>
          </a:xfrm>
          <a:prstGeom prst="rect">
            <a:avLst/>
          </a:prstGeom>
          <a:solidFill>
            <a:srgbClr val="EF4444"/>
          </a:solidFill>
        </p:spPr>
        <p:txBody>
          <a:bodyPr/>
          <a:p/>
        </p:txBody>
      </p:sp>
      <p:sp>
        <p:nvSpPr>
          <p:cNvPr id="176" name="Text 7"/>
          <p:cNvSpPr/>
          <p:nvPr/>
        </p:nvSpPr>
        <p:spPr>
          <a:xfrm>
            <a:off x="1143000" y="1920240"/>
            <a:ext cx="201168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F444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100 的倍数</a:t>
            </a:r>
            <a:endParaRPr lang="en-US" sz="1300" dirty="0"/>
          </a:p>
        </p:txBody>
      </p:sp>
      <p:sp>
        <p:nvSpPr>
          <p:cNvPr id="177" name="Text 8"/>
          <p:cNvSpPr/>
          <p:nvPr/>
        </p:nvSpPr>
        <p:spPr>
          <a:xfrm>
            <a:off x="3200400" y="1920240"/>
            <a:ext cx="27432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每次取款金额必须是 100 的整数倍</a:t>
            </a:r>
            <a:endParaRPr lang="en-US" sz="1100" dirty="0"/>
          </a:p>
        </p:txBody>
      </p:sp>
      <p:sp>
        <p:nvSpPr>
          <p:cNvPr id="178" name="Text 9"/>
          <p:cNvSpPr/>
          <p:nvPr/>
        </p:nvSpPr>
        <p:spPr>
          <a:xfrm>
            <a:off x="6035040" y="1920240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例如：100、200、1000、5000</a:t>
            </a:r>
            <a:endParaRPr lang="en-US" sz="1000" dirty="0"/>
          </a:p>
        </p:txBody>
      </p:sp>
      <p:sp>
        <p:nvSpPr>
          <p:cNvPr id="179" name="Shape 10"/>
          <p:cNvSpPr/>
          <p:nvPr/>
        </p:nvSpPr>
        <p:spPr>
          <a:xfrm>
            <a:off x="914400" y="2450592"/>
            <a:ext cx="7498080" cy="457200"/>
          </a:xfrm>
          <a:prstGeom prst="rect">
            <a:avLst/>
          </a:prstGeom>
          <a:solidFill>
            <a:srgbClr val="FFF5F5"/>
          </a:solidFill>
        </p:spPr>
        <p:txBody>
          <a:bodyPr/>
          <a:p/>
        </p:txBody>
      </p:sp>
      <p:sp>
        <p:nvSpPr>
          <p:cNvPr id="180" name="Shape 11"/>
          <p:cNvSpPr/>
          <p:nvPr/>
        </p:nvSpPr>
        <p:spPr>
          <a:xfrm>
            <a:off x="914400" y="2450592"/>
            <a:ext cx="45720" cy="457200"/>
          </a:xfrm>
          <a:prstGeom prst="rect">
            <a:avLst/>
          </a:prstGeom>
          <a:solidFill>
            <a:srgbClr val="EF4444"/>
          </a:solidFill>
        </p:spPr>
        <p:txBody>
          <a:bodyPr/>
          <a:p/>
        </p:txBody>
      </p:sp>
      <p:sp>
        <p:nvSpPr>
          <p:cNvPr id="181" name="Text 12"/>
          <p:cNvSpPr/>
          <p:nvPr/>
        </p:nvSpPr>
        <p:spPr>
          <a:xfrm>
            <a:off x="1143000" y="2450592"/>
            <a:ext cx="201168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F444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单次上限 ¥5,000</a:t>
            </a:r>
            <a:endParaRPr lang="en-US" sz="1300" dirty="0"/>
          </a:p>
        </p:txBody>
      </p:sp>
      <p:sp>
        <p:nvSpPr>
          <p:cNvPr id="182" name="Text 13"/>
          <p:cNvSpPr/>
          <p:nvPr/>
        </p:nvSpPr>
        <p:spPr>
          <a:xfrm>
            <a:off x="3200400" y="2450592"/>
            <a:ext cx="27432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单笔取款不得超过 5000 元人民币</a:t>
            </a:r>
            <a:endParaRPr lang="en-US" sz="1100" dirty="0"/>
          </a:p>
        </p:txBody>
      </p:sp>
      <p:sp>
        <p:nvSpPr>
          <p:cNvPr id="183" name="Text 14"/>
          <p:cNvSpPr/>
          <p:nvPr/>
        </p:nvSpPr>
        <p:spPr>
          <a:xfrm>
            <a:off x="6035040" y="2450592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适应大多数 ATM 机的现金出钞限制</a:t>
            </a:r>
            <a:endParaRPr lang="en-US" sz="1000" dirty="0"/>
          </a:p>
        </p:txBody>
      </p:sp>
      <p:sp>
        <p:nvSpPr>
          <p:cNvPr id="184" name="Shape 15"/>
          <p:cNvSpPr/>
          <p:nvPr/>
        </p:nvSpPr>
        <p:spPr>
          <a:xfrm>
            <a:off x="914400" y="2980944"/>
            <a:ext cx="7498080" cy="457200"/>
          </a:xfrm>
          <a:prstGeom prst="rect">
            <a:avLst/>
          </a:prstGeom>
          <a:solidFill>
            <a:srgbClr val="FFF5F5"/>
          </a:solidFill>
        </p:spPr>
        <p:txBody>
          <a:bodyPr/>
          <a:p/>
        </p:txBody>
      </p:sp>
      <p:sp>
        <p:nvSpPr>
          <p:cNvPr id="185" name="Shape 16"/>
          <p:cNvSpPr/>
          <p:nvPr/>
        </p:nvSpPr>
        <p:spPr>
          <a:xfrm>
            <a:off x="914400" y="2980944"/>
            <a:ext cx="45720" cy="457200"/>
          </a:xfrm>
          <a:prstGeom prst="rect">
            <a:avLst/>
          </a:prstGeom>
          <a:solidFill>
            <a:srgbClr val="EF4444"/>
          </a:solidFill>
        </p:spPr>
        <p:txBody>
          <a:bodyPr/>
          <a:p/>
        </p:txBody>
      </p:sp>
      <p:sp>
        <p:nvSpPr>
          <p:cNvPr id="186" name="Text 17"/>
          <p:cNvSpPr/>
          <p:nvPr/>
        </p:nvSpPr>
        <p:spPr>
          <a:xfrm>
            <a:off x="1143000" y="2980944"/>
            <a:ext cx="201168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F444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不可透支</a:t>
            </a:r>
            <a:endParaRPr lang="en-US" sz="1300" dirty="0"/>
          </a:p>
        </p:txBody>
      </p:sp>
      <p:sp>
        <p:nvSpPr>
          <p:cNvPr id="187" name="Text 18"/>
          <p:cNvSpPr/>
          <p:nvPr/>
        </p:nvSpPr>
        <p:spPr>
          <a:xfrm>
            <a:off x="3200400" y="2980944"/>
            <a:ext cx="27432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取款金额不得超过当前账户余额</a:t>
            </a:r>
            <a:endParaRPr lang="en-US" sz="1100" dirty="0"/>
          </a:p>
        </p:txBody>
      </p:sp>
      <p:sp>
        <p:nvSpPr>
          <p:cNvPr id="188" name="Text 19"/>
          <p:cNvSpPr/>
          <p:nvPr/>
        </p:nvSpPr>
        <p:spPr>
          <a:xfrm>
            <a:off x="6035040" y="2980944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余额不足时提示错误，防止信用风险</a:t>
            </a:r>
            <a:endParaRPr lang="en-US" sz="1000" dirty="0"/>
          </a:p>
        </p:txBody>
      </p:sp>
      <p:sp>
        <p:nvSpPr>
          <p:cNvPr id="189" name="Shape 20"/>
          <p:cNvSpPr/>
          <p:nvPr/>
        </p:nvSpPr>
        <p:spPr>
          <a:xfrm>
            <a:off x="914400" y="3511296"/>
            <a:ext cx="7498080" cy="457200"/>
          </a:xfrm>
          <a:prstGeom prst="rect">
            <a:avLst/>
          </a:prstGeom>
          <a:solidFill>
            <a:srgbClr val="FFF5F5"/>
          </a:solidFill>
        </p:spPr>
        <p:txBody>
          <a:bodyPr/>
          <a:p/>
        </p:txBody>
      </p:sp>
      <p:sp>
        <p:nvSpPr>
          <p:cNvPr id="190" name="Shape 21"/>
          <p:cNvSpPr/>
          <p:nvPr/>
        </p:nvSpPr>
        <p:spPr>
          <a:xfrm>
            <a:off x="914400" y="3511296"/>
            <a:ext cx="45720" cy="457200"/>
          </a:xfrm>
          <a:prstGeom prst="rect">
            <a:avLst/>
          </a:prstGeom>
          <a:solidFill>
            <a:srgbClr val="EF4444"/>
          </a:solidFill>
        </p:spPr>
        <p:txBody>
          <a:bodyPr/>
          <a:p/>
        </p:txBody>
      </p:sp>
      <p:sp>
        <p:nvSpPr>
          <p:cNvPr id="191" name="Text 22"/>
          <p:cNvSpPr/>
          <p:nvPr/>
        </p:nvSpPr>
        <p:spPr>
          <a:xfrm>
            <a:off x="1143000" y="3511296"/>
            <a:ext cx="201168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F444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金额 &gt; 0</a:t>
            </a:r>
            <a:endParaRPr lang="en-US" sz="1300" dirty="0"/>
          </a:p>
        </p:txBody>
      </p:sp>
      <p:sp>
        <p:nvSpPr>
          <p:cNvPr id="192" name="Text 23"/>
          <p:cNvSpPr/>
          <p:nvPr/>
        </p:nvSpPr>
        <p:spPr>
          <a:xfrm>
            <a:off x="3200400" y="3511296"/>
            <a:ext cx="27432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取款金额必须为正数</a:t>
            </a:r>
            <a:endParaRPr lang="en-US" sz="1100" dirty="0"/>
          </a:p>
        </p:txBody>
      </p:sp>
      <p:sp>
        <p:nvSpPr>
          <p:cNvPr id="193" name="Text 24"/>
          <p:cNvSpPr/>
          <p:nvPr/>
        </p:nvSpPr>
        <p:spPr>
          <a:xfrm>
            <a:off x="6035040" y="3511296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负数或零直接拒绝</a:t>
            </a:r>
            <a:endParaRPr lang="en-US" sz="1000" dirty="0"/>
          </a:p>
        </p:txBody>
      </p:sp>
      <p:sp>
        <p:nvSpPr>
          <p:cNvPr id="194" name="Shape 25"/>
          <p:cNvSpPr/>
          <p:nvPr/>
        </p:nvSpPr>
        <p:spPr>
          <a:xfrm>
            <a:off x="0" y="4572000"/>
            <a:ext cx="9144000" cy="548640"/>
          </a:xfrm>
          <a:prstGeom prst="rect">
            <a:avLst/>
          </a:prstGeom>
          <a:solidFill>
            <a:srgbClr val="1A1F36"/>
          </a:solidFill>
        </p:spPr>
        <p:txBody>
          <a:bodyPr/>
          <a:p/>
        </p:txBody>
      </p:sp>
      <p:sp>
        <p:nvSpPr>
          <p:cNvPr id="195" name="Text 26"/>
          <p:cNvSpPr/>
          <p:nvPr/>
        </p:nvSpPr>
        <p:spPr>
          <a:xfrm>
            <a:off x="457200" y="4617720"/>
            <a:ext cx="82296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5F0E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校验在 Model 层实现：withdraw() — 4 项条件依次判断，任一不通过即拒绝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6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Shape 0"/>
          <p:cNvSpPr/>
          <p:nvPr/>
        </p:nvSpPr>
        <p:spPr>
          <a:xfrm>
            <a:off x="548640" y="411480"/>
            <a:ext cx="64008" cy="502920"/>
          </a:xfrm>
          <a:prstGeom prst="rect">
            <a:avLst/>
          </a:prstGeom>
          <a:solidFill>
            <a:srgbClr val="D4A574"/>
          </a:solidFill>
        </p:spPr>
        <p:txBody>
          <a:bodyPr/>
          <a:p/>
        </p:txBody>
      </p:sp>
      <p:sp>
        <p:nvSpPr>
          <p:cNvPr id="170" name="Text 1"/>
          <p:cNvSpPr/>
          <p:nvPr/>
        </p:nvSpPr>
        <p:spPr>
          <a:xfrm>
            <a:off x="822960" y="365760"/>
            <a:ext cx="777240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28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取款业务时序图</a:t>
            </a:r>
            <a:endParaRPr lang="en-US" sz="2800" dirty="0"/>
          </a:p>
        </p:txBody>
      </p:sp>
      <p:sp>
        <p:nvSpPr>
          <p:cNvPr id="171" name="Shape 2"/>
          <p:cNvSpPr/>
          <p:nvPr/>
        </p:nvSpPr>
        <p:spPr>
          <a:xfrm>
            <a:off x="548640" y="1097280"/>
            <a:ext cx="8046720" cy="329184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pic>
        <p:nvPicPr>
          <p:cNvPr id="12" name="图片 12" descr="changepwd_seq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23123" y="1097280"/>
            <a:ext cx="4533265" cy="309245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B"/>
        </a:solidFill>
        <a:effectLst/>
      </p:bgPr>
    </p:bg>
    <p:spTree>
      <p:nvGrpSpPr>
        <p:cNvPr id="19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Shape 0"/>
          <p:cNvSpPr/>
          <p:nvPr/>
        </p:nvSpPr>
        <p:spPr>
          <a:xfrm>
            <a:off x="548640" y="411480"/>
            <a:ext cx="64008" cy="502920"/>
          </a:xfrm>
          <a:prstGeom prst="rect">
            <a:avLst/>
          </a:prstGeom>
          <a:solidFill>
            <a:srgbClr val="D4A574"/>
          </a:solidFill>
        </p:spPr>
        <p:txBody>
          <a:bodyPr/>
          <a:p/>
        </p:txBody>
      </p:sp>
      <p:sp>
        <p:nvSpPr>
          <p:cNvPr id="198" name="Text 1"/>
          <p:cNvSpPr/>
          <p:nvPr/>
        </p:nvSpPr>
        <p:spPr>
          <a:xfrm>
            <a:off x="822960" y="365760"/>
            <a:ext cx="777240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业务规则 — 存款与修改密码</a:t>
            </a:r>
            <a:endParaRPr lang="en-US" sz="2800" dirty="0"/>
          </a:p>
        </p:txBody>
      </p:sp>
      <p:sp>
        <p:nvSpPr>
          <p:cNvPr id="199" name="Shape 2"/>
          <p:cNvSpPr/>
          <p:nvPr/>
        </p:nvSpPr>
        <p:spPr>
          <a:xfrm>
            <a:off x="365760" y="1097280"/>
            <a:ext cx="4023360" cy="320040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00" name="Shape 3"/>
          <p:cNvSpPr/>
          <p:nvPr/>
        </p:nvSpPr>
        <p:spPr>
          <a:xfrm>
            <a:off x="365760" y="1097280"/>
            <a:ext cx="54864" cy="3200400"/>
          </a:xfrm>
          <a:prstGeom prst="rect">
            <a:avLst/>
          </a:prstGeom>
          <a:solidFill>
            <a:srgbClr val="10B981"/>
          </a:solidFill>
        </p:spPr>
        <p:txBody>
          <a:bodyPr/>
          <a:p/>
        </p:txBody>
      </p:sp>
      <p:sp>
        <p:nvSpPr>
          <p:cNvPr id="201" name="Text 4"/>
          <p:cNvSpPr/>
          <p:nvPr/>
        </p:nvSpPr>
        <p:spPr>
          <a:xfrm>
            <a:off x="594360" y="1280160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💰  ATM 存款</a:t>
            </a:r>
            <a:endParaRPr lang="en-US" sz="1800" dirty="0"/>
          </a:p>
        </p:txBody>
      </p:sp>
      <p:sp>
        <p:nvSpPr>
          <p:cNvPr id="202" name="Text 5"/>
          <p:cNvSpPr/>
          <p:nvPr/>
        </p:nvSpPr>
        <p:spPr>
          <a:xfrm>
            <a:off x="594360" y="173736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规则简单明了：</a:t>
            </a:r>
            <a:endParaRPr lang="en-US" sz="1200" dirty="0"/>
          </a:p>
        </p:txBody>
      </p:sp>
      <p:sp>
        <p:nvSpPr>
          <p:cNvPr id="203" name="Text 6"/>
          <p:cNvSpPr/>
          <p:nvPr/>
        </p:nvSpPr>
        <p:spPr>
          <a:xfrm>
            <a:off x="594360" y="2103120"/>
            <a:ext cx="34747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金额必须大于 0（不可为负数或零）</a:t>
            </a:r>
            <a:endParaRPr lang="en-US" sz="1200" dirty="0"/>
          </a:p>
        </p:txBody>
      </p:sp>
      <p:sp>
        <p:nvSpPr>
          <p:cNvPr id="204" name="Text 7"/>
          <p:cNvSpPr/>
          <p:nvPr/>
        </p:nvSpPr>
        <p:spPr>
          <a:xfrm>
            <a:off x="594360" y="2468880"/>
            <a:ext cx="34747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无存款金额上限限制</a:t>
            </a:r>
            <a:endParaRPr lang="en-US" sz="1200" dirty="0"/>
          </a:p>
        </p:txBody>
      </p:sp>
      <p:sp>
        <p:nvSpPr>
          <p:cNvPr id="205" name="Text 8"/>
          <p:cNvSpPr/>
          <p:nvPr/>
        </p:nvSpPr>
        <p:spPr>
          <a:xfrm>
            <a:off x="594360" y="2834640"/>
            <a:ext cx="34747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支持小数金额（精确到分）</a:t>
            </a:r>
            <a:endParaRPr lang="en-US" sz="1200" dirty="0"/>
          </a:p>
        </p:txBody>
      </p:sp>
      <p:sp>
        <p:nvSpPr>
          <p:cNvPr id="206" name="Text 9"/>
          <p:cNvSpPr/>
          <p:nvPr/>
        </p:nvSpPr>
        <p:spPr>
          <a:xfrm>
            <a:off x="594360" y="3200400"/>
            <a:ext cx="34747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存款成功后实时更新余额</a:t>
            </a:r>
            <a:endParaRPr lang="en-US" sz="1200" dirty="0"/>
          </a:p>
        </p:txBody>
      </p:sp>
      <p:sp>
        <p:nvSpPr>
          <p:cNvPr id="207" name="Shape 10"/>
          <p:cNvSpPr/>
          <p:nvPr/>
        </p:nvSpPr>
        <p:spPr>
          <a:xfrm>
            <a:off x="4754880" y="1097280"/>
            <a:ext cx="4023360" cy="320040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08" name="Shape 11"/>
          <p:cNvSpPr/>
          <p:nvPr/>
        </p:nvSpPr>
        <p:spPr>
          <a:xfrm>
            <a:off x="4754880" y="1097280"/>
            <a:ext cx="54864" cy="3200400"/>
          </a:xfrm>
          <a:prstGeom prst="rect">
            <a:avLst/>
          </a:prstGeom>
          <a:solidFill>
            <a:srgbClr val="D4A574"/>
          </a:solidFill>
        </p:spPr>
        <p:txBody>
          <a:bodyPr/>
          <a:p/>
        </p:txBody>
      </p:sp>
      <p:sp>
        <p:nvSpPr>
          <p:cNvPr id="209" name="Text 12"/>
          <p:cNvSpPr/>
          <p:nvPr/>
        </p:nvSpPr>
        <p:spPr>
          <a:xfrm>
            <a:off x="4983480" y="1280160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🔐  修改密码</a:t>
            </a:r>
            <a:endParaRPr lang="en-US" sz="1800" dirty="0"/>
          </a:p>
        </p:txBody>
      </p:sp>
      <p:sp>
        <p:nvSpPr>
          <p:cNvPr id="210" name="Text 13"/>
          <p:cNvSpPr/>
          <p:nvPr/>
        </p:nvSpPr>
        <p:spPr>
          <a:xfrm>
            <a:off x="4983480" y="173736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严格的安全策略：</a:t>
            </a:r>
            <a:endParaRPr lang="en-US" sz="1200" dirty="0"/>
          </a:p>
        </p:txBody>
      </p:sp>
      <p:sp>
        <p:nvSpPr>
          <p:cNvPr id="211" name="Text 14"/>
          <p:cNvSpPr/>
          <p:nvPr/>
        </p:nvSpPr>
        <p:spPr>
          <a:xfrm>
            <a:off x="4983480" y="2103120"/>
            <a:ext cx="3657600" cy="3017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旧密码必须验证通过</a:t>
            </a:r>
            <a:endParaRPr lang="en-US" sz="1200" dirty="0"/>
          </a:p>
        </p:txBody>
      </p:sp>
      <p:sp>
        <p:nvSpPr>
          <p:cNvPr id="212" name="Text 15"/>
          <p:cNvSpPr/>
          <p:nvPr/>
        </p:nvSpPr>
        <p:spPr>
          <a:xfrm>
            <a:off x="4983480" y="2450592"/>
            <a:ext cx="3657600" cy="3017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新密码长度 ≥ 6 位</a:t>
            </a:r>
            <a:endParaRPr lang="en-US" sz="1200" dirty="0"/>
          </a:p>
        </p:txBody>
      </p:sp>
      <p:sp>
        <p:nvSpPr>
          <p:cNvPr id="213" name="Text 16"/>
          <p:cNvSpPr/>
          <p:nvPr/>
        </p:nvSpPr>
        <p:spPr>
          <a:xfrm>
            <a:off x="4983480" y="2798064"/>
            <a:ext cx="3657600" cy="3017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不能是 6 位完全相同字符（如 111111）</a:t>
            </a:r>
            <a:endParaRPr lang="en-US" sz="1200" dirty="0"/>
          </a:p>
        </p:txBody>
      </p:sp>
      <p:sp>
        <p:nvSpPr>
          <p:cNvPr id="214" name="Text 17"/>
          <p:cNvSpPr/>
          <p:nvPr/>
        </p:nvSpPr>
        <p:spPr>
          <a:xfrm>
            <a:off x="4983480" y="3145536"/>
            <a:ext cx="3657600" cy="3017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两次新密码输入必须完全一致</a:t>
            </a:r>
            <a:endParaRPr lang="en-US" sz="1200" dirty="0"/>
          </a:p>
        </p:txBody>
      </p:sp>
      <p:sp>
        <p:nvSpPr>
          <p:cNvPr id="215" name="Text 18"/>
          <p:cNvSpPr/>
          <p:nvPr/>
        </p:nvSpPr>
        <p:spPr>
          <a:xfrm>
            <a:off x="4983480" y="3493008"/>
            <a:ext cx="3657600" cy="3017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修改成功后强制重新登录</a:t>
            </a:r>
            <a:endParaRPr lang="en-US" sz="1200" dirty="0"/>
          </a:p>
        </p:txBody>
      </p:sp>
      <p:sp>
        <p:nvSpPr>
          <p:cNvPr id="216" name="Shape 19"/>
          <p:cNvSpPr/>
          <p:nvPr/>
        </p:nvSpPr>
        <p:spPr>
          <a:xfrm>
            <a:off x="0" y="4572000"/>
            <a:ext cx="9144000" cy="548640"/>
          </a:xfrm>
          <a:prstGeom prst="rect">
            <a:avLst/>
          </a:prstGeom>
          <a:solidFill>
            <a:srgbClr val="1A1F36"/>
          </a:solidFill>
        </p:spPr>
        <p:txBody>
          <a:bodyPr/>
          <a:p/>
        </p:txBody>
      </p:sp>
      <p:sp>
        <p:nvSpPr>
          <p:cNvPr id="217" name="Text 20"/>
          <p:cNvSpPr/>
          <p:nvPr/>
        </p:nvSpPr>
        <p:spPr>
          <a:xfrm>
            <a:off x="457200" y="4617720"/>
            <a:ext cx="82296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5F0E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所有校验均在 Model 层完成 — deposit() 与 change_password() 方法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6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Shape 0"/>
          <p:cNvSpPr/>
          <p:nvPr/>
        </p:nvSpPr>
        <p:spPr>
          <a:xfrm>
            <a:off x="548640" y="411480"/>
            <a:ext cx="64008" cy="502920"/>
          </a:xfrm>
          <a:prstGeom prst="rect">
            <a:avLst/>
          </a:prstGeom>
          <a:solidFill>
            <a:srgbClr val="D4A574"/>
          </a:solidFill>
        </p:spPr>
        <p:txBody>
          <a:bodyPr/>
          <a:p/>
        </p:txBody>
      </p:sp>
      <p:sp>
        <p:nvSpPr>
          <p:cNvPr id="170" name="Text 1"/>
          <p:cNvSpPr/>
          <p:nvPr/>
        </p:nvSpPr>
        <p:spPr>
          <a:xfrm>
            <a:off x="822960" y="365760"/>
            <a:ext cx="777240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28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修改密码时序图</a:t>
            </a:r>
            <a:endParaRPr lang="en-US" sz="2800" dirty="0"/>
          </a:p>
        </p:txBody>
      </p:sp>
      <p:sp>
        <p:nvSpPr>
          <p:cNvPr id="171" name="Shape 2"/>
          <p:cNvSpPr/>
          <p:nvPr/>
        </p:nvSpPr>
        <p:spPr>
          <a:xfrm>
            <a:off x="548640" y="945515"/>
            <a:ext cx="8046720" cy="3987165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pic>
        <p:nvPicPr>
          <p:cNvPr id="11" name="图片 11" descr="changepwd_seq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07223" y="988060"/>
            <a:ext cx="5484495" cy="374142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21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Shape 0"/>
          <p:cNvSpPr/>
          <p:nvPr/>
        </p:nvSpPr>
        <p:spPr>
          <a:xfrm>
            <a:off x="548640" y="411480"/>
            <a:ext cx="64008" cy="502920"/>
          </a:xfrm>
          <a:prstGeom prst="rect">
            <a:avLst/>
          </a:prstGeom>
          <a:solidFill>
            <a:srgbClr val="D4A574"/>
          </a:solidFill>
        </p:spPr>
        <p:txBody>
          <a:bodyPr/>
          <a:p/>
        </p:txBody>
      </p:sp>
      <p:sp>
        <p:nvSpPr>
          <p:cNvPr id="220" name="Text 1"/>
          <p:cNvSpPr/>
          <p:nvPr/>
        </p:nvSpPr>
        <p:spPr>
          <a:xfrm>
            <a:off x="822960" y="365760"/>
            <a:ext cx="777240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新增功能：转账 · 注册 · 登录锁定</a:t>
            </a:r>
            <a:endParaRPr lang="en-US" sz="2800" dirty="0"/>
          </a:p>
        </p:txBody>
      </p:sp>
      <p:sp>
        <p:nvSpPr>
          <p:cNvPr id="221" name="Shape 2"/>
          <p:cNvSpPr/>
          <p:nvPr/>
        </p:nvSpPr>
        <p:spPr>
          <a:xfrm>
            <a:off x="548640" y="1097280"/>
            <a:ext cx="3840480" cy="146304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22" name="Shape 3"/>
          <p:cNvSpPr/>
          <p:nvPr/>
        </p:nvSpPr>
        <p:spPr>
          <a:xfrm>
            <a:off x="548640" y="1097280"/>
            <a:ext cx="54864" cy="1463040"/>
          </a:xfrm>
          <a:prstGeom prst="rect">
            <a:avLst/>
          </a:prstGeom>
          <a:solidFill>
            <a:srgbClr val="10B981"/>
          </a:solidFill>
        </p:spPr>
        <p:txBody>
          <a:bodyPr/>
          <a:p/>
        </p:txBody>
      </p:sp>
      <p:sp>
        <p:nvSpPr>
          <p:cNvPr id="223" name="Text 4"/>
          <p:cNvSpPr/>
          <p:nvPr/>
        </p:nvSpPr>
        <p:spPr>
          <a:xfrm>
            <a:off x="822960" y="1188720"/>
            <a:ext cx="34747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跨账户转账</a:t>
            </a:r>
            <a:endParaRPr lang="en-US" sz="1600" dirty="0"/>
          </a:p>
        </p:txBody>
      </p:sp>
      <p:sp>
        <p:nvSpPr>
          <p:cNvPr id="224" name="Text 5"/>
          <p:cNvSpPr/>
          <p:nvPr/>
        </p:nvSpPr>
        <p:spPr>
          <a:xfrm>
            <a:off x="822960" y="1554480"/>
            <a:ext cx="3474720" cy="914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支持多用户，data.json 改为用户列表
</a:t>
            </a:r>
            <a:r>
              <a:rPr lang="en-US" sz="11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✦ 金额必须为 100 的倍数
</a:t>
            </a:r>
            <a:r>
              <a:rPr lang="en-US" sz="11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✦ 单笔 ≤ 5000，不可透支
</a:t>
            </a:r>
            <a:r>
              <a:rPr lang="en-US" sz="11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✦ 不可转账给自己，目标账号必须存在</a:t>
            </a:r>
            <a:endParaRPr lang="en-US" sz="1100" dirty="0"/>
          </a:p>
        </p:txBody>
      </p:sp>
      <p:sp>
        <p:nvSpPr>
          <p:cNvPr id="225" name="Shape 6"/>
          <p:cNvSpPr/>
          <p:nvPr/>
        </p:nvSpPr>
        <p:spPr>
          <a:xfrm>
            <a:off x="4754880" y="1097280"/>
            <a:ext cx="3840480" cy="146304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26" name="Shape 7"/>
          <p:cNvSpPr/>
          <p:nvPr/>
        </p:nvSpPr>
        <p:spPr>
          <a:xfrm>
            <a:off x="4754880" y="1097280"/>
            <a:ext cx="54864" cy="1463040"/>
          </a:xfrm>
          <a:prstGeom prst="rect">
            <a:avLst/>
          </a:prstGeom>
          <a:solidFill>
            <a:srgbClr val="EF4444"/>
          </a:solidFill>
        </p:spPr>
        <p:txBody>
          <a:bodyPr/>
          <a:p/>
        </p:txBody>
      </p:sp>
      <p:sp>
        <p:nvSpPr>
          <p:cNvPr id="227" name="Text 8"/>
          <p:cNvSpPr/>
          <p:nvPr/>
        </p:nvSpPr>
        <p:spPr>
          <a:xfrm>
            <a:off x="5029200" y="1188720"/>
            <a:ext cx="34747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注册 &amp; 登录锁定</a:t>
            </a:r>
            <a:endParaRPr lang="en-US" sz="1600" dirty="0"/>
          </a:p>
        </p:txBody>
      </p:sp>
      <p:sp>
        <p:nvSpPr>
          <p:cNvPr id="228" name="Text 9"/>
          <p:cNvSpPr/>
          <p:nvPr/>
        </p:nvSpPr>
        <p:spPr>
          <a:xfrm>
            <a:off x="5029200" y="1554480"/>
            <a:ext cx="3474720" cy="914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1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注册新账户：账号 ≥ 4 位字母数字
</a:t>
            </a:r>
            <a:r>
              <a:rPr lang="en-US" sz="11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密码 ≥ 6 位，注册成功自动登录
</a:t>
            </a:r>
            <a:r>
              <a:rPr lang="en-US" sz="11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登录锁定：连续 3 次错误
</a:t>
            </a:r>
            <a:r>
              <a:rPr lang="en-US" sz="11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锁定 3 分钟，防止暴力破解</a:t>
            </a:r>
            <a:endParaRPr lang="en-US" sz="1100" dirty="0"/>
          </a:p>
        </p:txBody>
      </p:sp>
      <p:sp>
        <p:nvSpPr>
          <p:cNvPr id="229" name="Shape 10"/>
          <p:cNvSpPr/>
          <p:nvPr/>
        </p:nvSpPr>
        <p:spPr>
          <a:xfrm>
            <a:off x="548640" y="2834640"/>
            <a:ext cx="8046720" cy="64008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30" name="Shape 11"/>
          <p:cNvSpPr/>
          <p:nvPr/>
        </p:nvSpPr>
        <p:spPr>
          <a:xfrm>
            <a:off x="548640" y="2834640"/>
            <a:ext cx="54864" cy="640080"/>
          </a:xfrm>
          <a:prstGeom prst="rect">
            <a:avLst/>
          </a:prstGeom>
          <a:solidFill>
            <a:srgbClr val="D4A574"/>
          </a:solidFill>
        </p:spPr>
        <p:txBody>
          <a:bodyPr/>
          <a:p/>
        </p:txBody>
      </p:sp>
      <p:sp>
        <p:nvSpPr>
          <p:cNvPr id="231" name="Text 12"/>
          <p:cNvSpPr/>
          <p:nvPr/>
        </p:nvSpPr>
        <p:spPr>
          <a:xfrm>
            <a:off x="822960" y="2880360"/>
            <a:ext cx="768096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交易记录：每笔存款、取款、转账自动记录，支持按时间倒序查询。所有业务规则均在 Model 层统一实现。</a:t>
            </a:r>
            <a:endParaRPr lang="en-US" sz="1100" dirty="0"/>
          </a:p>
        </p:txBody>
      </p:sp>
      <p:sp>
        <p:nvSpPr>
          <p:cNvPr id="232" name="Shape 13"/>
          <p:cNvSpPr/>
          <p:nvPr/>
        </p:nvSpPr>
        <p:spPr>
          <a:xfrm>
            <a:off x="548640" y="3749040"/>
            <a:ext cx="8046720" cy="731520"/>
          </a:xfrm>
          <a:prstGeom prst="rect">
            <a:avLst/>
          </a:prstGeom>
          <a:solidFill>
            <a:srgbClr val="F8F9FA"/>
          </a:solidFill>
        </p:spPr>
        <p:txBody>
          <a:bodyPr/>
          <a:p/>
        </p:txBody>
      </p:sp>
      <p:sp>
        <p:nvSpPr>
          <p:cNvPr id="233" name="Text 14"/>
          <p:cNvSpPr/>
          <p:nvPr/>
        </p:nvSpPr>
        <p:spPr>
          <a:xfrm>
            <a:off x="731520" y="3794760"/>
            <a:ext cx="777240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def transfer(self, target, amount):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if target == self.account: return False, '不能转账给自己'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target_user = self._find_user(target)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if not target_user: return False, '目标账号不存在'</a:t>
            </a:r>
            <a:endParaRPr lang="en-US" sz="1000" dirty="0"/>
          </a:p>
        </p:txBody>
      </p:sp>
      <p:sp>
        <p:nvSpPr>
          <p:cNvPr id="234" name="Shape 15"/>
          <p:cNvSpPr/>
          <p:nvPr/>
        </p:nvSpPr>
        <p:spPr>
          <a:xfrm>
            <a:off x="0" y="4572000"/>
            <a:ext cx="9144000" cy="548640"/>
          </a:xfrm>
          <a:prstGeom prst="rect">
            <a:avLst/>
          </a:prstGeom>
          <a:solidFill>
            <a:srgbClr val="1A1F36"/>
          </a:solidFill>
        </p:spPr>
        <p:txBody>
          <a:bodyPr/>
          <a:p/>
        </p:txBody>
      </p:sp>
      <p:sp>
        <p:nvSpPr>
          <p:cNvPr id="235" name="Text 16"/>
          <p:cNvSpPr/>
          <p:nvPr/>
        </p:nvSpPr>
        <p:spPr>
          <a:xfrm>
            <a:off x="457200" y="4617720"/>
            <a:ext cx="82296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5F0E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ATM 柜员机模拟程序 · 湘潭大学 计算机·网络空间安全学院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23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Shape 0"/>
          <p:cNvSpPr/>
          <p:nvPr/>
        </p:nvSpPr>
        <p:spPr>
          <a:xfrm>
            <a:off x="548640" y="411480"/>
            <a:ext cx="64008" cy="502920"/>
          </a:xfrm>
          <a:prstGeom prst="rect">
            <a:avLst/>
          </a:prstGeom>
          <a:solidFill>
            <a:srgbClr val="D4A574"/>
          </a:solidFill>
        </p:spPr>
        <p:txBody>
          <a:bodyPr/>
          <a:p/>
        </p:txBody>
      </p:sp>
      <p:sp>
        <p:nvSpPr>
          <p:cNvPr id="238" name="Text 1"/>
          <p:cNvSpPr/>
          <p:nvPr/>
        </p:nvSpPr>
        <p:spPr>
          <a:xfrm>
            <a:off x="822960" y="365760"/>
            <a:ext cx="777240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多语言支持 · 架构扩展</a:t>
            </a:r>
            <a:endParaRPr lang="en-US" sz="2800" dirty="0"/>
          </a:p>
        </p:txBody>
      </p:sp>
      <p:sp>
        <p:nvSpPr>
          <p:cNvPr id="239" name="Shape 2"/>
          <p:cNvSpPr/>
          <p:nvPr/>
        </p:nvSpPr>
        <p:spPr>
          <a:xfrm>
            <a:off x="548640" y="1097280"/>
            <a:ext cx="3840480" cy="201168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40" name="Shape 3"/>
          <p:cNvSpPr/>
          <p:nvPr/>
        </p:nvSpPr>
        <p:spPr>
          <a:xfrm>
            <a:off x="548640" y="1097280"/>
            <a:ext cx="54864" cy="2011680"/>
          </a:xfrm>
          <a:prstGeom prst="rect">
            <a:avLst/>
          </a:prstGeom>
          <a:solidFill>
            <a:srgbClr val="1A73E8"/>
          </a:solidFill>
        </p:spPr>
        <p:txBody>
          <a:bodyPr/>
          <a:p/>
        </p:txBody>
      </p:sp>
      <p:sp>
        <p:nvSpPr>
          <p:cNvPr id="241" name="Text 4"/>
          <p:cNvSpPr/>
          <p:nvPr/>
        </p:nvSpPr>
        <p:spPr>
          <a:xfrm>
            <a:off x="822960" y="1188720"/>
            <a:ext cx="34747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国际化（i18n）</a:t>
            </a:r>
            <a:endParaRPr lang="en-US" sz="1600" dirty="0"/>
          </a:p>
        </p:txBody>
      </p:sp>
      <p:sp>
        <p:nvSpPr>
          <p:cNvPr id="242" name="Text 5"/>
          <p:cNvSpPr/>
          <p:nvPr/>
        </p:nvSpPr>
        <p:spPr>
          <a:xfrm>
            <a:off x="822960" y="1600200"/>
            <a:ext cx="3474720" cy="1371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1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✦ 中英文双语字典，集中管理
</a:t>
            </a:r>
            <a:r>
              <a:rPr lang="en-US" sz="11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✦ tr(key) 统一访问，支持格式化
</a:t>
            </a:r>
            <a:r>
              <a:rPr lang="en-US" sz="11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✦ Python 版切换语言后重绘界面
</a:t>
            </a:r>
            <a:r>
              <a:rPr lang="en-US" sz="11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✦ Web 版 data-i18n 属性即时切换
</a:t>
            </a:r>
            <a:r>
              <a:rPr lang="en-US" sz="11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✦ 菜单一键切换，无需重启
</a:t>
            </a:r>
            <a:endParaRPr lang="en-US" sz="1100" dirty="0"/>
          </a:p>
        </p:txBody>
      </p:sp>
      <p:sp>
        <p:nvSpPr>
          <p:cNvPr id="243" name="Shape 6"/>
          <p:cNvSpPr/>
          <p:nvPr/>
        </p:nvSpPr>
        <p:spPr>
          <a:xfrm>
            <a:off x="4754880" y="1097280"/>
            <a:ext cx="3840480" cy="201168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44" name="Shape 7"/>
          <p:cNvSpPr/>
          <p:nvPr/>
        </p:nvSpPr>
        <p:spPr>
          <a:xfrm>
            <a:off x="4754880" y="1097280"/>
            <a:ext cx="54864" cy="2011680"/>
          </a:xfrm>
          <a:prstGeom prst="rect">
            <a:avLst/>
          </a:prstGeom>
          <a:solidFill>
            <a:srgbClr val="D4A574"/>
          </a:solidFill>
        </p:spPr>
        <p:txBody>
          <a:bodyPr/>
          <a:p/>
        </p:txBody>
      </p:sp>
      <p:sp>
        <p:nvSpPr>
          <p:cNvPr id="245" name="Text 8"/>
          <p:cNvSpPr/>
          <p:nvPr/>
        </p:nvSpPr>
        <p:spPr>
          <a:xfrm>
            <a:off x="5029200" y="1188720"/>
            <a:ext cx="34747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lang.py 实现</a:t>
            </a:r>
            <a:endParaRPr lang="en-US" sz="1600" dirty="0"/>
          </a:p>
        </p:txBody>
      </p:sp>
      <p:sp>
        <p:nvSpPr>
          <p:cNvPr id="246" name="Shape 9"/>
          <p:cNvSpPr/>
          <p:nvPr/>
        </p:nvSpPr>
        <p:spPr>
          <a:xfrm>
            <a:off x="5029200" y="1600200"/>
            <a:ext cx="3337560" cy="1371600"/>
          </a:xfrm>
          <a:prstGeom prst="rect">
            <a:avLst/>
          </a:prstGeom>
          <a:solidFill>
            <a:srgbClr val="F8F9FA"/>
          </a:solidFill>
        </p:spPr>
        <p:txBody>
          <a:bodyPr/>
          <a:p/>
        </p:txBody>
      </p:sp>
      <p:sp>
        <p:nvSpPr>
          <p:cNvPr id="247" name="Text 10"/>
          <p:cNvSpPr/>
          <p:nvPr/>
        </p:nvSpPr>
        <p:spPr>
          <a:xfrm>
            <a:off x="5120640" y="1645920"/>
            <a:ext cx="3200400" cy="12801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STRINGS = {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'zh': { 'menu_balance': '查询余额' },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'en': { 'menu_balance': 'Balance' }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}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def tr(key):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return STRINGS[lang][key]</a:t>
            </a:r>
            <a:endParaRPr lang="en-US" sz="1050" dirty="0"/>
          </a:p>
        </p:txBody>
      </p:sp>
      <p:sp>
        <p:nvSpPr>
          <p:cNvPr id="248" name="Shape 11"/>
          <p:cNvSpPr/>
          <p:nvPr/>
        </p:nvSpPr>
        <p:spPr>
          <a:xfrm>
            <a:off x="548640" y="3383280"/>
            <a:ext cx="8046720" cy="73152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49" name="Shape 12"/>
          <p:cNvSpPr/>
          <p:nvPr/>
        </p:nvSpPr>
        <p:spPr>
          <a:xfrm>
            <a:off x="548640" y="3383280"/>
            <a:ext cx="54864" cy="731520"/>
          </a:xfrm>
          <a:prstGeom prst="rect">
            <a:avLst/>
          </a:prstGeom>
          <a:solidFill>
            <a:srgbClr val="10B981"/>
          </a:solidFill>
        </p:spPr>
        <p:txBody>
          <a:bodyPr/>
          <a:p/>
        </p:txBody>
      </p:sp>
      <p:sp>
        <p:nvSpPr>
          <p:cNvPr id="250" name="Text 13"/>
          <p:cNvSpPr/>
          <p:nvPr/>
        </p:nvSpPr>
        <p:spPr>
          <a:xfrm>
            <a:off x="822960" y="3429000"/>
            <a:ext cx="76809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架构演进：单用户 → 多用户 → 交易日志 → 国际化</a:t>
            </a:r>
            <a:endParaRPr lang="en-US" sz="1300" dirty="0"/>
          </a:p>
        </p:txBody>
      </p:sp>
      <p:sp>
        <p:nvSpPr>
          <p:cNvPr id="251" name="Text 14"/>
          <p:cNvSpPr/>
          <p:nvPr/>
        </p:nvSpPr>
        <p:spPr>
          <a:xfrm>
            <a:off x="822960" y="3703320"/>
            <a:ext cx="76809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新增 lang.py 模块 + TransferFrame/HistoryFrame/RegisterFrame 三个视图，总代码扩展约 40%</a:t>
            </a:r>
            <a:endParaRPr lang="en-US" sz="1100" dirty="0"/>
          </a:p>
        </p:txBody>
      </p:sp>
      <p:sp>
        <p:nvSpPr>
          <p:cNvPr id="252" name="Shape 15"/>
          <p:cNvSpPr/>
          <p:nvPr/>
        </p:nvSpPr>
        <p:spPr>
          <a:xfrm>
            <a:off x="0" y="4572000"/>
            <a:ext cx="9144000" cy="548640"/>
          </a:xfrm>
          <a:prstGeom prst="rect">
            <a:avLst/>
          </a:prstGeom>
          <a:solidFill>
            <a:srgbClr val="1A1F36"/>
          </a:solidFill>
        </p:spPr>
        <p:txBody>
          <a:bodyPr/>
          <a:p/>
        </p:txBody>
      </p:sp>
      <p:sp>
        <p:nvSpPr>
          <p:cNvPr id="253" name="Text 16"/>
          <p:cNvSpPr/>
          <p:nvPr/>
        </p:nvSpPr>
        <p:spPr>
          <a:xfrm>
            <a:off x="457200" y="4617720"/>
            <a:ext cx="82296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5F0E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ATM 柜员机模拟程序 · 湘潭大学 计算机·网络空间安全学院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C"/>
        </a:solidFill>
        <a:effectLst/>
      </p:bgPr>
    </p:bg>
    <p:spTree>
      <p:nvGrpSpPr>
        <p:cNvPr id="26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Shape 0"/>
          <p:cNvSpPr/>
          <p:nvPr/>
        </p:nvSpPr>
        <p:spPr>
          <a:xfrm>
            <a:off x="6858000" y="-1371600"/>
            <a:ext cx="3657600" cy="3657600"/>
          </a:xfrm>
          <a:prstGeom prst="ellipse">
            <a:avLst/>
          </a:prstGeom>
          <a:solidFill>
            <a:srgbClr val="D4A574">
              <a:alpha val="8000"/>
            </a:srgbClr>
          </a:solidFill>
        </p:spPr>
        <p:txBody>
          <a:bodyPr/>
          <a:p/>
        </p:txBody>
      </p:sp>
      <p:sp>
        <p:nvSpPr>
          <p:cNvPr id="265" name="Shape 1"/>
          <p:cNvSpPr/>
          <p:nvPr/>
        </p:nvSpPr>
        <p:spPr>
          <a:xfrm>
            <a:off x="7772400" y="2743200"/>
            <a:ext cx="2743200" cy="2743200"/>
          </a:xfrm>
          <a:prstGeom prst="ellipse">
            <a:avLst/>
          </a:prstGeom>
          <a:solidFill>
            <a:srgbClr val="D4A574">
              <a:alpha val="10000"/>
            </a:srgbClr>
          </a:solidFill>
        </p:spPr>
        <p:txBody>
          <a:bodyPr/>
          <a:p/>
        </p:txBody>
      </p:sp>
      <p:sp>
        <p:nvSpPr>
          <p:cNvPr id="266" name="Text 2"/>
          <p:cNvSpPr/>
          <p:nvPr/>
        </p:nvSpPr>
        <p:spPr>
          <a:xfrm>
            <a:off x="731520" y="914400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D4A574"/>
                </a:solidFill>
              </a:rPr>
              <a:t>✦</a:t>
            </a:r>
            <a:endParaRPr lang="en-US" sz="2400" dirty="0"/>
          </a:p>
        </p:txBody>
      </p:sp>
      <p:sp>
        <p:nvSpPr>
          <p:cNvPr id="267" name="Text 3"/>
          <p:cNvSpPr/>
          <p:nvPr/>
        </p:nvSpPr>
        <p:spPr>
          <a:xfrm>
            <a:off x="731520" y="1554480"/>
            <a:ext cx="7680960" cy="914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3600" b="1" dirty="0">
                <a:solidFill>
                  <a:srgbClr val="D4A574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数据持久化</a:t>
            </a:r>
            <a:endParaRPr lang="zh-CN" altLang="en-US" sz="3600" b="1" dirty="0">
              <a:solidFill>
                <a:srgbClr val="D4A574"/>
              </a:solidFill>
              <a:latin typeface="Georgia" panose="02040502050405020303" pitchFamily="34" charset="0"/>
              <a:ea typeface="Georgia" panose="02040502050405020303" pitchFamily="34" charset="-122"/>
              <a:cs typeface="Georgia" panose="02040502050405020303" pitchFamily="34" charset="-120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26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Shape 0"/>
          <p:cNvSpPr/>
          <p:nvPr/>
        </p:nvSpPr>
        <p:spPr>
          <a:xfrm>
            <a:off x="548640" y="411480"/>
            <a:ext cx="64008" cy="502920"/>
          </a:xfrm>
          <a:prstGeom prst="rect">
            <a:avLst/>
          </a:prstGeom>
          <a:solidFill>
            <a:srgbClr val="D4A574"/>
          </a:solidFill>
        </p:spPr>
        <p:txBody>
          <a:bodyPr/>
          <a:p/>
        </p:txBody>
      </p:sp>
      <p:sp>
        <p:nvSpPr>
          <p:cNvPr id="270" name="Text 1"/>
          <p:cNvSpPr/>
          <p:nvPr/>
        </p:nvSpPr>
        <p:spPr>
          <a:xfrm>
            <a:off x="822960" y="365760"/>
            <a:ext cx="777240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数据持久化 — data.json</a:t>
            </a:r>
            <a:endParaRPr lang="en-US" sz="2800" dirty="0"/>
          </a:p>
        </p:txBody>
      </p:sp>
      <p:sp>
        <p:nvSpPr>
          <p:cNvPr id="271" name="Text 2"/>
          <p:cNvSpPr/>
          <p:nvPr/>
        </p:nvSpPr>
        <p:spPr>
          <a:xfrm>
            <a:off x="822960" y="1097280"/>
            <a:ext cx="749808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Python 版使用标准库 json 模块实现数据持久化，数据存储于 data.json 文件</a:t>
            </a:r>
            <a:endParaRPr lang="en-US" sz="1300" dirty="0"/>
          </a:p>
        </p:txBody>
      </p:sp>
      <p:sp>
        <p:nvSpPr>
          <p:cNvPr id="272" name="Shape 3"/>
          <p:cNvSpPr/>
          <p:nvPr/>
        </p:nvSpPr>
        <p:spPr>
          <a:xfrm>
            <a:off x="548640" y="1645920"/>
            <a:ext cx="3840480" cy="137160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73" name="Shape 4"/>
          <p:cNvSpPr/>
          <p:nvPr/>
        </p:nvSpPr>
        <p:spPr>
          <a:xfrm>
            <a:off x="548640" y="1645920"/>
            <a:ext cx="54864" cy="1371600"/>
          </a:xfrm>
          <a:prstGeom prst="rect">
            <a:avLst/>
          </a:prstGeom>
          <a:solidFill>
            <a:srgbClr val="1A73E8"/>
          </a:solidFill>
        </p:spPr>
        <p:txBody>
          <a:bodyPr/>
          <a:p/>
        </p:txBody>
      </p:sp>
      <p:sp>
        <p:nvSpPr>
          <p:cNvPr id="274" name="Text 5"/>
          <p:cNvSpPr/>
          <p:nvPr/>
        </p:nvSpPr>
        <p:spPr>
          <a:xfrm>
            <a:off x="777240" y="1783080"/>
            <a:ext cx="34747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data.json 数据结构</a:t>
            </a:r>
            <a:endParaRPr lang="en-US" sz="1400" dirty="0"/>
          </a:p>
        </p:txBody>
      </p:sp>
      <p:sp>
        <p:nvSpPr>
          <p:cNvPr id="275" name="Text 6"/>
          <p:cNvSpPr/>
          <p:nvPr/>
        </p:nvSpPr>
        <p:spPr>
          <a:xfrm>
            <a:off x="777240" y="2194560"/>
            <a:ext cx="3474720" cy="731520"/>
          </a:xfrm>
          <a:prstGeom prst="rect">
            <a:avLst/>
          </a:prstGeom>
          <a:solidFill>
            <a:srgbClr val="F8F9FA"/>
          </a:solidFill>
        </p:spPr>
        <p:txBody>
          <a:bodyPr wrap="square" lIns="1270" tIns="1270" rIns="1270" bIns="127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{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"account": "123456",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"password": "123456",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"balance": 10000.0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}</a:t>
            </a:r>
            <a:endParaRPr lang="en-US" sz="900" dirty="0">
              <a:solidFill>
                <a:srgbClr val="2D2D2D"/>
              </a:solidFill>
              <a:latin typeface="Consolas" panose="020B0609020204030204" pitchFamily="34" charset="0"/>
              <a:ea typeface="Consolas" panose="020B0609020204030204" pitchFamily="34" charset="-122"/>
              <a:cs typeface="Consolas" panose="020B0609020204030204" pitchFamily="34" charset="-120"/>
            </a:endParaRPr>
          </a:p>
        </p:txBody>
      </p:sp>
      <p:sp>
        <p:nvSpPr>
          <p:cNvPr id="276" name="Shape 7"/>
          <p:cNvSpPr/>
          <p:nvPr/>
        </p:nvSpPr>
        <p:spPr>
          <a:xfrm>
            <a:off x="4754880" y="1645920"/>
            <a:ext cx="3840480" cy="137160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77" name="Shape 8"/>
          <p:cNvSpPr/>
          <p:nvPr/>
        </p:nvSpPr>
        <p:spPr>
          <a:xfrm>
            <a:off x="4754880" y="1645920"/>
            <a:ext cx="54864" cy="1371600"/>
          </a:xfrm>
          <a:prstGeom prst="rect">
            <a:avLst/>
          </a:prstGeom>
          <a:solidFill>
            <a:srgbClr val="1A73E8"/>
          </a:solidFill>
        </p:spPr>
        <p:txBody>
          <a:bodyPr/>
          <a:p/>
        </p:txBody>
      </p:sp>
      <p:sp>
        <p:nvSpPr>
          <p:cNvPr id="278" name="Text 9"/>
          <p:cNvSpPr/>
          <p:nvPr/>
        </p:nvSpPr>
        <p:spPr>
          <a:xfrm>
            <a:off x="4983480" y="1783080"/>
            <a:ext cx="34747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Model 层封装</a:t>
            </a:r>
            <a:endParaRPr lang="en-US" sz="1400" dirty="0"/>
          </a:p>
        </p:txBody>
      </p:sp>
      <p:sp>
        <p:nvSpPr>
          <p:cNvPr id="279" name="Text 10"/>
          <p:cNvSpPr/>
          <p:nvPr/>
        </p:nvSpPr>
        <p:spPr>
          <a:xfrm>
            <a:off x="4983480" y="2194560"/>
            <a:ext cx="3474720" cy="731520"/>
          </a:xfrm>
          <a:prstGeom prst="rect">
            <a:avLst/>
          </a:prstGeom>
          <a:solidFill>
            <a:srgbClr val="F8F9FA"/>
          </a:solidFill>
        </p:spPr>
        <p:txBody>
          <a:bodyPr wrap="square" lIns="1270" tIns="1270" rIns="1270" bIns="127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def _load_data(self):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if not os.path.exists(f):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    return self.initial_data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return json.load(f)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def _save_to_disk(self, data):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json.dump(data, f, indent=4)</a:t>
            </a:r>
            <a:endParaRPr lang="en-US" sz="800" dirty="0">
              <a:solidFill>
                <a:srgbClr val="2D2D2D"/>
              </a:solidFill>
              <a:latin typeface="Consolas" panose="020B0609020204030204" pitchFamily="34" charset="0"/>
              <a:ea typeface="Consolas" panose="020B0609020204030204" pitchFamily="34" charset="-122"/>
              <a:cs typeface="Consolas" panose="020B0609020204030204" pitchFamily="34" charset="-120"/>
            </a:endParaRPr>
          </a:p>
        </p:txBody>
      </p:sp>
      <p:sp>
        <p:nvSpPr>
          <p:cNvPr id="280" name="Text 11"/>
          <p:cNvSpPr/>
          <p:nvPr/>
        </p:nvSpPr>
        <p:spPr>
          <a:xfrm>
            <a:off x="822960" y="32918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工作流程</a:t>
            </a:r>
            <a:endParaRPr lang="en-US" sz="1400" dirty="0"/>
          </a:p>
        </p:txBody>
      </p:sp>
      <p:sp>
        <p:nvSpPr>
          <p:cNvPr id="281" name="Text 12"/>
          <p:cNvSpPr/>
          <p:nvPr/>
        </p:nvSpPr>
        <p:spPr>
          <a:xfrm>
            <a:off x="822960" y="3611880"/>
            <a:ext cx="74980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程序启动 → _load_data() 读取 data.json → 加载到内存 user_data 字典</a:t>
            </a:r>
            <a:endParaRPr lang="en-US" sz="1200" dirty="0"/>
          </a:p>
        </p:txBody>
      </p:sp>
      <p:sp>
        <p:nvSpPr>
          <p:cNvPr id="282" name="Text 13"/>
          <p:cNvSpPr/>
          <p:nvPr/>
        </p:nvSpPr>
        <p:spPr>
          <a:xfrm>
            <a:off x="822960" y="3913632"/>
            <a:ext cx="74980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用户操作 → Model 方法修改 user_data → _save_to_disk() 写回 JSON 文件</a:t>
            </a:r>
            <a:endParaRPr lang="en-US" sz="1200" dirty="0"/>
          </a:p>
        </p:txBody>
      </p:sp>
      <p:sp>
        <p:nvSpPr>
          <p:cNvPr id="283" name="Text 14"/>
          <p:cNvSpPr/>
          <p:nvPr/>
        </p:nvSpPr>
        <p:spPr>
          <a:xfrm>
            <a:off x="822960" y="4215384"/>
            <a:ext cx="74980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写盘策略：每次业务操作（存款/取款/改密）后立即持久化，防止数据丢失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B"/>
        </a:solidFill>
        <a:effectLst/>
      </p:bgPr>
    </p:bg>
    <p:spTree>
      <p:nvGrpSpPr>
        <p:cNvPr id="28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Shape 0"/>
          <p:cNvSpPr/>
          <p:nvPr/>
        </p:nvSpPr>
        <p:spPr>
          <a:xfrm>
            <a:off x="548640" y="411480"/>
            <a:ext cx="64008" cy="502920"/>
          </a:xfrm>
          <a:prstGeom prst="rect">
            <a:avLst/>
          </a:prstGeom>
          <a:solidFill>
            <a:srgbClr val="D4A574"/>
          </a:solidFill>
        </p:spPr>
        <p:txBody>
          <a:bodyPr/>
          <a:p/>
        </p:txBody>
      </p:sp>
      <p:sp>
        <p:nvSpPr>
          <p:cNvPr id="286" name="Text 1"/>
          <p:cNvSpPr/>
          <p:nvPr/>
        </p:nvSpPr>
        <p:spPr>
          <a:xfrm>
            <a:off x="822960" y="365760"/>
            <a:ext cx="777240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数据持久化 — Web localStorage</a:t>
            </a:r>
            <a:endParaRPr lang="en-US" sz="2800" dirty="0"/>
          </a:p>
        </p:txBody>
      </p:sp>
      <p:sp>
        <p:nvSpPr>
          <p:cNvPr id="287" name="Text 2"/>
          <p:cNvSpPr/>
          <p:nvPr/>
        </p:nvSpPr>
        <p:spPr>
          <a:xfrm>
            <a:off x="822960" y="1097280"/>
            <a:ext cx="749808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Web 版使用浏览器内置的 localStorage 实现数据持久化，与 Python 版保持相同的 Model 接口</a:t>
            </a:r>
            <a:endParaRPr lang="en-US" sz="1300" dirty="0"/>
          </a:p>
        </p:txBody>
      </p:sp>
      <p:sp>
        <p:nvSpPr>
          <p:cNvPr id="288" name="Shape 3"/>
          <p:cNvSpPr/>
          <p:nvPr/>
        </p:nvSpPr>
        <p:spPr>
          <a:xfrm>
            <a:off x="548640" y="1645920"/>
            <a:ext cx="3840480" cy="250444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89" name="Shape 4"/>
          <p:cNvSpPr/>
          <p:nvPr/>
        </p:nvSpPr>
        <p:spPr>
          <a:xfrm>
            <a:off x="548640" y="1645920"/>
            <a:ext cx="76200" cy="2499995"/>
          </a:xfrm>
          <a:prstGeom prst="rect">
            <a:avLst/>
          </a:prstGeom>
          <a:solidFill>
            <a:srgbClr val="10B981"/>
          </a:solidFill>
        </p:spPr>
        <p:txBody>
          <a:bodyPr/>
          <a:p/>
        </p:txBody>
      </p:sp>
      <p:sp>
        <p:nvSpPr>
          <p:cNvPr id="290" name="Text 5"/>
          <p:cNvSpPr/>
          <p:nvPr/>
        </p:nvSpPr>
        <p:spPr>
          <a:xfrm>
            <a:off x="777240" y="1783080"/>
            <a:ext cx="34747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JS Model 封装</a:t>
            </a:r>
            <a:endParaRPr lang="en-US" sz="1400" dirty="0"/>
          </a:p>
        </p:txBody>
      </p:sp>
      <p:sp>
        <p:nvSpPr>
          <p:cNvPr id="291" name="Text 6"/>
          <p:cNvSpPr/>
          <p:nvPr/>
        </p:nvSpPr>
        <p:spPr>
          <a:xfrm>
            <a:off x="777240" y="2194560"/>
            <a:ext cx="3474720" cy="1645920"/>
          </a:xfrm>
          <a:prstGeom prst="rect">
            <a:avLst/>
          </a:prstGeom>
          <a:solidFill>
            <a:srgbClr val="F8F9FA"/>
          </a:solidFill>
        </p:spPr>
        <p:txBody>
          <a:bodyPr wrap="square" lIns="1270" tIns="1270" rIns="1270" bIns="127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const STORAGE_KEY = 'aether_atm';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function loadData() {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const raw = localStorage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.getItem(STORAGE_KEY);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return raw ? JSON.parse(raw)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: { account:'123456',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    password:'123456',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    balance: 10000 }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}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function saveData(data) {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localStorage.setItem(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STORAGE_KEY,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JSON.stringify(data))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}</a:t>
            </a:r>
            <a:endParaRPr lang="en-US" sz="800" dirty="0">
              <a:solidFill>
                <a:srgbClr val="2D2D2D"/>
              </a:solidFill>
              <a:latin typeface="Consolas" panose="020B0609020204030204" pitchFamily="34" charset="0"/>
              <a:ea typeface="Consolas" panose="020B0609020204030204" pitchFamily="34" charset="-122"/>
              <a:cs typeface="Consolas" panose="020B0609020204030204" pitchFamily="34" charset="-120"/>
            </a:endParaRPr>
          </a:p>
        </p:txBody>
      </p:sp>
      <p:sp>
        <p:nvSpPr>
          <p:cNvPr id="292" name="Shape 7"/>
          <p:cNvSpPr/>
          <p:nvPr/>
        </p:nvSpPr>
        <p:spPr>
          <a:xfrm>
            <a:off x="4754880" y="1645920"/>
            <a:ext cx="3840480" cy="250444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93" name="Shape 8"/>
          <p:cNvSpPr/>
          <p:nvPr/>
        </p:nvSpPr>
        <p:spPr>
          <a:xfrm>
            <a:off x="4754880" y="1645920"/>
            <a:ext cx="76200" cy="2504440"/>
          </a:xfrm>
          <a:prstGeom prst="rect">
            <a:avLst/>
          </a:prstGeom>
          <a:solidFill>
            <a:srgbClr val="D4A574"/>
          </a:solidFill>
        </p:spPr>
        <p:txBody>
          <a:bodyPr/>
          <a:p/>
        </p:txBody>
      </p:sp>
      <p:sp>
        <p:nvSpPr>
          <p:cNvPr id="294" name="Text 9"/>
          <p:cNvSpPr/>
          <p:nvPr/>
        </p:nvSpPr>
        <p:spPr>
          <a:xfrm>
            <a:off x="4983480" y="1783080"/>
            <a:ext cx="34747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对比: JSON vs localStorage</a:t>
            </a:r>
            <a:endParaRPr lang="en-US" sz="1400" dirty="0"/>
          </a:p>
        </p:txBody>
      </p:sp>
      <p:sp>
        <p:nvSpPr>
          <p:cNvPr id="295" name="Text 10"/>
          <p:cNvSpPr/>
          <p:nvPr/>
        </p:nvSpPr>
        <p:spPr>
          <a:xfrm>
            <a:off x="4983480" y="2194560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1F3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存储位置</a:t>
            </a:r>
            <a:endParaRPr lang="en-US" sz="1000" dirty="0"/>
          </a:p>
        </p:txBody>
      </p:sp>
      <p:sp>
        <p:nvSpPr>
          <p:cNvPr id="296" name="Text 11"/>
          <p:cNvSpPr/>
          <p:nvPr/>
        </p:nvSpPr>
        <p:spPr>
          <a:xfrm>
            <a:off x="6035040" y="219456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本地文件系统</a:t>
            </a:r>
            <a:endParaRPr lang="en-US" sz="900" dirty="0"/>
          </a:p>
        </p:txBody>
      </p:sp>
      <p:sp>
        <p:nvSpPr>
          <p:cNvPr id="297" name="Text 12"/>
          <p:cNvSpPr/>
          <p:nvPr/>
        </p:nvSpPr>
        <p:spPr>
          <a:xfrm>
            <a:off x="7132320" y="2194560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浏览器内置存储</a:t>
            </a:r>
            <a:endParaRPr lang="en-US" sz="900" dirty="0"/>
          </a:p>
        </p:txBody>
      </p:sp>
      <p:sp>
        <p:nvSpPr>
          <p:cNvPr id="298" name="Shape 13"/>
          <p:cNvSpPr/>
          <p:nvPr/>
        </p:nvSpPr>
        <p:spPr>
          <a:xfrm>
            <a:off x="4983480" y="2478024"/>
            <a:ext cx="3474720" cy="3658"/>
          </a:xfrm>
          <a:prstGeom prst="rect">
            <a:avLst/>
          </a:prstGeom>
          <a:solidFill>
            <a:srgbClr val="E5E7EB"/>
          </a:solidFill>
        </p:spPr>
        <p:txBody>
          <a:bodyPr/>
          <a:p/>
        </p:txBody>
      </p:sp>
      <p:sp>
        <p:nvSpPr>
          <p:cNvPr id="299" name="Text 14"/>
          <p:cNvSpPr/>
          <p:nvPr/>
        </p:nvSpPr>
        <p:spPr>
          <a:xfrm>
            <a:off x="4983480" y="2496312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1F3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读写方式</a:t>
            </a:r>
            <a:endParaRPr lang="en-US" sz="1000" dirty="0"/>
          </a:p>
        </p:txBody>
      </p:sp>
      <p:sp>
        <p:nvSpPr>
          <p:cNvPr id="300" name="Text 15"/>
          <p:cNvSpPr/>
          <p:nvPr/>
        </p:nvSpPr>
        <p:spPr>
          <a:xfrm>
            <a:off x="6035040" y="24963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json.dump / json.load</a:t>
            </a:r>
            <a:endParaRPr lang="en-US" sz="900" dirty="0"/>
          </a:p>
        </p:txBody>
      </p:sp>
      <p:sp>
        <p:nvSpPr>
          <p:cNvPr id="301" name="Text 16"/>
          <p:cNvSpPr/>
          <p:nvPr/>
        </p:nvSpPr>
        <p:spPr>
          <a:xfrm>
            <a:off x="7132320" y="2496312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setItem / getItem</a:t>
            </a:r>
            <a:endParaRPr lang="en-US" sz="900" dirty="0"/>
          </a:p>
        </p:txBody>
      </p:sp>
      <p:sp>
        <p:nvSpPr>
          <p:cNvPr id="302" name="Shape 17"/>
          <p:cNvSpPr/>
          <p:nvPr/>
        </p:nvSpPr>
        <p:spPr>
          <a:xfrm>
            <a:off x="4983480" y="2779776"/>
            <a:ext cx="3474720" cy="3658"/>
          </a:xfrm>
          <a:prstGeom prst="rect">
            <a:avLst/>
          </a:prstGeom>
          <a:solidFill>
            <a:srgbClr val="E5E7EB"/>
          </a:solidFill>
        </p:spPr>
        <p:txBody>
          <a:bodyPr/>
          <a:p/>
        </p:txBody>
      </p:sp>
      <p:sp>
        <p:nvSpPr>
          <p:cNvPr id="303" name="Text 18"/>
          <p:cNvSpPr/>
          <p:nvPr/>
        </p:nvSpPr>
        <p:spPr>
          <a:xfrm>
            <a:off x="4983480" y="2798064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1F3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数据格式</a:t>
            </a:r>
            <a:endParaRPr lang="en-US" sz="1000" dirty="0"/>
          </a:p>
        </p:txBody>
      </p:sp>
      <p:sp>
        <p:nvSpPr>
          <p:cNvPr id="304" name="Text 19"/>
          <p:cNvSpPr/>
          <p:nvPr/>
        </p:nvSpPr>
        <p:spPr>
          <a:xfrm>
            <a:off x="6035040" y="2798064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JSON 文本文件</a:t>
            </a:r>
            <a:endParaRPr lang="en-US" sz="900" dirty="0"/>
          </a:p>
        </p:txBody>
      </p:sp>
      <p:sp>
        <p:nvSpPr>
          <p:cNvPr id="305" name="Text 20"/>
          <p:cNvSpPr/>
          <p:nvPr/>
        </p:nvSpPr>
        <p:spPr>
          <a:xfrm>
            <a:off x="7132320" y="2798064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键值对（值序列化为 JSON）</a:t>
            </a:r>
            <a:endParaRPr lang="en-US" sz="900" dirty="0"/>
          </a:p>
        </p:txBody>
      </p:sp>
      <p:sp>
        <p:nvSpPr>
          <p:cNvPr id="306" name="Shape 21"/>
          <p:cNvSpPr/>
          <p:nvPr/>
        </p:nvSpPr>
        <p:spPr>
          <a:xfrm>
            <a:off x="4983480" y="3081528"/>
            <a:ext cx="3474720" cy="3658"/>
          </a:xfrm>
          <a:prstGeom prst="rect">
            <a:avLst/>
          </a:prstGeom>
          <a:solidFill>
            <a:srgbClr val="E5E7EB"/>
          </a:solidFill>
        </p:spPr>
        <p:txBody>
          <a:bodyPr/>
          <a:p/>
        </p:txBody>
      </p:sp>
      <p:sp>
        <p:nvSpPr>
          <p:cNvPr id="307" name="Text 22"/>
          <p:cNvSpPr/>
          <p:nvPr/>
        </p:nvSpPr>
        <p:spPr>
          <a:xfrm>
            <a:off x="4983480" y="3099816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1F3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生命周期</a:t>
            </a:r>
            <a:endParaRPr lang="en-US" sz="1000" dirty="0"/>
          </a:p>
        </p:txBody>
      </p:sp>
      <p:sp>
        <p:nvSpPr>
          <p:cNvPr id="308" name="Text 23"/>
          <p:cNvSpPr/>
          <p:nvPr/>
        </p:nvSpPr>
        <p:spPr>
          <a:xfrm>
            <a:off x="6035040" y="3099816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文件持久化，手动可删除</a:t>
            </a:r>
            <a:endParaRPr lang="en-US" sz="900" dirty="0"/>
          </a:p>
        </p:txBody>
      </p:sp>
      <p:sp>
        <p:nvSpPr>
          <p:cNvPr id="309" name="Text 24"/>
          <p:cNvSpPr/>
          <p:nvPr/>
        </p:nvSpPr>
        <p:spPr>
          <a:xfrm>
            <a:off x="7132320" y="3099816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浏览器清除或代码删除</a:t>
            </a:r>
            <a:endParaRPr lang="en-US" sz="900" dirty="0"/>
          </a:p>
        </p:txBody>
      </p:sp>
      <p:sp>
        <p:nvSpPr>
          <p:cNvPr id="310" name="Shape 25"/>
          <p:cNvSpPr/>
          <p:nvPr/>
        </p:nvSpPr>
        <p:spPr>
          <a:xfrm>
            <a:off x="4983480" y="3383280"/>
            <a:ext cx="3474720" cy="3658"/>
          </a:xfrm>
          <a:prstGeom prst="rect">
            <a:avLst/>
          </a:prstGeom>
          <a:solidFill>
            <a:srgbClr val="E5E7EB"/>
          </a:solidFill>
        </p:spPr>
        <p:txBody>
          <a:bodyPr/>
          <a:p/>
        </p:txBody>
      </p:sp>
      <p:sp>
        <p:nvSpPr>
          <p:cNvPr id="311" name="Text 26"/>
          <p:cNvSpPr/>
          <p:nvPr/>
        </p:nvSpPr>
        <p:spPr>
          <a:xfrm>
            <a:off x="4983480" y="3401568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1F3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容量限制</a:t>
            </a:r>
            <a:endParaRPr lang="en-US" sz="1000" dirty="0"/>
          </a:p>
        </p:txBody>
      </p:sp>
      <p:sp>
        <p:nvSpPr>
          <p:cNvPr id="312" name="Text 27"/>
          <p:cNvSpPr/>
          <p:nvPr/>
        </p:nvSpPr>
        <p:spPr>
          <a:xfrm>
            <a:off x="6035040" y="3401568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取决于文件系统</a:t>
            </a:r>
            <a:endParaRPr lang="en-US" sz="900" dirty="0"/>
          </a:p>
        </p:txBody>
      </p:sp>
      <p:sp>
        <p:nvSpPr>
          <p:cNvPr id="313" name="Text 28"/>
          <p:cNvSpPr/>
          <p:nvPr/>
        </p:nvSpPr>
        <p:spPr>
          <a:xfrm>
            <a:off x="7132320" y="3401568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约 5-10 MB 每域名</a:t>
            </a:r>
            <a:endParaRPr lang="en-US" sz="900" dirty="0"/>
          </a:p>
        </p:txBody>
      </p:sp>
      <p:sp>
        <p:nvSpPr>
          <p:cNvPr id="314" name="Shape 29"/>
          <p:cNvSpPr/>
          <p:nvPr/>
        </p:nvSpPr>
        <p:spPr>
          <a:xfrm>
            <a:off x="4983480" y="3685032"/>
            <a:ext cx="3474720" cy="3658"/>
          </a:xfrm>
          <a:prstGeom prst="rect">
            <a:avLst/>
          </a:prstGeom>
          <a:solidFill>
            <a:srgbClr val="E5E7EB"/>
          </a:solidFill>
        </p:spPr>
        <p:txBody>
          <a:bodyPr/>
          <a:p/>
        </p:txBody>
      </p:sp>
      <p:sp>
        <p:nvSpPr>
          <p:cNvPr id="315" name="Text 30"/>
          <p:cNvSpPr/>
          <p:nvPr/>
        </p:nvSpPr>
        <p:spPr>
          <a:xfrm>
            <a:off x="4983480" y="3703320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1F3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初始化</a:t>
            </a:r>
            <a:endParaRPr lang="en-US" sz="1000" dirty="0"/>
          </a:p>
        </p:txBody>
      </p:sp>
      <p:sp>
        <p:nvSpPr>
          <p:cNvPr id="316" name="Text 31"/>
          <p:cNvSpPr/>
          <p:nvPr/>
        </p:nvSpPr>
        <p:spPr>
          <a:xfrm>
            <a:off x="6035040" y="370332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文件不存在则创建默认</a:t>
            </a:r>
            <a:endParaRPr lang="en-US" sz="900" dirty="0"/>
          </a:p>
        </p:txBody>
      </p:sp>
      <p:sp>
        <p:nvSpPr>
          <p:cNvPr id="317" name="Text 32"/>
          <p:cNvSpPr/>
          <p:nvPr/>
        </p:nvSpPr>
        <p:spPr>
          <a:xfrm>
            <a:off x="7132320" y="3703320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键不存在则写入默认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C"/>
        </a:solidFill>
        <a:effectLst/>
      </p:bgPr>
    </p:bg>
    <p:spTree>
      <p:nvGrpSpPr>
        <p:cNvPr id="31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Shape 0"/>
          <p:cNvSpPr/>
          <p:nvPr/>
        </p:nvSpPr>
        <p:spPr>
          <a:xfrm>
            <a:off x="6858000" y="-1371600"/>
            <a:ext cx="3657600" cy="3657600"/>
          </a:xfrm>
          <a:prstGeom prst="ellipse">
            <a:avLst/>
          </a:prstGeom>
          <a:solidFill>
            <a:srgbClr val="D4A574">
              <a:alpha val="8000"/>
            </a:srgbClr>
          </a:solidFill>
        </p:spPr>
        <p:txBody>
          <a:bodyPr/>
          <a:p/>
        </p:txBody>
      </p:sp>
      <p:sp>
        <p:nvSpPr>
          <p:cNvPr id="320" name="Shape 1"/>
          <p:cNvSpPr/>
          <p:nvPr/>
        </p:nvSpPr>
        <p:spPr>
          <a:xfrm>
            <a:off x="7772400" y="2743200"/>
            <a:ext cx="2743200" cy="2743200"/>
          </a:xfrm>
          <a:prstGeom prst="ellipse">
            <a:avLst/>
          </a:prstGeom>
          <a:solidFill>
            <a:srgbClr val="D4A574">
              <a:alpha val="10000"/>
            </a:srgbClr>
          </a:solidFill>
        </p:spPr>
        <p:txBody>
          <a:bodyPr/>
          <a:p/>
        </p:txBody>
      </p:sp>
      <p:sp>
        <p:nvSpPr>
          <p:cNvPr id="321" name="Text 2"/>
          <p:cNvSpPr/>
          <p:nvPr/>
        </p:nvSpPr>
        <p:spPr>
          <a:xfrm>
            <a:off x="731520" y="914400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D4A574"/>
                </a:solidFill>
              </a:rPr>
              <a:t>✦</a:t>
            </a:r>
            <a:endParaRPr lang="en-US" sz="2400" dirty="0"/>
          </a:p>
        </p:txBody>
      </p:sp>
      <p:sp>
        <p:nvSpPr>
          <p:cNvPr id="322" name="Text 3"/>
          <p:cNvSpPr/>
          <p:nvPr/>
        </p:nvSpPr>
        <p:spPr>
          <a:xfrm>
            <a:off x="731520" y="1554480"/>
            <a:ext cx="7680960" cy="914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zh-CN" sz="3600" b="1" dirty="0">
                <a:solidFill>
                  <a:srgbClr val="D4A574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Web </a:t>
            </a:r>
            <a:r>
              <a:rPr lang="zh-CN" altLang="en-US" sz="3600" b="1" dirty="0">
                <a:solidFill>
                  <a:srgbClr val="D4A574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前端改造</a:t>
            </a:r>
            <a:endParaRPr lang="zh-CN" altLang="en-US" sz="3600" b="1" dirty="0">
              <a:solidFill>
                <a:srgbClr val="D4A574"/>
              </a:solidFill>
              <a:latin typeface="Georgia" panose="02040502050405020303" pitchFamily="34" charset="0"/>
              <a:ea typeface="Georgia" panose="02040502050405020303" pitchFamily="34" charset="-122"/>
              <a:cs typeface="Georgia" panose="02040502050405020303" pitchFamily="34" charset="-120"/>
            </a:endParaRPr>
          </a:p>
          <a:p>
            <a:pPr marL="0" indent="0">
              <a:buNone/>
            </a:pPr>
            <a:endParaRPr lang="zh-CN" altLang="en-US" sz="3600" b="1" dirty="0">
              <a:solidFill>
                <a:srgbClr val="D4A574"/>
              </a:solidFill>
              <a:latin typeface="Georgia" panose="02040502050405020303" pitchFamily="34" charset="0"/>
              <a:ea typeface="Georgia" panose="02040502050405020303" pitchFamily="34" charset="-122"/>
              <a:cs typeface="Georgia" panose="02040502050405020303" pitchFamily="34" charset="-120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32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Shape 0"/>
          <p:cNvSpPr/>
          <p:nvPr/>
        </p:nvSpPr>
        <p:spPr>
          <a:xfrm>
            <a:off x="548640" y="411480"/>
            <a:ext cx="64008" cy="502920"/>
          </a:xfrm>
          <a:prstGeom prst="rect">
            <a:avLst/>
          </a:prstGeom>
          <a:solidFill>
            <a:srgbClr val="D4A574"/>
          </a:solidFill>
        </p:spPr>
        <p:txBody>
          <a:bodyPr/>
          <a:p/>
        </p:txBody>
      </p:sp>
      <p:sp>
        <p:nvSpPr>
          <p:cNvPr id="325" name="Text 1"/>
          <p:cNvSpPr/>
          <p:nvPr/>
        </p:nvSpPr>
        <p:spPr>
          <a:xfrm>
            <a:off x="822960" y="365760"/>
            <a:ext cx="777240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Web 版前端改造 — 技术对比</a:t>
            </a:r>
            <a:endParaRPr lang="en-US" sz="2800" dirty="0"/>
          </a:p>
        </p:txBody>
      </p:sp>
      <p:graphicFrame>
        <p:nvGraphicFramePr>
          <p:cNvPr id="326" name="Table 0"/>
          <p:cNvGraphicFramePr/>
          <p:nvPr/>
        </p:nvGraphicFramePr>
        <p:xfrm>
          <a:off x="548640" y="1097280"/>
          <a:ext cx="8046720" cy="2971800"/>
        </p:xfrm>
        <a:graphic>
          <a:graphicData uri="http://schemas.openxmlformats.org/drawingml/2006/table">
            <a:tbl>
              <a:tblPr/>
              <a:tblGrid>
                <a:gridCol w="1188720"/>
                <a:gridCol w="2926080"/>
                <a:gridCol w="3931920"/>
              </a:tblGrid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层级</a:t>
                      </a:r>
                      <a:endParaRPr lang="en-US" sz="1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Python 原版</a:t>
                      </a:r>
                      <a:endParaRPr lang="en-US" sz="1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Web 版</a:t>
                      </a:r>
                      <a:endParaRPr lang="en-US" sz="1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Model</a:t>
                      </a:r>
                      <a:endParaRPr lang="en-US" sz="1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models.py + data.json</a:t>
                      </a:r>
                      <a:endParaRPr lang="en-US" sz="1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JS 对象 + localStorage</a:t>
                      </a:r>
                      <a:endParaRPr lang="en-US" sz="1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View</a:t>
                      </a:r>
                      <a:endParaRPr lang="en-US" sz="1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Tkinter (views.py)</a:t>
                      </a:r>
                      <a:endParaRPr lang="en-US" sz="1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HTML + CSS (index.html)</a:t>
                      </a:r>
                      <a:endParaRPr lang="en-US" sz="1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Controller</a:t>
                      </a:r>
                      <a:endParaRPr lang="en-US" sz="1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controllers.py</a:t>
                      </a:r>
                      <a:endParaRPr lang="en-US" sz="1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JS 事件监听 + 函数</a:t>
                      </a:r>
                      <a:endParaRPr lang="en-US" sz="1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UI 框架</a:t>
                      </a:r>
                      <a:endParaRPr lang="en-US" sz="1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tkinter (Python 内置)</a:t>
                      </a:r>
                      <a:endParaRPr lang="en-US" sz="1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原生 HTML/CSS/JS</a:t>
                      </a:r>
                      <a:endParaRPr lang="en-US" sz="1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设计风格</a:t>
                      </a:r>
                      <a:endParaRPr lang="en-US" sz="1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系统原生外观</a:t>
                      </a:r>
                      <a:endParaRPr lang="en-US" sz="1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暗色奢华 / 毛玻璃 / 动画</a:t>
                      </a:r>
                      <a:endParaRPr lang="en-US" sz="1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运行方式</a:t>
                      </a:r>
                      <a:endParaRPr lang="en-US" sz="1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python3 main.py</a:t>
                      </a:r>
                      <a:endParaRPr lang="en-US" sz="1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浏览器打开 index.html</a:t>
                      </a:r>
                      <a:endParaRPr lang="en-US" sz="1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依赖</a:t>
                      </a:r>
                      <a:endParaRPr lang="en-US" sz="1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零第三方库</a:t>
                      </a:r>
                      <a:endParaRPr lang="en-US" sz="1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零第三方库</a:t>
                      </a:r>
                      <a:endParaRPr lang="en-US" sz="1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27" name="Shape 2"/>
          <p:cNvSpPr/>
          <p:nvPr/>
        </p:nvSpPr>
        <p:spPr>
          <a:xfrm>
            <a:off x="548640" y="4297680"/>
            <a:ext cx="8046720" cy="45720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28" name="Shape 3"/>
          <p:cNvSpPr/>
          <p:nvPr/>
        </p:nvSpPr>
        <p:spPr>
          <a:xfrm>
            <a:off x="548640" y="4297680"/>
            <a:ext cx="45720" cy="457200"/>
          </a:xfrm>
          <a:prstGeom prst="rect">
            <a:avLst/>
          </a:prstGeom>
          <a:solidFill>
            <a:srgbClr val="D4A574"/>
          </a:solidFill>
        </p:spPr>
        <p:txBody>
          <a:bodyPr/>
          <a:p/>
        </p:txBody>
      </p:sp>
      <p:sp>
        <p:nvSpPr>
          <p:cNvPr id="329" name="Text 4"/>
          <p:cNvSpPr/>
          <p:nvPr/>
        </p:nvSpPr>
        <p:spPr>
          <a:xfrm>
            <a:off x="777240" y="4315968"/>
            <a:ext cx="758952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Web 版完整保留了 MVC 架构和全部业务规则，仅替换了前端呈现层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C"/>
        </a:solidFill>
        <a:effectLst/>
      </p:bgPr>
    </p:bg>
    <p:spTree>
      <p:nvGrpSpPr>
        <p:cNvPr id="33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Shape 0"/>
          <p:cNvSpPr/>
          <p:nvPr/>
        </p:nvSpPr>
        <p:spPr>
          <a:xfrm>
            <a:off x="548640" y="411480"/>
            <a:ext cx="64008" cy="502920"/>
          </a:xfrm>
          <a:prstGeom prst="rect">
            <a:avLst/>
          </a:prstGeom>
          <a:solidFill>
            <a:srgbClr val="D4A574"/>
          </a:solidFill>
        </p:spPr>
        <p:txBody>
          <a:bodyPr/>
          <a:p/>
        </p:txBody>
      </p:sp>
      <p:sp>
        <p:nvSpPr>
          <p:cNvPr id="332" name="Text 1"/>
          <p:cNvSpPr/>
          <p:nvPr/>
        </p:nvSpPr>
        <p:spPr>
          <a:xfrm>
            <a:off x="822960" y="365760"/>
            <a:ext cx="777240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Web 版设计理念</a:t>
            </a:r>
            <a:endParaRPr lang="en-US" sz="2800" dirty="0"/>
          </a:p>
        </p:txBody>
      </p:sp>
      <p:sp>
        <p:nvSpPr>
          <p:cNvPr id="333" name="Text 2"/>
          <p:cNvSpPr/>
          <p:nvPr/>
        </p:nvSpPr>
        <p:spPr>
          <a:xfrm>
            <a:off x="822960" y="365760"/>
            <a:ext cx="777240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5F0EB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Web 版设计理念</a:t>
            </a:r>
            <a:endParaRPr lang="en-US" sz="2800" dirty="0"/>
          </a:p>
        </p:txBody>
      </p:sp>
      <p:sp>
        <p:nvSpPr>
          <p:cNvPr id="334" name="Shape 3"/>
          <p:cNvSpPr/>
          <p:nvPr/>
        </p:nvSpPr>
        <p:spPr>
          <a:xfrm>
            <a:off x="548640" y="1051560"/>
            <a:ext cx="8046720" cy="530352"/>
          </a:xfrm>
          <a:prstGeom prst="rect">
            <a:avLst/>
          </a:prstGeom>
          <a:solidFill>
            <a:srgbClr val="1A1F30">
              <a:alpha val="60000"/>
            </a:srgbClr>
          </a:solidFill>
        </p:spPr>
        <p:txBody>
          <a:bodyPr/>
          <a:p/>
        </p:txBody>
      </p:sp>
      <p:sp>
        <p:nvSpPr>
          <p:cNvPr id="335" name="Shape 4"/>
          <p:cNvSpPr/>
          <p:nvPr/>
        </p:nvSpPr>
        <p:spPr>
          <a:xfrm>
            <a:off x="548640" y="1051560"/>
            <a:ext cx="45720" cy="530352"/>
          </a:xfrm>
          <a:prstGeom prst="rect">
            <a:avLst/>
          </a:prstGeom>
          <a:solidFill>
            <a:srgbClr val="D4A574"/>
          </a:solidFill>
        </p:spPr>
        <p:txBody>
          <a:bodyPr/>
          <a:p/>
        </p:txBody>
      </p:sp>
      <p:sp>
        <p:nvSpPr>
          <p:cNvPr id="336" name="Text 5"/>
          <p:cNvSpPr/>
          <p:nvPr/>
        </p:nvSpPr>
        <p:spPr>
          <a:xfrm>
            <a:off x="777240" y="1051560"/>
            <a:ext cx="2743200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D4A574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🎨  设计风格</a:t>
            </a:r>
            <a:endParaRPr lang="en-US" sz="1300" dirty="0"/>
          </a:p>
        </p:txBody>
      </p:sp>
      <p:sp>
        <p:nvSpPr>
          <p:cNvPr id="337" name="Text 6"/>
          <p:cNvSpPr/>
          <p:nvPr/>
        </p:nvSpPr>
        <p:spPr>
          <a:xfrm>
            <a:off x="3566160" y="1051560"/>
            <a:ext cx="4846320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5F0E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暗色奢华（Dark Luxury）主题，搭配金色点缀，传递安全、信任的专业银行氛围</a:t>
            </a:r>
            <a:endParaRPr lang="en-US" sz="1050" dirty="0"/>
          </a:p>
        </p:txBody>
      </p:sp>
      <p:sp>
        <p:nvSpPr>
          <p:cNvPr id="338" name="Shape 7"/>
          <p:cNvSpPr/>
          <p:nvPr/>
        </p:nvSpPr>
        <p:spPr>
          <a:xfrm>
            <a:off x="548640" y="1673352"/>
            <a:ext cx="8046720" cy="530352"/>
          </a:xfrm>
          <a:prstGeom prst="rect">
            <a:avLst/>
          </a:prstGeom>
          <a:solidFill>
            <a:srgbClr val="1A1F30">
              <a:alpha val="60000"/>
            </a:srgbClr>
          </a:solidFill>
        </p:spPr>
        <p:txBody>
          <a:bodyPr/>
          <a:p/>
        </p:txBody>
      </p:sp>
      <p:sp>
        <p:nvSpPr>
          <p:cNvPr id="339" name="Shape 8"/>
          <p:cNvSpPr/>
          <p:nvPr/>
        </p:nvSpPr>
        <p:spPr>
          <a:xfrm>
            <a:off x="548640" y="1673352"/>
            <a:ext cx="45720" cy="530352"/>
          </a:xfrm>
          <a:prstGeom prst="rect">
            <a:avLst/>
          </a:prstGeom>
          <a:solidFill>
            <a:srgbClr val="D4A574"/>
          </a:solidFill>
        </p:spPr>
        <p:txBody>
          <a:bodyPr/>
          <a:p/>
        </p:txBody>
      </p:sp>
      <p:sp>
        <p:nvSpPr>
          <p:cNvPr id="340" name="Text 9"/>
          <p:cNvSpPr/>
          <p:nvPr/>
        </p:nvSpPr>
        <p:spPr>
          <a:xfrm>
            <a:off x="777240" y="1673352"/>
            <a:ext cx="2743200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D4A574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🪟  毛玻璃效果</a:t>
            </a:r>
            <a:endParaRPr lang="en-US" sz="1300" dirty="0"/>
          </a:p>
        </p:txBody>
      </p:sp>
      <p:sp>
        <p:nvSpPr>
          <p:cNvPr id="341" name="Text 10"/>
          <p:cNvSpPr/>
          <p:nvPr/>
        </p:nvSpPr>
        <p:spPr>
          <a:xfrm>
            <a:off x="3566160" y="1673352"/>
            <a:ext cx="4846320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5F0E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backdrop-filter: blur(24px) + 半透明背景，营造层次感和现代感</a:t>
            </a:r>
            <a:endParaRPr lang="en-US" sz="1050" dirty="0"/>
          </a:p>
        </p:txBody>
      </p:sp>
      <p:sp>
        <p:nvSpPr>
          <p:cNvPr id="342" name="Shape 11"/>
          <p:cNvSpPr/>
          <p:nvPr/>
        </p:nvSpPr>
        <p:spPr>
          <a:xfrm>
            <a:off x="548640" y="2295144"/>
            <a:ext cx="8046720" cy="530352"/>
          </a:xfrm>
          <a:prstGeom prst="rect">
            <a:avLst/>
          </a:prstGeom>
          <a:solidFill>
            <a:srgbClr val="1A1F30">
              <a:alpha val="60000"/>
            </a:srgbClr>
          </a:solidFill>
        </p:spPr>
        <p:txBody>
          <a:bodyPr/>
          <a:p/>
        </p:txBody>
      </p:sp>
      <p:sp>
        <p:nvSpPr>
          <p:cNvPr id="343" name="Shape 12"/>
          <p:cNvSpPr/>
          <p:nvPr/>
        </p:nvSpPr>
        <p:spPr>
          <a:xfrm>
            <a:off x="548640" y="2295144"/>
            <a:ext cx="45720" cy="530352"/>
          </a:xfrm>
          <a:prstGeom prst="rect">
            <a:avLst/>
          </a:prstGeom>
          <a:solidFill>
            <a:srgbClr val="D4A574"/>
          </a:solidFill>
        </p:spPr>
        <p:txBody>
          <a:bodyPr/>
          <a:p/>
        </p:txBody>
      </p:sp>
      <p:sp>
        <p:nvSpPr>
          <p:cNvPr id="344" name="Text 13"/>
          <p:cNvSpPr/>
          <p:nvPr/>
        </p:nvSpPr>
        <p:spPr>
          <a:xfrm>
            <a:off x="777240" y="2295144"/>
            <a:ext cx="2743200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D4A574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✨  动态背景</a:t>
            </a:r>
            <a:endParaRPr lang="en-US" sz="1300" dirty="0"/>
          </a:p>
        </p:txBody>
      </p:sp>
      <p:sp>
        <p:nvSpPr>
          <p:cNvPr id="345" name="Text 14"/>
          <p:cNvSpPr/>
          <p:nvPr/>
        </p:nvSpPr>
        <p:spPr>
          <a:xfrm>
            <a:off x="3566160" y="2295144"/>
            <a:ext cx="4846320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5F0E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Canvas 2D 绘制 6 个浮动金色光晕，缓慢漂移，增加页面生命力</a:t>
            </a:r>
            <a:endParaRPr lang="en-US" sz="1050" dirty="0"/>
          </a:p>
        </p:txBody>
      </p:sp>
      <p:sp>
        <p:nvSpPr>
          <p:cNvPr id="346" name="Shape 15"/>
          <p:cNvSpPr/>
          <p:nvPr/>
        </p:nvSpPr>
        <p:spPr>
          <a:xfrm>
            <a:off x="548640" y="2916936"/>
            <a:ext cx="8046720" cy="530352"/>
          </a:xfrm>
          <a:prstGeom prst="rect">
            <a:avLst/>
          </a:prstGeom>
          <a:solidFill>
            <a:srgbClr val="1A1F30">
              <a:alpha val="60000"/>
            </a:srgbClr>
          </a:solidFill>
        </p:spPr>
        <p:txBody>
          <a:bodyPr/>
          <a:p/>
        </p:txBody>
      </p:sp>
      <p:sp>
        <p:nvSpPr>
          <p:cNvPr id="347" name="Shape 16"/>
          <p:cNvSpPr/>
          <p:nvPr/>
        </p:nvSpPr>
        <p:spPr>
          <a:xfrm>
            <a:off x="548640" y="2916936"/>
            <a:ext cx="45720" cy="530352"/>
          </a:xfrm>
          <a:prstGeom prst="rect">
            <a:avLst/>
          </a:prstGeom>
          <a:solidFill>
            <a:srgbClr val="D4A574"/>
          </a:solidFill>
        </p:spPr>
        <p:txBody>
          <a:bodyPr/>
          <a:p/>
        </p:txBody>
      </p:sp>
      <p:sp>
        <p:nvSpPr>
          <p:cNvPr id="348" name="Text 17"/>
          <p:cNvSpPr/>
          <p:nvPr/>
        </p:nvSpPr>
        <p:spPr>
          <a:xfrm>
            <a:off x="777240" y="2916936"/>
            <a:ext cx="2743200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D4A574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🔤  字体搭配</a:t>
            </a:r>
            <a:endParaRPr lang="en-US" sz="1300" dirty="0"/>
          </a:p>
        </p:txBody>
      </p:sp>
      <p:sp>
        <p:nvSpPr>
          <p:cNvPr id="349" name="Text 18"/>
          <p:cNvSpPr/>
          <p:nvPr/>
        </p:nvSpPr>
        <p:spPr>
          <a:xfrm>
            <a:off x="3566160" y="2916936"/>
            <a:ext cx="4846320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5F0E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Playfair Display（衬线标题）+ DM Sans（无衬线正文），英文字体在中英文混排中表现出色</a:t>
            </a:r>
            <a:endParaRPr lang="en-US" sz="1050" dirty="0"/>
          </a:p>
        </p:txBody>
      </p:sp>
      <p:sp>
        <p:nvSpPr>
          <p:cNvPr id="350" name="Shape 19"/>
          <p:cNvSpPr/>
          <p:nvPr/>
        </p:nvSpPr>
        <p:spPr>
          <a:xfrm>
            <a:off x="548640" y="3538728"/>
            <a:ext cx="8046720" cy="530352"/>
          </a:xfrm>
          <a:prstGeom prst="rect">
            <a:avLst/>
          </a:prstGeom>
          <a:solidFill>
            <a:srgbClr val="1A1F30">
              <a:alpha val="60000"/>
            </a:srgbClr>
          </a:solidFill>
        </p:spPr>
        <p:txBody>
          <a:bodyPr/>
          <a:p/>
        </p:txBody>
      </p:sp>
      <p:sp>
        <p:nvSpPr>
          <p:cNvPr id="351" name="Shape 20"/>
          <p:cNvSpPr/>
          <p:nvPr/>
        </p:nvSpPr>
        <p:spPr>
          <a:xfrm>
            <a:off x="548640" y="3538728"/>
            <a:ext cx="45720" cy="530352"/>
          </a:xfrm>
          <a:prstGeom prst="rect">
            <a:avLst/>
          </a:prstGeom>
          <a:solidFill>
            <a:srgbClr val="D4A574"/>
          </a:solidFill>
        </p:spPr>
        <p:txBody>
          <a:bodyPr/>
          <a:p/>
        </p:txBody>
      </p:sp>
      <p:sp>
        <p:nvSpPr>
          <p:cNvPr id="352" name="Text 21"/>
          <p:cNvSpPr/>
          <p:nvPr/>
        </p:nvSpPr>
        <p:spPr>
          <a:xfrm>
            <a:off x="777240" y="3538728"/>
            <a:ext cx="2743200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D4A574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🎬  页面切换</a:t>
            </a:r>
            <a:endParaRPr lang="en-US" sz="1300" dirty="0"/>
          </a:p>
        </p:txBody>
      </p:sp>
      <p:sp>
        <p:nvSpPr>
          <p:cNvPr id="353" name="Text 22"/>
          <p:cNvSpPr/>
          <p:nvPr/>
        </p:nvSpPr>
        <p:spPr>
          <a:xfrm>
            <a:off x="3566160" y="3538728"/>
            <a:ext cx="4846320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5F0E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CSS keyframes 实现 scale + translateY 入场动画，以及淡出退场效果</a:t>
            </a:r>
            <a:endParaRPr lang="en-US" sz="1050" dirty="0"/>
          </a:p>
        </p:txBody>
      </p:sp>
      <p:sp>
        <p:nvSpPr>
          <p:cNvPr id="354" name="Shape 23"/>
          <p:cNvSpPr/>
          <p:nvPr/>
        </p:nvSpPr>
        <p:spPr>
          <a:xfrm>
            <a:off x="548640" y="4160520"/>
            <a:ext cx="8046720" cy="530352"/>
          </a:xfrm>
          <a:prstGeom prst="rect">
            <a:avLst/>
          </a:prstGeom>
          <a:solidFill>
            <a:srgbClr val="1A1F30">
              <a:alpha val="60000"/>
            </a:srgbClr>
          </a:solidFill>
        </p:spPr>
        <p:txBody>
          <a:bodyPr/>
          <a:p/>
        </p:txBody>
      </p:sp>
      <p:sp>
        <p:nvSpPr>
          <p:cNvPr id="355" name="Shape 24"/>
          <p:cNvSpPr/>
          <p:nvPr/>
        </p:nvSpPr>
        <p:spPr>
          <a:xfrm>
            <a:off x="548640" y="4160520"/>
            <a:ext cx="45720" cy="530352"/>
          </a:xfrm>
          <a:prstGeom prst="rect">
            <a:avLst/>
          </a:prstGeom>
          <a:solidFill>
            <a:srgbClr val="D4A574"/>
          </a:solidFill>
        </p:spPr>
        <p:txBody>
          <a:bodyPr/>
          <a:p/>
        </p:txBody>
      </p:sp>
      <p:sp>
        <p:nvSpPr>
          <p:cNvPr id="356" name="Text 25"/>
          <p:cNvSpPr/>
          <p:nvPr/>
        </p:nvSpPr>
        <p:spPr>
          <a:xfrm>
            <a:off x="777240" y="4160520"/>
            <a:ext cx="2743200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D4A574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📱  响应式设计</a:t>
            </a:r>
            <a:endParaRPr lang="en-US" sz="1300" dirty="0"/>
          </a:p>
        </p:txBody>
      </p:sp>
      <p:sp>
        <p:nvSpPr>
          <p:cNvPr id="357" name="Text 26"/>
          <p:cNvSpPr/>
          <p:nvPr/>
        </p:nvSpPr>
        <p:spPr>
          <a:xfrm>
            <a:off x="3566160" y="4160520"/>
            <a:ext cx="4846320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5F0E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CSS @media 自适应手机和桌面，输入框和按钮在移动设备上同样可用</a:t>
            </a:r>
            <a:endParaRPr lang="en-US" sz="10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C"/>
        </a:solidFill>
        <a:effectLst/>
      </p:bgPr>
    </p:bg>
    <p:spTree>
      <p:nvGrpSpPr>
        <p:cNvPr id="35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Shape 0"/>
          <p:cNvSpPr/>
          <p:nvPr/>
        </p:nvSpPr>
        <p:spPr>
          <a:xfrm>
            <a:off x="6858000" y="-1371600"/>
            <a:ext cx="3657600" cy="3657600"/>
          </a:xfrm>
          <a:prstGeom prst="ellipse">
            <a:avLst/>
          </a:prstGeom>
          <a:solidFill>
            <a:srgbClr val="D4A574">
              <a:alpha val="8000"/>
            </a:srgbClr>
          </a:solidFill>
        </p:spPr>
        <p:txBody>
          <a:bodyPr/>
          <a:p/>
        </p:txBody>
      </p:sp>
      <p:sp>
        <p:nvSpPr>
          <p:cNvPr id="360" name="Shape 1"/>
          <p:cNvSpPr/>
          <p:nvPr/>
        </p:nvSpPr>
        <p:spPr>
          <a:xfrm>
            <a:off x="7772400" y="2743200"/>
            <a:ext cx="2743200" cy="2743200"/>
          </a:xfrm>
          <a:prstGeom prst="ellipse">
            <a:avLst/>
          </a:prstGeom>
          <a:solidFill>
            <a:srgbClr val="D4A574">
              <a:alpha val="10000"/>
            </a:srgbClr>
          </a:solidFill>
        </p:spPr>
        <p:txBody>
          <a:bodyPr/>
          <a:p/>
        </p:txBody>
      </p:sp>
      <p:sp>
        <p:nvSpPr>
          <p:cNvPr id="361" name="Text 2"/>
          <p:cNvSpPr/>
          <p:nvPr/>
        </p:nvSpPr>
        <p:spPr>
          <a:xfrm>
            <a:off x="731520" y="914400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D4A574"/>
                </a:solidFill>
              </a:rPr>
              <a:t>✦</a:t>
            </a:r>
            <a:endParaRPr lang="en-US" sz="2400" dirty="0"/>
          </a:p>
        </p:txBody>
      </p:sp>
      <p:sp>
        <p:nvSpPr>
          <p:cNvPr id="362" name="Text 3"/>
          <p:cNvSpPr/>
          <p:nvPr/>
        </p:nvSpPr>
        <p:spPr>
          <a:xfrm>
            <a:off x="731520" y="1554480"/>
            <a:ext cx="7680960" cy="914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3600" b="1" dirty="0">
                <a:solidFill>
                  <a:srgbClr val="D4A574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需求分析、用例模型、测试</a:t>
            </a:r>
            <a:endParaRPr lang="zh-CN" altLang="en-US" sz="3600" b="1" dirty="0">
              <a:solidFill>
                <a:srgbClr val="D4A574"/>
              </a:solidFill>
              <a:latin typeface="Georgia" panose="02040502050405020303" pitchFamily="34" charset="0"/>
              <a:ea typeface="Georgia" panose="02040502050405020303" pitchFamily="34" charset="-122"/>
              <a:cs typeface="Georgia" panose="02040502050405020303" pitchFamily="34" charset="-120"/>
            </a:endParaRPr>
          </a:p>
          <a:p>
            <a:pPr marL="0" indent="0">
              <a:buNone/>
            </a:pPr>
            <a:endParaRPr lang="zh-CN" altLang="en-US" sz="3600" b="1" dirty="0">
              <a:solidFill>
                <a:srgbClr val="D4A574"/>
              </a:solidFill>
              <a:latin typeface="Georgia" panose="02040502050405020303" pitchFamily="34" charset="0"/>
              <a:ea typeface="Georgia" panose="02040502050405020303" pitchFamily="34" charset="-122"/>
              <a:cs typeface="Georgia" panose="02040502050405020303" pitchFamily="34" charset="-120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36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Shape 0"/>
          <p:cNvSpPr/>
          <p:nvPr/>
        </p:nvSpPr>
        <p:spPr>
          <a:xfrm>
            <a:off x="548640" y="411480"/>
            <a:ext cx="64008" cy="502920"/>
          </a:xfrm>
          <a:prstGeom prst="rect">
            <a:avLst/>
          </a:prstGeom>
          <a:solidFill>
            <a:srgbClr val="D4A574"/>
          </a:solidFill>
        </p:spPr>
        <p:txBody>
          <a:bodyPr/>
          <a:p/>
        </p:txBody>
      </p:sp>
      <p:sp>
        <p:nvSpPr>
          <p:cNvPr id="365" name="Text 1"/>
          <p:cNvSpPr/>
          <p:nvPr/>
        </p:nvSpPr>
        <p:spPr>
          <a:xfrm>
            <a:off x="822960" y="365760"/>
            <a:ext cx="777240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测试策略与环境</a:t>
            </a:r>
            <a:endParaRPr lang="en-US" sz="2800" dirty="0"/>
          </a:p>
        </p:txBody>
      </p:sp>
      <p:sp>
        <p:nvSpPr>
          <p:cNvPr id="366" name="Shape 2"/>
          <p:cNvSpPr/>
          <p:nvPr/>
        </p:nvSpPr>
        <p:spPr>
          <a:xfrm>
            <a:off x="548640" y="1097280"/>
            <a:ext cx="3840480" cy="182880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67" name="Shape 3"/>
          <p:cNvSpPr/>
          <p:nvPr/>
        </p:nvSpPr>
        <p:spPr>
          <a:xfrm>
            <a:off x="548640" y="1097280"/>
            <a:ext cx="54864" cy="1828800"/>
          </a:xfrm>
          <a:prstGeom prst="rect">
            <a:avLst/>
          </a:prstGeom>
          <a:solidFill>
            <a:srgbClr val="1A73E8"/>
          </a:solidFill>
        </p:spPr>
        <p:txBody>
          <a:bodyPr/>
          <a:p/>
        </p:txBody>
      </p:sp>
      <p:sp>
        <p:nvSpPr>
          <p:cNvPr id="368" name="Text 4"/>
          <p:cNvSpPr/>
          <p:nvPr/>
        </p:nvSpPr>
        <p:spPr>
          <a:xfrm>
            <a:off x="777240" y="1234440"/>
            <a:ext cx="34747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测试环境</a:t>
            </a:r>
            <a:endParaRPr lang="en-US" sz="1400" dirty="0"/>
          </a:p>
        </p:txBody>
      </p:sp>
      <p:sp>
        <p:nvSpPr>
          <p:cNvPr id="369" name="Text 5"/>
          <p:cNvSpPr/>
          <p:nvPr/>
        </p:nvSpPr>
        <p:spPr>
          <a:xfrm>
            <a:off x="777240" y="1600200"/>
            <a:ext cx="11887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F3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操作系统</a:t>
            </a:r>
            <a:endParaRPr lang="en-US" sz="1100" dirty="0"/>
          </a:p>
        </p:txBody>
      </p:sp>
      <p:sp>
        <p:nvSpPr>
          <p:cNvPr id="370" name="Text 6"/>
          <p:cNvSpPr/>
          <p:nvPr/>
        </p:nvSpPr>
        <p:spPr>
          <a:xfrm>
            <a:off x="2011680" y="160020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Ubuntu 22.04 / Windows 11</a:t>
            </a:r>
            <a:endParaRPr lang="en-US" sz="1100" dirty="0"/>
          </a:p>
        </p:txBody>
      </p:sp>
      <p:sp>
        <p:nvSpPr>
          <p:cNvPr id="371" name="Text 7"/>
          <p:cNvSpPr/>
          <p:nvPr/>
        </p:nvSpPr>
        <p:spPr>
          <a:xfrm>
            <a:off x="777240" y="1892808"/>
            <a:ext cx="11887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F3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Python 版本</a:t>
            </a:r>
            <a:endParaRPr lang="en-US" sz="1100" dirty="0"/>
          </a:p>
        </p:txBody>
      </p:sp>
      <p:sp>
        <p:nvSpPr>
          <p:cNvPr id="372" name="Text 8"/>
          <p:cNvSpPr/>
          <p:nvPr/>
        </p:nvSpPr>
        <p:spPr>
          <a:xfrm>
            <a:off x="2011680" y="1892808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3.10+</a:t>
            </a:r>
            <a:endParaRPr lang="en-US" sz="1100" dirty="0"/>
          </a:p>
        </p:txBody>
      </p:sp>
      <p:sp>
        <p:nvSpPr>
          <p:cNvPr id="373" name="Text 9"/>
          <p:cNvSpPr/>
          <p:nvPr/>
        </p:nvSpPr>
        <p:spPr>
          <a:xfrm>
            <a:off x="777240" y="2185416"/>
            <a:ext cx="11887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F3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浏览器</a:t>
            </a:r>
            <a:endParaRPr lang="en-US" sz="1100" dirty="0"/>
          </a:p>
        </p:txBody>
      </p:sp>
      <p:sp>
        <p:nvSpPr>
          <p:cNvPr id="374" name="Text 10"/>
          <p:cNvSpPr/>
          <p:nvPr/>
        </p:nvSpPr>
        <p:spPr>
          <a:xfrm>
            <a:off x="2011680" y="2185416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Chrome 120+ / Edge 120+</a:t>
            </a:r>
            <a:endParaRPr lang="en-US" sz="1100" dirty="0"/>
          </a:p>
        </p:txBody>
      </p:sp>
      <p:sp>
        <p:nvSpPr>
          <p:cNvPr id="375" name="Text 11"/>
          <p:cNvSpPr/>
          <p:nvPr/>
        </p:nvSpPr>
        <p:spPr>
          <a:xfrm>
            <a:off x="777240" y="2478024"/>
            <a:ext cx="11887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F3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硬件</a:t>
            </a:r>
            <a:endParaRPr lang="en-US" sz="1100" dirty="0"/>
          </a:p>
        </p:txBody>
      </p:sp>
      <p:sp>
        <p:nvSpPr>
          <p:cNvPr id="376" name="Text 12"/>
          <p:cNvSpPr/>
          <p:nvPr/>
        </p:nvSpPr>
        <p:spPr>
          <a:xfrm>
            <a:off x="2011680" y="2478024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x86_64 架构</a:t>
            </a:r>
            <a:endParaRPr lang="en-US" sz="1100" dirty="0"/>
          </a:p>
        </p:txBody>
      </p:sp>
      <p:sp>
        <p:nvSpPr>
          <p:cNvPr id="377" name="Shape 13"/>
          <p:cNvSpPr/>
          <p:nvPr/>
        </p:nvSpPr>
        <p:spPr>
          <a:xfrm>
            <a:off x="4754880" y="1097280"/>
            <a:ext cx="3840480" cy="182880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78" name="Shape 14"/>
          <p:cNvSpPr/>
          <p:nvPr/>
        </p:nvSpPr>
        <p:spPr>
          <a:xfrm>
            <a:off x="4754880" y="1097280"/>
            <a:ext cx="54864" cy="1828800"/>
          </a:xfrm>
          <a:prstGeom prst="rect">
            <a:avLst/>
          </a:prstGeom>
          <a:solidFill>
            <a:srgbClr val="10B981"/>
          </a:solidFill>
        </p:spPr>
        <p:txBody>
          <a:bodyPr/>
          <a:p/>
        </p:txBody>
      </p:sp>
      <p:sp>
        <p:nvSpPr>
          <p:cNvPr id="379" name="Text 15"/>
          <p:cNvSpPr/>
          <p:nvPr/>
        </p:nvSpPr>
        <p:spPr>
          <a:xfrm>
            <a:off x="4983480" y="1234440"/>
            <a:ext cx="34747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测试策略</a:t>
            </a:r>
            <a:endParaRPr lang="en-US" sz="1400" dirty="0"/>
          </a:p>
        </p:txBody>
      </p:sp>
      <p:sp>
        <p:nvSpPr>
          <p:cNvPr id="380" name="Text 16"/>
          <p:cNvSpPr/>
          <p:nvPr/>
        </p:nvSpPr>
        <p:spPr>
          <a:xfrm>
            <a:off x="4983480" y="1600200"/>
            <a:ext cx="34747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功能测试：每个业务功能独立测试</a:t>
            </a:r>
            <a:endParaRPr lang="en-US" sz="1100" dirty="0"/>
          </a:p>
        </p:txBody>
      </p:sp>
      <p:sp>
        <p:nvSpPr>
          <p:cNvPr id="381" name="Text 17"/>
          <p:cNvSpPr/>
          <p:nvPr/>
        </p:nvSpPr>
        <p:spPr>
          <a:xfrm>
            <a:off x="4983480" y="1892808"/>
            <a:ext cx="34747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边界测试：覆盖所有业务规则的边界</a:t>
            </a:r>
            <a:endParaRPr lang="en-US" sz="1100" dirty="0"/>
          </a:p>
        </p:txBody>
      </p:sp>
      <p:sp>
        <p:nvSpPr>
          <p:cNvPr id="382" name="Text 18"/>
          <p:cNvSpPr/>
          <p:nvPr/>
        </p:nvSpPr>
        <p:spPr>
          <a:xfrm>
            <a:off x="4983480" y="2185416"/>
            <a:ext cx="34747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异常测试：非法输入、空值、负数等</a:t>
            </a:r>
            <a:endParaRPr lang="en-US" sz="1100" dirty="0"/>
          </a:p>
        </p:txBody>
      </p:sp>
      <p:sp>
        <p:nvSpPr>
          <p:cNvPr id="383" name="Text 19"/>
          <p:cNvSpPr/>
          <p:nvPr/>
        </p:nvSpPr>
        <p:spPr>
          <a:xfrm>
            <a:off x="4983480" y="2478024"/>
            <a:ext cx="34747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回归测试：Bug 修复后重新验证全用例</a:t>
            </a:r>
            <a:endParaRPr lang="en-US" sz="1100" dirty="0"/>
          </a:p>
        </p:txBody>
      </p:sp>
      <p:sp>
        <p:nvSpPr>
          <p:cNvPr id="384" name="Text 20"/>
          <p:cNvSpPr/>
          <p:nvPr/>
        </p:nvSpPr>
        <p:spPr>
          <a:xfrm>
            <a:off x="822960" y="320040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测试用例统计</a:t>
            </a:r>
            <a:endParaRPr lang="en-US" sz="1600" dirty="0"/>
          </a:p>
        </p:txBody>
      </p:sp>
      <p:sp>
        <p:nvSpPr>
          <p:cNvPr id="385" name="Shape 21"/>
          <p:cNvSpPr/>
          <p:nvPr/>
        </p:nvSpPr>
        <p:spPr>
          <a:xfrm>
            <a:off x="457200" y="3657600"/>
            <a:ext cx="1828800" cy="82296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86" name="Text 22"/>
          <p:cNvSpPr/>
          <p:nvPr/>
        </p:nvSpPr>
        <p:spPr>
          <a:xfrm>
            <a:off x="457200" y="3703320"/>
            <a:ext cx="18288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29</a:t>
            </a:r>
            <a:endParaRPr lang="en-US" sz="2800" dirty="0"/>
          </a:p>
        </p:txBody>
      </p:sp>
      <p:sp>
        <p:nvSpPr>
          <p:cNvPr id="387" name="Text 23"/>
          <p:cNvSpPr/>
          <p:nvPr/>
        </p:nvSpPr>
        <p:spPr>
          <a:xfrm>
            <a:off x="457200" y="4114800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测试用例总数</a:t>
            </a:r>
            <a:endParaRPr lang="en-US" sz="1100" dirty="0"/>
          </a:p>
        </p:txBody>
      </p:sp>
      <p:sp>
        <p:nvSpPr>
          <p:cNvPr id="388" name="Shape 24"/>
          <p:cNvSpPr/>
          <p:nvPr/>
        </p:nvSpPr>
        <p:spPr>
          <a:xfrm>
            <a:off x="2651760" y="3657600"/>
            <a:ext cx="1828800" cy="82296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89" name="Text 25"/>
          <p:cNvSpPr/>
          <p:nvPr/>
        </p:nvSpPr>
        <p:spPr>
          <a:xfrm>
            <a:off x="2651760" y="3703320"/>
            <a:ext cx="18288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29</a:t>
            </a:r>
            <a:endParaRPr lang="en-US" sz="2800" dirty="0"/>
          </a:p>
        </p:txBody>
      </p:sp>
      <p:sp>
        <p:nvSpPr>
          <p:cNvPr id="390" name="Text 26"/>
          <p:cNvSpPr/>
          <p:nvPr/>
        </p:nvSpPr>
        <p:spPr>
          <a:xfrm>
            <a:off x="2651760" y="4114800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通过</a:t>
            </a:r>
            <a:endParaRPr lang="en-US" sz="1100" dirty="0"/>
          </a:p>
        </p:txBody>
      </p:sp>
      <p:sp>
        <p:nvSpPr>
          <p:cNvPr id="391" name="Shape 27"/>
          <p:cNvSpPr/>
          <p:nvPr/>
        </p:nvSpPr>
        <p:spPr>
          <a:xfrm>
            <a:off x="4846320" y="3657600"/>
            <a:ext cx="1828800" cy="82296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92" name="Text 28"/>
          <p:cNvSpPr/>
          <p:nvPr/>
        </p:nvSpPr>
        <p:spPr>
          <a:xfrm>
            <a:off x="4846320" y="3703320"/>
            <a:ext cx="18288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0</a:t>
            </a:r>
            <a:endParaRPr lang="en-US" sz="2800" dirty="0"/>
          </a:p>
        </p:txBody>
      </p:sp>
      <p:sp>
        <p:nvSpPr>
          <p:cNvPr id="393" name="Text 29"/>
          <p:cNvSpPr/>
          <p:nvPr/>
        </p:nvSpPr>
        <p:spPr>
          <a:xfrm>
            <a:off x="4846320" y="4114800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失败</a:t>
            </a:r>
            <a:endParaRPr lang="en-US" sz="1100" dirty="0"/>
          </a:p>
        </p:txBody>
      </p:sp>
      <p:sp>
        <p:nvSpPr>
          <p:cNvPr id="394" name="Shape 30"/>
          <p:cNvSpPr/>
          <p:nvPr/>
        </p:nvSpPr>
        <p:spPr>
          <a:xfrm>
            <a:off x="7040880" y="3657600"/>
            <a:ext cx="1828800" cy="822960"/>
          </a:xfrm>
          <a:prstGeom prst="rect">
            <a:avLst/>
          </a:prstGeom>
          <a:solidFill>
            <a:srgbClr val="10B981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95" name="Text 31"/>
          <p:cNvSpPr/>
          <p:nvPr/>
        </p:nvSpPr>
        <p:spPr>
          <a:xfrm>
            <a:off x="7040880" y="3703320"/>
            <a:ext cx="18288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100%</a:t>
            </a:r>
            <a:endParaRPr lang="en-US" sz="2800" dirty="0"/>
          </a:p>
        </p:txBody>
      </p:sp>
      <p:sp>
        <p:nvSpPr>
          <p:cNvPr id="396" name="Text 32"/>
          <p:cNvSpPr/>
          <p:nvPr/>
        </p:nvSpPr>
        <p:spPr>
          <a:xfrm>
            <a:off x="7040880" y="4114800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通过率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B"/>
        </a:solidFill>
        <a:effectLst/>
      </p:bgPr>
    </p:bg>
    <p:spTree>
      <p:nvGrpSpPr>
        <p:cNvPr id="39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Shape 0"/>
          <p:cNvSpPr/>
          <p:nvPr/>
        </p:nvSpPr>
        <p:spPr>
          <a:xfrm>
            <a:off x="548640" y="411480"/>
            <a:ext cx="64008" cy="502920"/>
          </a:xfrm>
          <a:prstGeom prst="rect">
            <a:avLst/>
          </a:prstGeom>
          <a:solidFill>
            <a:srgbClr val="D4A574"/>
          </a:solidFill>
        </p:spPr>
        <p:txBody>
          <a:bodyPr/>
          <a:p/>
        </p:txBody>
      </p:sp>
      <p:sp>
        <p:nvSpPr>
          <p:cNvPr id="399" name="Text 1"/>
          <p:cNvSpPr/>
          <p:nvPr/>
        </p:nvSpPr>
        <p:spPr>
          <a:xfrm>
            <a:off x="822960" y="365760"/>
            <a:ext cx="777240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测试用例与结果</a:t>
            </a:r>
            <a:endParaRPr lang="en-US" sz="2800" dirty="0"/>
          </a:p>
        </p:txBody>
      </p:sp>
      <p:graphicFrame>
        <p:nvGraphicFramePr>
          <p:cNvPr id="400" name="Table 0"/>
          <p:cNvGraphicFramePr/>
          <p:nvPr/>
        </p:nvGraphicFramePr>
        <p:xfrm>
          <a:off x="365760" y="1005840"/>
          <a:ext cx="8412480" cy="3337560"/>
        </p:xfrm>
        <a:graphic>
          <a:graphicData uri="http://schemas.openxmlformats.org/drawingml/2006/table">
            <a:tbl>
              <a:tblPr/>
              <a:tblGrid>
                <a:gridCol w="640080"/>
                <a:gridCol w="1188720"/>
                <a:gridCol w="1828800"/>
                <a:gridCol w="2286000"/>
                <a:gridCol w="457200"/>
              </a:tblGrid>
              <a:tr h="3200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编号</a:t>
                      </a:r>
                      <a:endParaRPr lang="en-US" sz="95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测试用例</a:t>
                      </a:r>
                      <a:endParaRPr lang="en-US" sz="95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输入</a:t>
                      </a:r>
                      <a:endParaRPr lang="en-US" sz="95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预期结果</a:t>
                      </a:r>
                      <a:endParaRPr lang="en-US" sz="95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结果</a:t>
                      </a:r>
                      <a:endParaRPr lang="en-US" sz="95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TC01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正确登录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123456/123456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进入主菜单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✅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TC02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错误密码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123456/000000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提示错误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✅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TC05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合法取款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1000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扣减余额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✅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TC06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非100倍数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250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提示错误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✅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TC07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超5000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6000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提示上限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✅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TC08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余额不足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余额100取200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提示拒绝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✅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TC10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合法存款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2000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增加余额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✅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TC11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负数存款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-500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提示错误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✅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TC13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正常改密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旧/新/确认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修改成功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✅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TC14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旧密码错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旧密码错误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提示错误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✅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TC17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全相同字符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111111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提示拒绝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✅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01" name="Text 2"/>
          <p:cNvSpPr/>
          <p:nvPr/>
        </p:nvSpPr>
        <p:spPr>
          <a:xfrm>
            <a:off x="365760" y="4389120"/>
            <a:ext cx="84124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0B98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全部 29个测试用例通过，通过率 100%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B"/>
        </a:solidFill>
        <a:effectLst/>
      </p:bgPr>
    </p:bg>
    <p:spTree>
      <p:nvGrpSpPr>
        <p:cNvPr id="40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Shape 0"/>
          <p:cNvSpPr/>
          <p:nvPr/>
        </p:nvSpPr>
        <p:spPr>
          <a:xfrm>
            <a:off x="548640" y="411480"/>
            <a:ext cx="64008" cy="502920"/>
          </a:xfrm>
          <a:prstGeom prst="rect">
            <a:avLst/>
          </a:prstGeom>
          <a:solidFill>
            <a:srgbClr val="D4A574"/>
          </a:solidFill>
        </p:spPr>
        <p:txBody>
          <a:bodyPr/>
          <a:p/>
        </p:txBody>
      </p:sp>
      <p:sp>
        <p:nvSpPr>
          <p:cNvPr id="404" name="Text 1"/>
          <p:cNvSpPr/>
          <p:nvPr/>
        </p:nvSpPr>
        <p:spPr>
          <a:xfrm>
            <a:off x="822960" y="365760"/>
            <a:ext cx="777240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测试用例与结果</a:t>
            </a:r>
            <a:endParaRPr lang="en-US" sz="2800" dirty="0"/>
          </a:p>
        </p:txBody>
      </p:sp>
      <p:graphicFrame>
        <p:nvGraphicFramePr>
          <p:cNvPr id="405" name="Table 0"/>
          <p:cNvGraphicFramePr/>
          <p:nvPr/>
        </p:nvGraphicFramePr>
        <p:xfrm>
          <a:off x="365760" y="1005840"/>
          <a:ext cx="8412480" cy="13798550"/>
        </p:xfrm>
        <a:graphic>
          <a:graphicData uri="http://schemas.openxmlformats.org/drawingml/2006/table">
            <a:tbl>
              <a:tblPr/>
              <a:tblGrid>
                <a:gridCol w="640080"/>
                <a:gridCol w="1188720"/>
                <a:gridCol w="1828800"/>
                <a:gridCol w="2286000"/>
                <a:gridCol w="457200"/>
              </a:tblGrid>
              <a:tr h="3200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编号</a:t>
                      </a:r>
                      <a:endParaRPr lang="en-US" sz="95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测试用例</a:t>
                      </a:r>
                      <a:endParaRPr lang="en-US" sz="95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输入</a:t>
                      </a:r>
                      <a:endParaRPr lang="en-US" sz="95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预期结果</a:t>
                      </a:r>
                      <a:endParaRPr lang="en-US" sz="95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结果</a:t>
                      </a:r>
                      <a:endParaRPr lang="en-US" sz="95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chemeClr val="tx1">
                              <a:alpha val="100000"/>
                            </a:schemeClr>
                          </a:solidFill>
                          <a:latin typeface="Calibri" panose="020F0502020204030204"/>
                          <a:ea typeface="Calibri" panose="020F0502020204030204"/>
                          <a:cs typeface="+mn-cs"/>
                        </a:rPr>
                        <a:t>TC18</a:t>
                      </a:r>
                      <a:endParaRPr sz="900">
                        <a:solidFill>
                          <a:schemeClr val="tx1">
                            <a:alpha val="100000"/>
                          </a:schemeClr>
                        </a:solidFill>
                        <a:latin typeface="Calibri" panose="020F0502020204030204"/>
                        <a:ea typeface="Calibri" panose="020F0502020204030204"/>
                        <a:cs typeface="+mn-cs"/>
                      </a:endParaRPr>
                    </a:p>
                  </a:txBody>
                  <a:tcPr anchor="ctr">
                    <a:lnL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6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chemeClr val="tx1">
                              <a:alpha val="100000"/>
                            </a:schemeClr>
                          </a:solidFill>
                          <a:latin typeface="Calibri" panose="020F0502020204030204"/>
                          <a:ea typeface="Calibri" panose="020F0502020204030204"/>
                          <a:cs typeface="+mn-cs"/>
                        </a:rPr>
                        <a:t>合法转账</a:t>
                      </a:r>
                      <a:endParaRPr sz="900">
                        <a:solidFill>
                          <a:schemeClr val="tx1">
                            <a:alpha val="100000"/>
                          </a:schemeClr>
                        </a:solidFill>
                        <a:latin typeface="Calibri" panose="020F0502020204030204"/>
                        <a:ea typeface="Calibri" panose="020F0502020204030204"/>
                        <a:cs typeface="+mn-cs"/>
                      </a:endParaRPr>
                    </a:p>
                  </a:txBody>
                  <a:tcPr anchor="ctr">
                    <a:lnL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6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chemeClr val="tx1">
                              <a:alpha val="100000"/>
                            </a:schemeClr>
                          </a:solidFill>
                          <a:latin typeface="Calibri" panose="020F0502020204030204"/>
                          <a:ea typeface="Calibri" panose="020F0502020204030204"/>
                          <a:cs typeface="+mn-cs"/>
                        </a:rPr>
                        <a:t>1000 到新账户</a:t>
                      </a:r>
                      <a:endParaRPr sz="900">
                        <a:solidFill>
                          <a:schemeClr val="tx1">
                            <a:alpha val="100000"/>
                          </a:schemeClr>
                        </a:solidFill>
                        <a:latin typeface="Calibri" panose="020F0502020204030204"/>
                        <a:ea typeface="Calibri" panose="020F0502020204030204"/>
                        <a:cs typeface="+mn-cs"/>
                      </a:endParaRPr>
                    </a:p>
                  </a:txBody>
                  <a:tcPr anchor="ctr">
                    <a:lnL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6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chemeClr val="tx1">
                              <a:alpha val="100000"/>
                            </a:schemeClr>
                          </a:solidFill>
                          <a:latin typeface="Calibri" panose="020F0502020204030204"/>
                          <a:ea typeface="Calibri" panose="020F0502020204030204"/>
                          <a:cs typeface="+mn-cs"/>
                        </a:rPr>
                        <a:t>双方余额变动</a:t>
                      </a:r>
                      <a:endParaRPr sz="900">
                        <a:solidFill>
                          <a:schemeClr val="tx1">
                            <a:alpha val="100000"/>
                          </a:schemeClr>
                        </a:solidFill>
                        <a:latin typeface="Calibri" panose="020F0502020204030204"/>
                        <a:ea typeface="Calibri" panose="020F0502020204030204"/>
                        <a:cs typeface="+mn-cs"/>
                      </a:endParaRPr>
                    </a:p>
                  </a:txBody>
                  <a:tcPr anchor="ctr">
                    <a:lnL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6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chemeClr val="tx1">
                              <a:alpha val="100000"/>
                            </a:schemeClr>
                          </a:solidFill>
                          <a:latin typeface="Calibri" panose="020F0502020204030204"/>
                          <a:ea typeface="Calibri" panose="020F0502020204030204"/>
                          <a:cs typeface="+mn-cs"/>
                        </a:rPr>
                        <a:t>✅</a:t>
                      </a:r>
                      <a:endParaRPr sz="900">
                        <a:solidFill>
                          <a:schemeClr val="tx1">
                            <a:alpha val="100000"/>
                          </a:schemeClr>
                        </a:solidFill>
                        <a:latin typeface="Calibri" panose="020F0502020204030204"/>
                        <a:ea typeface="Calibri" panose="020F0502020204030204"/>
                        <a:cs typeface="+mn-cs"/>
                      </a:endParaRPr>
                    </a:p>
                  </a:txBody>
                  <a:tcPr anchor="ctr">
                    <a:lnL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6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chemeClr val="tx1">
                              <a:alpha val="100000"/>
                            </a:schemeClr>
                          </a:solidFill>
                          <a:latin typeface="Calibri" panose="020F0502020204030204"/>
                          <a:ea typeface="Calibri" panose="020F0502020204030204"/>
                          <a:cs typeface="+mn-cs"/>
                        </a:rPr>
                        <a:t>TC19</a:t>
                      </a:r>
                      <a:endParaRPr sz="900">
                        <a:solidFill>
                          <a:schemeClr val="tx1">
                            <a:alpha val="100000"/>
                          </a:schemeClr>
                        </a:solidFill>
                        <a:latin typeface="Calibri" panose="020F0502020204030204"/>
                        <a:ea typeface="Calibri" panose="020F0502020204030204"/>
                        <a:cs typeface="+mn-cs"/>
                      </a:endParaRPr>
                    </a:p>
                  </a:txBody>
                  <a:tcPr anchor="ctr">
                    <a:lnL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6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chemeClr val="tx1">
                              <a:alpha val="100000"/>
                            </a:schemeClr>
                          </a:solidFill>
                          <a:latin typeface="Calibri" panose="020F0502020204030204"/>
                          <a:ea typeface="Calibri" panose="020F0502020204030204"/>
                          <a:cs typeface="+mn-cs"/>
                        </a:rPr>
                        <a:t>非100倍数</a:t>
                      </a:r>
                      <a:endParaRPr sz="900">
                        <a:solidFill>
                          <a:schemeClr val="tx1">
                            <a:alpha val="100000"/>
                          </a:schemeClr>
                        </a:solidFill>
                        <a:latin typeface="Calibri" panose="020F0502020204030204"/>
                        <a:ea typeface="Calibri" panose="020F0502020204030204"/>
                        <a:cs typeface="+mn-cs"/>
                      </a:endParaRPr>
                    </a:p>
                  </a:txBody>
                  <a:tcPr anchor="ctr">
                    <a:lnL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6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chemeClr val="tx1">
                              <a:alpha val="100000"/>
                            </a:schemeClr>
                          </a:solidFill>
                          <a:latin typeface="Calibri" panose="020F0502020204030204"/>
                          <a:ea typeface="Calibri" panose="020F0502020204030204"/>
                          <a:cs typeface="+mn-cs"/>
                        </a:rPr>
                        <a:t>250</a:t>
                      </a:r>
                      <a:endParaRPr sz="900">
                        <a:solidFill>
                          <a:schemeClr val="tx1">
                            <a:alpha val="100000"/>
                          </a:schemeClr>
                        </a:solidFill>
                        <a:latin typeface="Calibri" panose="020F0502020204030204"/>
                        <a:ea typeface="Calibri" panose="020F0502020204030204"/>
                        <a:cs typeface="+mn-cs"/>
                      </a:endParaRPr>
                    </a:p>
                  </a:txBody>
                  <a:tcPr anchor="ctr">
                    <a:lnL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6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chemeClr val="tx1">
                              <a:alpha val="100000"/>
                            </a:schemeClr>
                          </a:solidFill>
                          <a:latin typeface="Calibri" panose="020F0502020204030204"/>
                          <a:ea typeface="Calibri" panose="020F0502020204030204"/>
                          <a:cs typeface="+mn-cs"/>
                        </a:rPr>
                        <a:t>提示错误</a:t>
                      </a:r>
                      <a:endParaRPr sz="900">
                        <a:solidFill>
                          <a:schemeClr val="tx1">
                            <a:alpha val="100000"/>
                          </a:schemeClr>
                        </a:solidFill>
                        <a:latin typeface="Calibri" panose="020F0502020204030204"/>
                        <a:ea typeface="Calibri" panose="020F0502020204030204"/>
                        <a:cs typeface="+mn-cs"/>
                      </a:endParaRPr>
                    </a:p>
                  </a:txBody>
                  <a:tcPr anchor="ctr">
                    <a:lnL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6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chemeClr val="tx1">
                              <a:alpha val="100000"/>
                            </a:schemeClr>
                          </a:solidFill>
                          <a:latin typeface="Calibri" panose="020F0502020204030204"/>
                          <a:ea typeface="Calibri" panose="020F0502020204030204"/>
                          <a:cs typeface="+mn-cs"/>
                        </a:rPr>
                        <a:t>✅</a:t>
                      </a:r>
                      <a:endParaRPr sz="900">
                        <a:solidFill>
                          <a:schemeClr val="tx1">
                            <a:alpha val="100000"/>
                          </a:schemeClr>
                        </a:solidFill>
                        <a:latin typeface="Calibri" panose="020F0502020204030204"/>
                        <a:ea typeface="Calibri" panose="020F0502020204030204"/>
                        <a:cs typeface="+mn-cs"/>
                      </a:endParaRPr>
                    </a:p>
                  </a:txBody>
                  <a:tcPr anchor="ctr">
                    <a:lnL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6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chemeClr val="tx1">
                              <a:alpha val="100000"/>
                            </a:schemeClr>
                          </a:solidFill>
                          <a:latin typeface="Calibri" panose="020F0502020204030204"/>
                          <a:ea typeface="Calibri" panose="020F0502020204030204"/>
                          <a:cs typeface="+mn-cs"/>
                        </a:rPr>
                        <a:t>TC20</a:t>
                      </a:r>
                      <a:endParaRPr sz="900">
                        <a:solidFill>
                          <a:schemeClr val="tx1">
                            <a:alpha val="100000"/>
                          </a:schemeClr>
                        </a:solidFill>
                        <a:latin typeface="Calibri" panose="020F0502020204030204"/>
                        <a:ea typeface="Calibri" panose="020F0502020204030204"/>
                        <a:cs typeface="+mn-cs"/>
                      </a:endParaRPr>
                    </a:p>
                  </a:txBody>
                  <a:tcPr anchor="ctr">
                    <a:lnL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6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chemeClr val="tx1">
                              <a:alpha val="100000"/>
                            </a:schemeClr>
                          </a:solidFill>
                          <a:latin typeface="Calibri" panose="020F0502020204030204"/>
                          <a:ea typeface="Calibri" panose="020F0502020204030204"/>
                          <a:cs typeface="+mn-cs"/>
                        </a:rPr>
                        <a:t>超5000</a:t>
                      </a:r>
                      <a:endParaRPr sz="900">
                        <a:solidFill>
                          <a:schemeClr val="tx1">
                            <a:alpha val="100000"/>
                          </a:schemeClr>
                        </a:solidFill>
                        <a:latin typeface="Calibri" panose="020F0502020204030204"/>
                        <a:ea typeface="Calibri" panose="020F0502020204030204"/>
                        <a:cs typeface="+mn-cs"/>
                      </a:endParaRPr>
                    </a:p>
                  </a:txBody>
                  <a:tcPr anchor="ctr">
                    <a:lnL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6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chemeClr val="tx1">
                              <a:alpha val="100000"/>
                            </a:schemeClr>
                          </a:solidFill>
                          <a:latin typeface="Calibri" panose="020F0502020204030204"/>
                          <a:ea typeface="Calibri" panose="020F0502020204030204"/>
                          <a:cs typeface="+mn-cs"/>
                        </a:rPr>
                        <a:t>6000</a:t>
                      </a:r>
                      <a:endParaRPr sz="900">
                        <a:solidFill>
                          <a:schemeClr val="tx1">
                            <a:alpha val="100000"/>
                          </a:schemeClr>
                        </a:solidFill>
                        <a:latin typeface="Calibri" panose="020F0502020204030204"/>
                        <a:ea typeface="Calibri" panose="020F0502020204030204"/>
                        <a:cs typeface="+mn-cs"/>
                      </a:endParaRPr>
                    </a:p>
                  </a:txBody>
                  <a:tcPr anchor="ctr">
                    <a:lnL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6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chemeClr val="tx1">
                              <a:alpha val="100000"/>
                            </a:schemeClr>
                          </a:solidFill>
                          <a:latin typeface="Calibri" panose="020F0502020204030204"/>
                          <a:ea typeface="Calibri" panose="020F0502020204030204"/>
                          <a:cs typeface="+mn-cs"/>
                        </a:rPr>
                        <a:t>提示上限</a:t>
                      </a:r>
                      <a:endParaRPr sz="900">
                        <a:solidFill>
                          <a:schemeClr val="tx1">
                            <a:alpha val="100000"/>
                          </a:schemeClr>
                        </a:solidFill>
                        <a:latin typeface="Calibri" panose="020F0502020204030204"/>
                        <a:ea typeface="Calibri" panose="020F0502020204030204"/>
                        <a:cs typeface="+mn-cs"/>
                      </a:endParaRPr>
                    </a:p>
                  </a:txBody>
                  <a:tcPr anchor="ctr">
                    <a:lnL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6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chemeClr val="tx1">
                              <a:alpha val="100000"/>
                            </a:schemeClr>
                          </a:solidFill>
                          <a:latin typeface="Calibri" panose="020F0502020204030204"/>
                          <a:ea typeface="Calibri" panose="020F0502020204030204"/>
                          <a:cs typeface="+mn-cs"/>
                        </a:rPr>
                        <a:t>✅</a:t>
                      </a:r>
                      <a:endParaRPr sz="900">
                        <a:solidFill>
                          <a:schemeClr val="tx1">
                            <a:alpha val="100000"/>
                          </a:schemeClr>
                        </a:solidFill>
                        <a:latin typeface="Calibri" panose="020F0502020204030204"/>
                        <a:ea typeface="Calibri" panose="020F0502020204030204"/>
                        <a:cs typeface="+mn-cs"/>
                      </a:endParaRPr>
                    </a:p>
                  </a:txBody>
                  <a:tcPr anchor="ctr">
                    <a:lnL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6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chemeClr val="tx1">
                              <a:alpha val="100000"/>
                            </a:schemeClr>
                          </a:solidFill>
                          <a:latin typeface="Calibri" panose="020F0502020204030204"/>
                          <a:ea typeface="Calibri" panose="020F0502020204030204"/>
                          <a:cs typeface="+mn-cs"/>
                        </a:rPr>
                        <a:t>TC21</a:t>
                      </a:r>
                      <a:endParaRPr sz="900">
                        <a:solidFill>
                          <a:schemeClr val="tx1">
                            <a:alpha val="100000"/>
                          </a:schemeClr>
                        </a:solidFill>
                        <a:latin typeface="Calibri" panose="020F0502020204030204"/>
                        <a:ea typeface="Calibri" panose="020F0502020204030204"/>
                        <a:cs typeface="+mn-cs"/>
                      </a:endParaRPr>
                    </a:p>
                  </a:txBody>
                  <a:tcPr anchor="ctr">
                    <a:lnL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6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chemeClr val="tx1">
                              <a:alpha val="100000"/>
                            </a:schemeClr>
                          </a:solidFill>
                          <a:latin typeface="Calibri" panose="020F0502020204030204"/>
                          <a:ea typeface="Calibri" panose="020F0502020204030204"/>
                          <a:cs typeface="+mn-cs"/>
                        </a:rPr>
                        <a:t>余额不足</a:t>
                      </a:r>
                      <a:endParaRPr sz="900">
                        <a:solidFill>
                          <a:schemeClr val="tx1">
                            <a:alpha val="100000"/>
                          </a:schemeClr>
                        </a:solidFill>
                        <a:latin typeface="Calibri" panose="020F0502020204030204"/>
                        <a:ea typeface="Calibri" panose="020F0502020204030204"/>
                        <a:cs typeface="+mn-cs"/>
                      </a:endParaRPr>
                    </a:p>
                  </a:txBody>
                  <a:tcPr anchor="ctr">
                    <a:lnL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6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chemeClr val="tx1">
                              <a:alpha val="100000"/>
                            </a:schemeClr>
                          </a:solidFill>
                          <a:latin typeface="Calibri" panose="020F0502020204030204"/>
                          <a:ea typeface="Calibri" panose="020F0502020204030204"/>
                          <a:cs typeface="+mn-cs"/>
                        </a:rPr>
                        <a:t>超额转账</a:t>
                      </a:r>
                      <a:endParaRPr sz="900">
                        <a:solidFill>
                          <a:schemeClr val="tx1">
                            <a:alpha val="100000"/>
                          </a:schemeClr>
                        </a:solidFill>
                        <a:latin typeface="Calibri" panose="020F0502020204030204"/>
                        <a:ea typeface="Calibri" panose="020F0502020204030204"/>
                        <a:cs typeface="+mn-cs"/>
                      </a:endParaRPr>
                    </a:p>
                  </a:txBody>
                  <a:tcPr anchor="ctr">
                    <a:lnL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6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chemeClr val="tx1">
                              <a:alpha val="100000"/>
                            </a:schemeClr>
                          </a:solidFill>
                          <a:latin typeface="Calibri" panose="020F0502020204030204"/>
                          <a:ea typeface="Calibri" panose="020F0502020204030204"/>
                          <a:cs typeface="+mn-cs"/>
                        </a:rPr>
                        <a:t>提示拒绝</a:t>
                      </a:r>
                      <a:endParaRPr sz="900">
                        <a:solidFill>
                          <a:schemeClr val="tx1">
                            <a:alpha val="100000"/>
                          </a:schemeClr>
                        </a:solidFill>
                        <a:latin typeface="Calibri" panose="020F0502020204030204"/>
                        <a:ea typeface="Calibri" panose="020F0502020204030204"/>
                        <a:cs typeface="+mn-cs"/>
                      </a:endParaRPr>
                    </a:p>
                  </a:txBody>
                  <a:tcPr anchor="ctr">
                    <a:lnL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6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chemeClr val="tx1">
                              <a:alpha val="100000"/>
                            </a:schemeClr>
                          </a:solidFill>
                          <a:latin typeface="Calibri" panose="020F0502020204030204"/>
                          <a:ea typeface="Calibri" panose="020F0502020204030204"/>
                          <a:cs typeface="+mn-cs"/>
                        </a:rPr>
                        <a:t>✅</a:t>
                      </a:r>
                      <a:endParaRPr sz="900">
                        <a:solidFill>
                          <a:schemeClr val="tx1">
                            <a:alpha val="100000"/>
                          </a:schemeClr>
                        </a:solidFill>
                        <a:latin typeface="Calibri" panose="020F0502020204030204"/>
                        <a:ea typeface="Calibri" panose="020F0502020204030204"/>
                        <a:cs typeface="+mn-cs"/>
                      </a:endParaRPr>
                    </a:p>
                  </a:txBody>
                  <a:tcPr anchor="ctr">
                    <a:lnL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6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chemeClr val="tx1">
                              <a:alpha val="100000"/>
                            </a:schemeClr>
                          </a:solidFill>
                          <a:latin typeface="Calibri" panose="020F0502020204030204"/>
                          <a:ea typeface="Calibri" panose="020F0502020204030204"/>
                          <a:cs typeface="+mn-cs"/>
                        </a:rPr>
                        <a:t>TC22</a:t>
                      </a:r>
                      <a:endParaRPr sz="900">
                        <a:solidFill>
                          <a:schemeClr val="tx1">
                            <a:alpha val="100000"/>
                          </a:schemeClr>
                        </a:solidFill>
                        <a:latin typeface="Calibri" panose="020F0502020204030204"/>
                        <a:ea typeface="Calibri" panose="020F0502020204030204"/>
                        <a:cs typeface="+mn-cs"/>
                      </a:endParaRPr>
                    </a:p>
                  </a:txBody>
                  <a:tcPr anchor="ctr">
                    <a:lnL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6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chemeClr val="tx1">
                              <a:alpha val="100000"/>
                            </a:schemeClr>
                          </a:solidFill>
                          <a:latin typeface="Calibri" panose="020F0502020204030204"/>
                          <a:ea typeface="Calibri" panose="020F0502020204030204"/>
                          <a:cs typeface="+mn-cs"/>
                        </a:rPr>
                        <a:t>转给自己</a:t>
                      </a:r>
                      <a:endParaRPr sz="900">
                        <a:solidFill>
                          <a:schemeClr val="tx1">
                            <a:alpha val="100000"/>
                          </a:schemeClr>
                        </a:solidFill>
                        <a:latin typeface="Calibri" panose="020F0502020204030204"/>
                        <a:ea typeface="Calibri" panose="020F0502020204030204"/>
                        <a:cs typeface="+mn-cs"/>
                      </a:endParaRPr>
                    </a:p>
                  </a:txBody>
                  <a:tcPr anchor="ctr">
                    <a:lnL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6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chemeClr val="tx1">
                              <a:alpha val="100000"/>
                            </a:schemeClr>
                          </a:solidFill>
                          <a:latin typeface="Calibri" panose="020F0502020204030204"/>
                          <a:ea typeface="Calibri" panose="020F0502020204030204"/>
                          <a:cs typeface="+mn-cs"/>
                        </a:rPr>
                        <a:t>本账户</a:t>
                      </a:r>
                      <a:endParaRPr sz="900">
                        <a:solidFill>
                          <a:schemeClr val="tx1">
                            <a:alpha val="100000"/>
                          </a:schemeClr>
                        </a:solidFill>
                        <a:latin typeface="Calibri" panose="020F0502020204030204"/>
                        <a:ea typeface="Calibri" panose="020F0502020204030204"/>
                        <a:cs typeface="+mn-cs"/>
                      </a:endParaRPr>
                    </a:p>
                  </a:txBody>
                  <a:tcPr anchor="ctr">
                    <a:lnL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6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chemeClr val="tx1">
                              <a:alpha val="100000"/>
                            </a:schemeClr>
                          </a:solidFill>
                          <a:latin typeface="Calibri" panose="020F0502020204030204"/>
                          <a:ea typeface="Calibri" panose="020F0502020204030204"/>
                          <a:cs typeface="+mn-cs"/>
                        </a:rPr>
                        <a:t>提示错误</a:t>
                      </a:r>
                      <a:endParaRPr sz="900">
                        <a:solidFill>
                          <a:schemeClr val="tx1">
                            <a:alpha val="100000"/>
                          </a:schemeClr>
                        </a:solidFill>
                        <a:latin typeface="Calibri" panose="020F0502020204030204"/>
                        <a:ea typeface="Calibri" panose="020F0502020204030204"/>
                        <a:cs typeface="+mn-cs"/>
                      </a:endParaRPr>
                    </a:p>
                  </a:txBody>
                  <a:tcPr anchor="ctr">
                    <a:lnL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6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chemeClr val="tx1">
                              <a:alpha val="100000"/>
                            </a:schemeClr>
                          </a:solidFill>
                          <a:latin typeface="Calibri" panose="020F0502020204030204"/>
                          <a:ea typeface="Calibri" panose="020F0502020204030204"/>
                          <a:cs typeface="+mn-cs"/>
                        </a:rPr>
                        <a:t>✅</a:t>
                      </a:r>
                      <a:endParaRPr sz="900">
                        <a:solidFill>
                          <a:schemeClr val="tx1">
                            <a:alpha val="100000"/>
                          </a:schemeClr>
                        </a:solidFill>
                        <a:latin typeface="Calibri" panose="020F0502020204030204"/>
                        <a:ea typeface="Calibri" panose="020F0502020204030204"/>
                        <a:cs typeface="+mn-cs"/>
                      </a:endParaRPr>
                    </a:p>
                  </a:txBody>
                  <a:tcPr anchor="ctr">
                    <a:lnL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6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chemeClr val="tx1">
                              <a:alpha val="100000"/>
                            </a:schemeClr>
                          </a:solidFill>
                          <a:latin typeface="Calibri" panose="020F0502020204030204"/>
                          <a:ea typeface="Calibri" panose="020F0502020204030204"/>
                          <a:cs typeface="+mn-cs"/>
                        </a:rPr>
                        <a:t>TC23</a:t>
                      </a:r>
                      <a:endParaRPr sz="900">
                        <a:solidFill>
                          <a:schemeClr val="tx1">
                            <a:alpha val="100000"/>
                          </a:schemeClr>
                        </a:solidFill>
                        <a:latin typeface="Calibri" panose="020F0502020204030204"/>
                        <a:ea typeface="Calibri" panose="020F0502020204030204"/>
                        <a:cs typeface="+mn-cs"/>
                      </a:endParaRPr>
                    </a:p>
                  </a:txBody>
                  <a:tcPr anchor="ctr">
                    <a:lnL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6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chemeClr val="tx1">
                              <a:alpha val="100000"/>
                            </a:schemeClr>
                          </a:solidFill>
                          <a:latin typeface="Calibri" panose="020F0502020204030204"/>
                          <a:ea typeface="Calibri" panose="020F0502020204030204"/>
                          <a:cs typeface="+mn-cs"/>
                        </a:rPr>
                        <a:t>目标不存在</a:t>
                      </a:r>
                      <a:endParaRPr sz="900">
                        <a:solidFill>
                          <a:schemeClr val="tx1">
                            <a:alpha val="100000"/>
                          </a:schemeClr>
                        </a:solidFill>
                        <a:latin typeface="Calibri" panose="020F0502020204030204"/>
                        <a:ea typeface="Calibri" panose="020F0502020204030204"/>
                        <a:cs typeface="+mn-cs"/>
                      </a:endParaRPr>
                    </a:p>
                  </a:txBody>
                  <a:tcPr anchor="ctr">
                    <a:lnL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6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chemeClr val="tx1">
                              <a:alpha val="100000"/>
                            </a:schemeClr>
                          </a:solidFill>
                          <a:latin typeface="Calibri" panose="020F0502020204030204"/>
                          <a:ea typeface="Calibri" panose="020F0502020204030204"/>
                          <a:cs typeface="+mn-cs"/>
                        </a:rPr>
                        <a:t>000000</a:t>
                      </a:r>
                      <a:endParaRPr sz="900">
                        <a:solidFill>
                          <a:schemeClr val="tx1">
                            <a:alpha val="100000"/>
                          </a:schemeClr>
                        </a:solidFill>
                        <a:latin typeface="Calibri" panose="020F0502020204030204"/>
                        <a:ea typeface="Calibri" panose="020F0502020204030204"/>
                        <a:cs typeface="+mn-cs"/>
                      </a:endParaRPr>
                    </a:p>
                  </a:txBody>
                  <a:tcPr anchor="ctr">
                    <a:lnL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6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chemeClr val="tx1">
                              <a:alpha val="100000"/>
                            </a:schemeClr>
                          </a:solidFill>
                          <a:latin typeface="Calibri" panose="020F0502020204030204"/>
                          <a:ea typeface="Calibri" panose="020F0502020204030204"/>
                          <a:cs typeface="+mn-cs"/>
                        </a:rPr>
                        <a:t>提示错误</a:t>
                      </a:r>
                      <a:endParaRPr sz="900">
                        <a:solidFill>
                          <a:schemeClr val="tx1">
                            <a:alpha val="100000"/>
                          </a:schemeClr>
                        </a:solidFill>
                        <a:latin typeface="Calibri" panose="020F0502020204030204"/>
                        <a:ea typeface="Calibri" panose="020F0502020204030204"/>
                        <a:cs typeface="+mn-cs"/>
                      </a:endParaRPr>
                    </a:p>
                  </a:txBody>
                  <a:tcPr anchor="ctr">
                    <a:lnL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6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chemeClr val="tx1">
                              <a:alpha val="100000"/>
                            </a:schemeClr>
                          </a:solidFill>
                          <a:latin typeface="Calibri" panose="020F0502020204030204"/>
                          <a:ea typeface="Calibri" panose="020F0502020204030204"/>
                          <a:cs typeface="+mn-cs"/>
                        </a:rPr>
                        <a:t>✅</a:t>
                      </a:r>
                      <a:endParaRPr sz="900">
                        <a:solidFill>
                          <a:schemeClr val="tx1">
                            <a:alpha val="100000"/>
                          </a:schemeClr>
                        </a:solidFill>
                        <a:latin typeface="Calibri" panose="020F0502020204030204"/>
                        <a:ea typeface="Calibri" panose="020F0502020204030204"/>
                        <a:cs typeface="+mn-cs"/>
                      </a:endParaRPr>
                    </a:p>
                  </a:txBody>
                  <a:tcPr anchor="ctr">
                    <a:lnL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6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chemeClr val="tx1">
                              <a:alpha val="100000"/>
                            </a:schemeClr>
                          </a:solidFill>
                          <a:latin typeface="Calibri" panose="020F0502020204030204"/>
                          <a:ea typeface="Calibri" panose="020F0502020204030204"/>
                          <a:cs typeface="+mn-cs"/>
                        </a:rPr>
                        <a:t>TC24</a:t>
                      </a:r>
                      <a:endParaRPr sz="900">
                        <a:solidFill>
                          <a:schemeClr val="tx1">
                            <a:alpha val="100000"/>
                          </a:schemeClr>
                        </a:solidFill>
                        <a:latin typeface="Calibri" panose="020F0502020204030204"/>
                        <a:ea typeface="Calibri" panose="020F0502020204030204"/>
                        <a:cs typeface="+mn-cs"/>
                      </a:endParaRPr>
                    </a:p>
                  </a:txBody>
                  <a:tcPr anchor="ctr">
                    <a:lnL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6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chemeClr val="tx1">
                              <a:alpha val="100000"/>
                            </a:schemeClr>
                          </a:solidFill>
                          <a:latin typeface="Calibri" panose="020F0502020204030204"/>
                          <a:ea typeface="Calibri" panose="020F0502020204030204"/>
                          <a:cs typeface="+mn-cs"/>
                        </a:rPr>
                        <a:t>正常注册</a:t>
                      </a:r>
                      <a:endParaRPr sz="900">
                        <a:solidFill>
                          <a:schemeClr val="tx1">
                            <a:alpha val="100000"/>
                          </a:schemeClr>
                        </a:solidFill>
                        <a:latin typeface="Calibri" panose="020F0502020204030204"/>
                        <a:ea typeface="Calibri" panose="020F0502020204030204"/>
                        <a:cs typeface="+mn-cs"/>
                      </a:endParaRPr>
                    </a:p>
                  </a:txBody>
                  <a:tcPr anchor="ctr">
                    <a:lnL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6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chemeClr val="tx1">
                              <a:alpha val="100000"/>
                            </a:schemeClr>
                          </a:solidFill>
                          <a:latin typeface="Calibri" panose="020F0502020204030204"/>
                          <a:ea typeface="Calibri" panose="020F0502020204030204"/>
                          <a:cs typeface="+mn-cs"/>
                        </a:rPr>
                        <a:t>newacc / 123456</a:t>
                      </a:r>
                      <a:endParaRPr sz="900">
                        <a:solidFill>
                          <a:schemeClr val="tx1">
                            <a:alpha val="100000"/>
                          </a:schemeClr>
                        </a:solidFill>
                        <a:latin typeface="Calibri" panose="020F0502020204030204"/>
                        <a:ea typeface="Calibri" panose="020F0502020204030204"/>
                        <a:cs typeface="+mn-cs"/>
                      </a:endParaRPr>
                    </a:p>
                  </a:txBody>
                  <a:tcPr anchor="ctr">
                    <a:lnL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6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chemeClr val="tx1">
                              <a:alpha val="100000"/>
                            </a:schemeClr>
                          </a:solidFill>
                          <a:latin typeface="Calibri" panose="020F0502020204030204"/>
                          <a:ea typeface="Calibri" panose="020F0502020204030204"/>
                          <a:cs typeface="+mn-cs"/>
                        </a:rPr>
                        <a:t>注册成功自动登录</a:t>
                      </a:r>
                      <a:endParaRPr sz="900">
                        <a:solidFill>
                          <a:schemeClr val="tx1">
                            <a:alpha val="100000"/>
                          </a:schemeClr>
                        </a:solidFill>
                        <a:latin typeface="Calibri" panose="020F0502020204030204"/>
                        <a:ea typeface="Calibri" panose="020F0502020204030204"/>
                        <a:cs typeface="+mn-cs"/>
                      </a:endParaRPr>
                    </a:p>
                  </a:txBody>
                  <a:tcPr anchor="ctr">
                    <a:lnL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6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chemeClr val="tx1">
                              <a:alpha val="100000"/>
                            </a:schemeClr>
                          </a:solidFill>
                          <a:latin typeface="Calibri" panose="020F0502020204030204"/>
                          <a:ea typeface="Calibri" panose="020F0502020204030204"/>
                          <a:cs typeface="+mn-cs"/>
                        </a:rPr>
                        <a:t>✅</a:t>
                      </a:r>
                      <a:endParaRPr sz="900">
                        <a:solidFill>
                          <a:schemeClr val="tx1">
                            <a:alpha val="100000"/>
                          </a:schemeClr>
                        </a:solidFill>
                        <a:latin typeface="Calibri" panose="020F0502020204030204"/>
                        <a:ea typeface="Calibri" panose="020F0502020204030204"/>
                        <a:cs typeface="+mn-cs"/>
                      </a:endParaRPr>
                    </a:p>
                  </a:txBody>
                  <a:tcPr anchor="ctr">
                    <a:lnL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6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chemeClr val="tx1">
                              <a:alpha val="100000"/>
                            </a:schemeClr>
                          </a:solidFill>
                          <a:latin typeface="Calibri" panose="020F0502020204030204"/>
                          <a:ea typeface="Calibri" panose="020F0502020204030204"/>
                          <a:cs typeface="+mn-cs"/>
                        </a:rPr>
                        <a:t>TC25</a:t>
                      </a:r>
                      <a:endParaRPr sz="900">
                        <a:solidFill>
                          <a:schemeClr val="tx1">
                            <a:alpha val="100000"/>
                          </a:schemeClr>
                        </a:solidFill>
                        <a:latin typeface="Calibri" panose="020F0502020204030204"/>
                        <a:ea typeface="Calibri" panose="020F0502020204030204"/>
                        <a:cs typeface="+mn-cs"/>
                      </a:endParaRPr>
                    </a:p>
                  </a:txBody>
                  <a:tcPr anchor="ctr">
                    <a:lnL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6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chemeClr val="tx1">
                              <a:alpha val="100000"/>
                            </a:schemeClr>
                          </a:solidFill>
                          <a:latin typeface="Calibri" panose="020F0502020204030204"/>
                          <a:ea typeface="Calibri" panose="020F0502020204030204"/>
                          <a:cs typeface="+mn-cs"/>
                        </a:rPr>
                        <a:t>重复账号</a:t>
                      </a:r>
                      <a:endParaRPr sz="900">
                        <a:solidFill>
                          <a:schemeClr val="tx1">
                            <a:alpha val="100000"/>
                          </a:schemeClr>
                        </a:solidFill>
                        <a:latin typeface="Calibri" panose="020F0502020204030204"/>
                        <a:ea typeface="Calibri" panose="020F0502020204030204"/>
                        <a:cs typeface="+mn-cs"/>
                      </a:endParaRPr>
                    </a:p>
                  </a:txBody>
                  <a:tcPr anchor="ctr">
                    <a:lnL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6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chemeClr val="tx1">
                              <a:alpha val="100000"/>
                            </a:schemeClr>
                          </a:solidFill>
                          <a:latin typeface="Calibri" panose="020F0502020204030204"/>
                          <a:ea typeface="Calibri" panose="020F0502020204030204"/>
                          <a:cs typeface="+mn-cs"/>
                        </a:rPr>
                        <a:t>123456</a:t>
                      </a:r>
                      <a:endParaRPr sz="900">
                        <a:solidFill>
                          <a:schemeClr val="tx1">
                            <a:alpha val="100000"/>
                          </a:schemeClr>
                        </a:solidFill>
                        <a:latin typeface="Calibri" panose="020F0502020204030204"/>
                        <a:ea typeface="Calibri" panose="020F0502020204030204"/>
                        <a:cs typeface="+mn-cs"/>
                      </a:endParaRPr>
                    </a:p>
                  </a:txBody>
                  <a:tcPr anchor="ctr">
                    <a:lnL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6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chemeClr val="tx1">
                              <a:alpha val="100000"/>
                            </a:schemeClr>
                          </a:solidFill>
                          <a:latin typeface="Calibri" panose="020F0502020204030204"/>
                          <a:ea typeface="Calibri" panose="020F0502020204030204"/>
                          <a:cs typeface="+mn-cs"/>
                        </a:rPr>
                        <a:t>提示已存在</a:t>
                      </a:r>
                      <a:endParaRPr sz="900">
                        <a:solidFill>
                          <a:schemeClr val="tx1">
                            <a:alpha val="100000"/>
                          </a:schemeClr>
                        </a:solidFill>
                        <a:latin typeface="Calibri" panose="020F0502020204030204"/>
                        <a:ea typeface="Calibri" panose="020F0502020204030204"/>
                        <a:cs typeface="+mn-cs"/>
                      </a:endParaRPr>
                    </a:p>
                  </a:txBody>
                  <a:tcPr anchor="ctr">
                    <a:lnL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6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chemeClr val="tx1">
                              <a:alpha val="100000"/>
                            </a:schemeClr>
                          </a:solidFill>
                          <a:latin typeface="Calibri" panose="020F0502020204030204"/>
                          <a:ea typeface="Calibri" panose="020F0502020204030204"/>
                          <a:cs typeface="+mn-cs"/>
                        </a:rPr>
                        <a:t>✅</a:t>
                      </a:r>
                      <a:endParaRPr sz="900">
                        <a:solidFill>
                          <a:schemeClr val="tx1">
                            <a:alpha val="100000"/>
                          </a:schemeClr>
                        </a:solidFill>
                        <a:latin typeface="Calibri" panose="020F0502020204030204"/>
                        <a:ea typeface="Calibri" panose="020F0502020204030204"/>
                        <a:cs typeface="+mn-cs"/>
                      </a:endParaRPr>
                    </a:p>
                  </a:txBody>
                  <a:tcPr anchor="ctr">
                    <a:lnL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6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chemeClr val="tx1">
                              <a:alpha val="100000"/>
                            </a:schemeClr>
                          </a:solidFill>
                          <a:latin typeface="Calibri" panose="020F0502020204030204"/>
                          <a:ea typeface="Calibri" panose="020F0502020204030204"/>
                          <a:cs typeface="+mn-cs"/>
                        </a:rPr>
                        <a:t>TC26</a:t>
                      </a:r>
                      <a:endParaRPr sz="900">
                        <a:solidFill>
                          <a:schemeClr val="tx1">
                            <a:alpha val="100000"/>
                          </a:schemeClr>
                        </a:solidFill>
                        <a:latin typeface="Calibri" panose="020F0502020204030204"/>
                        <a:ea typeface="Calibri" panose="020F0502020204030204"/>
                        <a:cs typeface="+mn-cs"/>
                      </a:endParaRPr>
                    </a:p>
                  </a:txBody>
                  <a:tcPr anchor="ctr">
                    <a:lnL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6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chemeClr val="tx1">
                              <a:alpha val="100000"/>
                            </a:schemeClr>
                          </a:solidFill>
                          <a:latin typeface="Calibri" panose="020F0502020204030204"/>
                          <a:ea typeface="Calibri" panose="020F0502020204030204"/>
                          <a:cs typeface="+mn-cs"/>
                        </a:rPr>
                        <a:t>密码太短</a:t>
                      </a:r>
                      <a:endParaRPr sz="900">
                        <a:solidFill>
                          <a:schemeClr val="tx1">
                            <a:alpha val="100000"/>
                          </a:schemeClr>
                        </a:solidFill>
                        <a:latin typeface="Calibri" panose="020F0502020204030204"/>
                        <a:ea typeface="Calibri" panose="020F0502020204030204"/>
                        <a:cs typeface="+mn-cs"/>
                      </a:endParaRPr>
                    </a:p>
                  </a:txBody>
                  <a:tcPr anchor="ctr">
                    <a:lnL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6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chemeClr val="tx1">
                              <a:alpha val="100000"/>
                            </a:schemeClr>
                          </a:solidFill>
                          <a:latin typeface="Calibri" panose="020F0502020204030204"/>
                          <a:ea typeface="Calibri" panose="020F0502020204030204"/>
                          <a:cs typeface="+mn-cs"/>
                        </a:rPr>
                        <a:t>12</a:t>
                      </a:r>
                      <a:endParaRPr sz="900">
                        <a:solidFill>
                          <a:schemeClr val="tx1">
                            <a:alpha val="100000"/>
                          </a:schemeClr>
                        </a:solidFill>
                        <a:latin typeface="Calibri" panose="020F0502020204030204"/>
                        <a:ea typeface="Calibri" panose="020F0502020204030204"/>
                        <a:cs typeface="+mn-cs"/>
                      </a:endParaRPr>
                    </a:p>
                  </a:txBody>
                  <a:tcPr anchor="ctr">
                    <a:lnL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6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chemeClr val="tx1">
                              <a:alpha val="100000"/>
                            </a:schemeClr>
                          </a:solidFill>
                          <a:latin typeface="Calibri" panose="020F0502020204030204"/>
                          <a:ea typeface="Calibri" panose="020F0502020204030204"/>
                          <a:cs typeface="+mn-cs"/>
                        </a:rPr>
                        <a:t>提示至少6位</a:t>
                      </a:r>
                      <a:endParaRPr sz="900">
                        <a:solidFill>
                          <a:schemeClr val="tx1">
                            <a:alpha val="100000"/>
                          </a:schemeClr>
                        </a:solidFill>
                        <a:latin typeface="Calibri" panose="020F0502020204030204"/>
                        <a:ea typeface="Calibri" panose="020F0502020204030204"/>
                        <a:cs typeface="+mn-cs"/>
                      </a:endParaRPr>
                    </a:p>
                  </a:txBody>
                  <a:tcPr anchor="ctr">
                    <a:lnL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6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chemeClr val="tx1">
                              <a:alpha val="100000"/>
                            </a:schemeClr>
                          </a:solidFill>
                          <a:latin typeface="Calibri" panose="020F0502020204030204"/>
                          <a:ea typeface="Calibri" panose="020F0502020204030204"/>
                          <a:cs typeface="+mn-cs"/>
                        </a:rPr>
                        <a:t>✅</a:t>
                      </a:r>
                      <a:endParaRPr sz="900">
                        <a:solidFill>
                          <a:schemeClr val="tx1">
                            <a:alpha val="100000"/>
                          </a:schemeClr>
                        </a:solidFill>
                        <a:latin typeface="Calibri" panose="020F0502020204030204"/>
                        <a:ea typeface="Calibri" panose="020F0502020204030204"/>
                        <a:cs typeface="+mn-cs"/>
                      </a:endParaRPr>
                    </a:p>
                  </a:txBody>
                  <a:tcPr anchor="ctr">
                    <a:lnL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6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chemeClr val="tx1">
                              <a:alpha val="100000"/>
                            </a:schemeClr>
                          </a:solidFill>
                          <a:latin typeface="Calibri" panose="020F0502020204030204"/>
                          <a:ea typeface="Calibri" panose="020F0502020204030204"/>
                          <a:cs typeface="+mn-cs"/>
                        </a:rPr>
                        <a:t>TC27</a:t>
                      </a:r>
                      <a:endParaRPr sz="900">
                        <a:solidFill>
                          <a:schemeClr val="tx1">
                            <a:alpha val="100000"/>
                          </a:schemeClr>
                        </a:solidFill>
                        <a:latin typeface="Calibri" panose="020F0502020204030204"/>
                        <a:ea typeface="Calibri" panose="020F0502020204030204"/>
                        <a:cs typeface="+mn-cs"/>
                      </a:endParaRPr>
                    </a:p>
                  </a:txBody>
                  <a:tcPr anchor="ctr">
                    <a:lnL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6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chemeClr val="tx1">
                              <a:alpha val="100000"/>
                            </a:schemeClr>
                          </a:solidFill>
                          <a:latin typeface="Calibri" panose="020F0502020204030204"/>
                          <a:ea typeface="Calibri" panose="020F0502020204030204"/>
                          <a:cs typeface="+mn-cs"/>
                        </a:rPr>
                        <a:t>账号太短</a:t>
                      </a:r>
                      <a:endParaRPr sz="900">
                        <a:solidFill>
                          <a:schemeClr val="tx1">
                            <a:alpha val="100000"/>
                          </a:schemeClr>
                        </a:solidFill>
                        <a:latin typeface="Calibri" panose="020F0502020204030204"/>
                        <a:ea typeface="Calibri" panose="020F0502020204030204"/>
                        <a:cs typeface="+mn-cs"/>
                      </a:endParaRPr>
                    </a:p>
                  </a:txBody>
                  <a:tcPr anchor="ctr">
                    <a:lnL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6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chemeClr val="tx1">
                              <a:alpha val="100000"/>
                            </a:schemeClr>
                          </a:solidFill>
                          <a:latin typeface="Calibri" panose="020F0502020204030204"/>
                          <a:ea typeface="Calibri" panose="020F0502020204030204"/>
                          <a:cs typeface="+mn-cs"/>
                        </a:rPr>
                        <a:t>ab</a:t>
                      </a:r>
                      <a:endParaRPr sz="900">
                        <a:solidFill>
                          <a:schemeClr val="tx1">
                            <a:alpha val="100000"/>
                          </a:schemeClr>
                        </a:solidFill>
                        <a:latin typeface="Calibri" panose="020F0502020204030204"/>
                        <a:ea typeface="Calibri" panose="020F0502020204030204"/>
                        <a:cs typeface="+mn-cs"/>
                      </a:endParaRPr>
                    </a:p>
                  </a:txBody>
                  <a:tcPr anchor="ctr">
                    <a:lnL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6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chemeClr val="tx1">
                              <a:alpha val="100000"/>
                            </a:schemeClr>
                          </a:solidFill>
                          <a:latin typeface="Calibri" panose="020F0502020204030204"/>
                          <a:ea typeface="Calibri" panose="020F0502020204030204"/>
                          <a:cs typeface="+mn-cs"/>
                        </a:rPr>
                        <a:t>提示至少4位</a:t>
                      </a:r>
                      <a:endParaRPr sz="900">
                        <a:solidFill>
                          <a:schemeClr val="tx1">
                            <a:alpha val="100000"/>
                          </a:schemeClr>
                        </a:solidFill>
                        <a:latin typeface="Calibri" panose="020F0502020204030204"/>
                        <a:ea typeface="Calibri" panose="020F0502020204030204"/>
                        <a:cs typeface="+mn-cs"/>
                      </a:endParaRPr>
                    </a:p>
                  </a:txBody>
                  <a:tcPr anchor="ctr">
                    <a:lnL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6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chemeClr val="tx1">
                              <a:alpha val="100000"/>
                            </a:schemeClr>
                          </a:solidFill>
                          <a:latin typeface="Calibri" panose="020F0502020204030204"/>
                          <a:ea typeface="Calibri" panose="020F0502020204030204"/>
                          <a:cs typeface="+mn-cs"/>
                        </a:rPr>
                        <a:t>✅</a:t>
                      </a:r>
                      <a:endParaRPr sz="900">
                        <a:solidFill>
                          <a:schemeClr val="tx1">
                            <a:alpha val="100000"/>
                          </a:schemeClr>
                        </a:solidFill>
                        <a:latin typeface="Calibri" panose="020F0502020204030204"/>
                        <a:ea typeface="Calibri" panose="020F0502020204030204"/>
                        <a:cs typeface="+mn-cs"/>
                      </a:endParaRPr>
                    </a:p>
                  </a:txBody>
                  <a:tcPr anchor="ctr">
                    <a:lnL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6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700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chemeClr val="tx1">
                              <a:alpha val="100000"/>
                            </a:schemeClr>
                          </a:solidFill>
                          <a:latin typeface="Calibri" panose="020F0502020204030204"/>
                          <a:ea typeface="Calibri" panose="020F0502020204030204"/>
                          <a:cs typeface="+mn-cs"/>
                        </a:rPr>
                        <a:t>TC28</a:t>
                      </a:r>
                      <a:endParaRPr sz="900">
                        <a:solidFill>
                          <a:schemeClr val="tx1">
                            <a:alpha val="100000"/>
                          </a:schemeClr>
                        </a:solidFill>
                        <a:latin typeface="Calibri" panose="020F0502020204030204"/>
                        <a:ea typeface="Calibri" panose="020F0502020204030204"/>
                        <a:cs typeface="+mn-cs"/>
                      </a:endParaRPr>
                    </a:p>
                  </a:txBody>
                  <a:tcPr anchor="ctr">
                    <a:lnL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6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chemeClr val="tx1">
                              <a:alpha val="100000"/>
                            </a:schemeClr>
                          </a:solidFill>
                          <a:latin typeface="Calibri" panose="020F0502020204030204"/>
                          <a:ea typeface="Calibri" panose="020F0502020204030204"/>
                          <a:cs typeface="+mn-cs"/>
                        </a:rPr>
                        <a:t>连续错误</a:t>
                      </a:r>
                      <a:endParaRPr sz="900">
                        <a:solidFill>
                          <a:schemeClr val="tx1">
                            <a:alpha val="100000"/>
                          </a:schemeClr>
                        </a:solidFill>
                        <a:latin typeface="Calibri" panose="020F0502020204030204"/>
                        <a:ea typeface="Calibri" panose="020F0502020204030204"/>
                        <a:cs typeface="+mn-cs"/>
                      </a:endParaRPr>
                    </a:p>
                  </a:txBody>
                  <a:tcPr anchor="ctr">
                    <a:lnL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6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chemeClr val="tx1">
                              <a:alpha val="100000"/>
                            </a:schemeClr>
                          </a:solidFill>
                          <a:latin typeface="Calibri" panose="020F0502020204030204"/>
                          <a:ea typeface="Calibri" panose="020F0502020204030204"/>
                          <a:cs typeface="+mn-cs"/>
                        </a:rPr>
                        <a:t>3次错误密码</a:t>
                      </a:r>
                      <a:endParaRPr sz="900">
                        <a:solidFill>
                          <a:schemeClr val="tx1">
                            <a:alpha val="100000"/>
                          </a:schemeClr>
                        </a:solidFill>
                        <a:latin typeface="Calibri" panose="020F0502020204030204"/>
                        <a:ea typeface="Calibri" panose="020F0502020204030204"/>
                        <a:cs typeface="+mn-cs"/>
                      </a:endParaRPr>
                    </a:p>
                  </a:txBody>
                  <a:tcPr anchor="ctr">
                    <a:lnL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6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chemeClr val="tx1">
                              <a:alpha val="100000"/>
                            </a:schemeClr>
                          </a:solidFill>
                          <a:latin typeface="Calibri" panose="020F0502020204030204"/>
                          <a:ea typeface="Calibri" panose="020F0502020204030204"/>
                          <a:cs typeface="+mn-cs"/>
                        </a:rPr>
                        <a:t>锁定3分钟</a:t>
                      </a:r>
                      <a:endParaRPr sz="900">
                        <a:solidFill>
                          <a:schemeClr val="tx1">
                            <a:alpha val="100000"/>
                          </a:schemeClr>
                        </a:solidFill>
                        <a:latin typeface="Calibri" panose="020F0502020204030204"/>
                        <a:ea typeface="Calibri" panose="020F0502020204030204"/>
                        <a:cs typeface="+mn-cs"/>
                      </a:endParaRPr>
                    </a:p>
                  </a:txBody>
                  <a:tcPr anchor="ctr">
                    <a:lnL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6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chemeClr val="tx1">
                              <a:alpha val="100000"/>
                            </a:schemeClr>
                          </a:solidFill>
                          <a:latin typeface="Calibri" panose="020F0502020204030204"/>
                          <a:ea typeface="Calibri" panose="020F0502020204030204"/>
                          <a:cs typeface="+mn-cs"/>
                        </a:rPr>
                        <a:t>✅</a:t>
                      </a:r>
                      <a:endParaRPr sz="900">
                        <a:solidFill>
                          <a:schemeClr val="tx1">
                            <a:alpha val="100000"/>
                          </a:schemeClr>
                        </a:solidFill>
                        <a:latin typeface="Calibri" panose="020F0502020204030204"/>
                        <a:ea typeface="Calibri" panose="020F0502020204030204"/>
                        <a:cs typeface="+mn-cs"/>
                      </a:endParaRPr>
                    </a:p>
                  </a:txBody>
                  <a:tcPr anchor="ctr">
                    <a:lnL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6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06" name="Text 2"/>
          <p:cNvSpPr/>
          <p:nvPr/>
        </p:nvSpPr>
        <p:spPr>
          <a:xfrm>
            <a:off x="365760" y="4389120"/>
            <a:ext cx="84124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0B98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全部 29个测试用例通过，通过率 100%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44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Shape 0"/>
          <p:cNvSpPr/>
          <p:nvPr/>
        </p:nvSpPr>
        <p:spPr>
          <a:xfrm>
            <a:off x="548640" y="411480"/>
            <a:ext cx="64008" cy="502920"/>
          </a:xfrm>
          <a:prstGeom prst="rect">
            <a:avLst/>
          </a:prstGeom>
          <a:solidFill>
            <a:srgbClr val="D4A574"/>
          </a:solidFill>
        </p:spPr>
        <p:txBody>
          <a:bodyPr/>
          <a:p/>
        </p:txBody>
      </p:sp>
      <p:sp>
        <p:nvSpPr>
          <p:cNvPr id="447" name="Text 1"/>
          <p:cNvSpPr/>
          <p:nvPr/>
        </p:nvSpPr>
        <p:spPr>
          <a:xfrm>
            <a:off x="822960" y="365760"/>
            <a:ext cx="777240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Bug 修复记录</a:t>
            </a:r>
            <a:endParaRPr lang="en-US" sz="2800" dirty="0"/>
          </a:p>
        </p:txBody>
      </p:sp>
      <p:sp>
        <p:nvSpPr>
          <p:cNvPr id="448" name="Shape 2"/>
          <p:cNvSpPr/>
          <p:nvPr/>
        </p:nvSpPr>
        <p:spPr>
          <a:xfrm>
            <a:off x="548640" y="1097280"/>
            <a:ext cx="8046720" cy="100584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449" name="Shape 3"/>
          <p:cNvSpPr/>
          <p:nvPr/>
        </p:nvSpPr>
        <p:spPr>
          <a:xfrm>
            <a:off x="548640" y="1097280"/>
            <a:ext cx="54864" cy="1005840"/>
          </a:xfrm>
          <a:prstGeom prst="rect">
            <a:avLst/>
          </a:prstGeom>
          <a:solidFill>
            <a:srgbClr val="EF4444"/>
          </a:solidFill>
        </p:spPr>
        <p:txBody>
          <a:bodyPr/>
          <a:p/>
        </p:txBody>
      </p:sp>
      <p:sp>
        <p:nvSpPr>
          <p:cNvPr id="450" name="Text 4"/>
          <p:cNvSpPr/>
          <p:nvPr/>
        </p:nvSpPr>
        <p:spPr>
          <a:xfrm>
            <a:off x="777240" y="114300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F4444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BUG01</a:t>
            </a:r>
            <a:endParaRPr lang="en-US" sz="1200" dirty="0"/>
          </a:p>
        </p:txBody>
      </p:sp>
      <p:sp>
        <p:nvSpPr>
          <p:cNvPr id="451" name="Text 5"/>
          <p:cNvSpPr/>
          <p:nvPr/>
        </p:nvSpPr>
        <p:spPr>
          <a:xfrm>
            <a:off x="1554480" y="1143000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F3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取款输入浮点数未处理</a:t>
            </a:r>
            <a:endParaRPr lang="en-US" sz="1200" dirty="0"/>
          </a:p>
        </p:txBody>
      </p:sp>
      <p:sp>
        <p:nvSpPr>
          <p:cNvPr id="452" name="Shape 6"/>
          <p:cNvSpPr/>
          <p:nvPr/>
        </p:nvSpPr>
        <p:spPr>
          <a:xfrm>
            <a:off x="5029200" y="1188720"/>
            <a:ext cx="548640" cy="201168"/>
          </a:xfrm>
          <a:prstGeom prst="rect">
            <a:avLst/>
          </a:prstGeom>
          <a:solidFill>
            <a:srgbClr val="EF4444"/>
          </a:solidFill>
        </p:spPr>
        <p:txBody>
          <a:bodyPr/>
          <a:p/>
        </p:txBody>
      </p:sp>
      <p:sp>
        <p:nvSpPr>
          <p:cNvPr id="453" name="Text 7"/>
          <p:cNvSpPr/>
          <p:nvPr/>
        </p:nvSpPr>
        <p:spPr>
          <a:xfrm>
            <a:off x="5120640" y="1188720"/>
            <a:ext cx="54864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严重</a:t>
            </a:r>
            <a:endParaRPr lang="en-US" sz="800" dirty="0"/>
          </a:p>
        </p:txBody>
      </p:sp>
      <p:sp>
        <p:nvSpPr>
          <p:cNvPr id="454" name="Text 8"/>
          <p:cNvSpPr/>
          <p:nvPr/>
        </p:nvSpPr>
        <p:spPr>
          <a:xfrm>
            <a:off x="777240" y="1444752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问题：用户输入 100.5 时程序崩溃</a:t>
            </a:r>
            <a:endParaRPr lang="en-US" sz="1000" dirty="0"/>
          </a:p>
        </p:txBody>
      </p:sp>
      <p:sp>
        <p:nvSpPr>
          <p:cNvPr id="455" name="Text 9"/>
          <p:cNvSpPr/>
          <p:nvPr/>
        </p:nvSpPr>
        <p:spPr>
          <a:xfrm>
            <a:off x="777240" y="1691640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修复：增加 int(float()) 转换</a:t>
            </a:r>
            <a:endParaRPr lang="en-US" sz="1000" dirty="0"/>
          </a:p>
        </p:txBody>
      </p:sp>
      <p:sp>
        <p:nvSpPr>
          <p:cNvPr id="456" name="Shape 10"/>
          <p:cNvSpPr/>
          <p:nvPr/>
        </p:nvSpPr>
        <p:spPr>
          <a:xfrm>
            <a:off x="548640" y="2286000"/>
            <a:ext cx="8046720" cy="100584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457" name="Shape 11"/>
          <p:cNvSpPr/>
          <p:nvPr/>
        </p:nvSpPr>
        <p:spPr>
          <a:xfrm>
            <a:off x="548640" y="2286000"/>
            <a:ext cx="54864" cy="1005840"/>
          </a:xfrm>
          <a:prstGeom prst="rect">
            <a:avLst/>
          </a:prstGeom>
          <a:solidFill>
            <a:srgbClr val="D4A574"/>
          </a:solidFill>
        </p:spPr>
        <p:txBody>
          <a:bodyPr/>
          <a:p/>
        </p:txBody>
      </p:sp>
      <p:sp>
        <p:nvSpPr>
          <p:cNvPr id="458" name="Text 12"/>
          <p:cNvSpPr/>
          <p:nvPr/>
        </p:nvSpPr>
        <p:spPr>
          <a:xfrm>
            <a:off x="777240" y="233172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4A574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BUG02</a:t>
            </a:r>
            <a:endParaRPr lang="en-US" sz="1200" dirty="0"/>
          </a:p>
        </p:txBody>
      </p:sp>
      <p:sp>
        <p:nvSpPr>
          <p:cNvPr id="459" name="Text 13"/>
          <p:cNvSpPr/>
          <p:nvPr/>
        </p:nvSpPr>
        <p:spPr>
          <a:xfrm>
            <a:off x="1554480" y="2331720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F3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修改密码后未清空输入</a:t>
            </a:r>
            <a:endParaRPr lang="en-US" sz="1200" dirty="0"/>
          </a:p>
        </p:txBody>
      </p:sp>
      <p:sp>
        <p:nvSpPr>
          <p:cNvPr id="460" name="Shape 14"/>
          <p:cNvSpPr/>
          <p:nvPr/>
        </p:nvSpPr>
        <p:spPr>
          <a:xfrm>
            <a:off x="5029200" y="2377440"/>
            <a:ext cx="548640" cy="201168"/>
          </a:xfrm>
          <a:prstGeom prst="rect">
            <a:avLst/>
          </a:prstGeom>
          <a:solidFill>
            <a:srgbClr val="D4A574"/>
          </a:solidFill>
        </p:spPr>
        <p:txBody>
          <a:bodyPr/>
          <a:p/>
        </p:txBody>
      </p:sp>
      <p:sp>
        <p:nvSpPr>
          <p:cNvPr id="461" name="Text 15"/>
          <p:cNvSpPr/>
          <p:nvPr/>
        </p:nvSpPr>
        <p:spPr>
          <a:xfrm>
            <a:off x="5120640" y="2377440"/>
            <a:ext cx="54864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中等</a:t>
            </a:r>
            <a:endParaRPr lang="en-US" sz="800" dirty="0"/>
          </a:p>
        </p:txBody>
      </p:sp>
      <p:sp>
        <p:nvSpPr>
          <p:cNvPr id="462" name="Text 16"/>
          <p:cNvSpPr/>
          <p:nvPr/>
        </p:nvSpPr>
        <p:spPr>
          <a:xfrm>
            <a:off x="777240" y="2633472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问题：返回登录时输入框残留旧数据</a:t>
            </a:r>
            <a:endParaRPr lang="en-US" sz="1000" dirty="0"/>
          </a:p>
        </p:txBody>
      </p:sp>
      <p:sp>
        <p:nvSpPr>
          <p:cNvPr id="463" name="Text 17"/>
          <p:cNvSpPr/>
          <p:nvPr/>
        </p:nvSpPr>
        <p:spPr>
          <a:xfrm>
            <a:off x="777240" y="2880360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修复：返回前清空所有表单</a:t>
            </a:r>
            <a:endParaRPr lang="en-US" sz="1000" dirty="0"/>
          </a:p>
        </p:txBody>
      </p:sp>
      <p:sp>
        <p:nvSpPr>
          <p:cNvPr id="464" name="Shape 18"/>
          <p:cNvSpPr/>
          <p:nvPr/>
        </p:nvSpPr>
        <p:spPr>
          <a:xfrm>
            <a:off x="548640" y="3474720"/>
            <a:ext cx="8046720" cy="100584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465" name="Shape 19"/>
          <p:cNvSpPr/>
          <p:nvPr/>
        </p:nvSpPr>
        <p:spPr>
          <a:xfrm>
            <a:off x="548640" y="3474720"/>
            <a:ext cx="54864" cy="1005840"/>
          </a:xfrm>
          <a:prstGeom prst="rect">
            <a:avLst/>
          </a:prstGeom>
          <a:solidFill>
            <a:srgbClr val="D4A574"/>
          </a:solidFill>
        </p:spPr>
        <p:txBody>
          <a:bodyPr/>
          <a:p/>
        </p:txBody>
      </p:sp>
      <p:sp>
        <p:nvSpPr>
          <p:cNvPr id="466" name="Text 20"/>
          <p:cNvSpPr/>
          <p:nvPr/>
        </p:nvSpPr>
        <p:spPr>
          <a:xfrm>
            <a:off x="777240" y="352044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4A574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BUG03</a:t>
            </a:r>
            <a:endParaRPr lang="en-US" sz="1200" dirty="0"/>
          </a:p>
        </p:txBody>
      </p:sp>
      <p:sp>
        <p:nvSpPr>
          <p:cNvPr id="467" name="Text 21"/>
          <p:cNvSpPr/>
          <p:nvPr/>
        </p:nvSpPr>
        <p:spPr>
          <a:xfrm>
            <a:off x="1554480" y="3520440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F3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Web 版首次运行密码错误</a:t>
            </a:r>
            <a:endParaRPr lang="en-US" sz="1200" dirty="0"/>
          </a:p>
        </p:txBody>
      </p:sp>
      <p:sp>
        <p:nvSpPr>
          <p:cNvPr id="468" name="Shape 22"/>
          <p:cNvSpPr/>
          <p:nvPr/>
        </p:nvSpPr>
        <p:spPr>
          <a:xfrm>
            <a:off x="5029200" y="3566160"/>
            <a:ext cx="548640" cy="201168"/>
          </a:xfrm>
          <a:prstGeom prst="rect">
            <a:avLst/>
          </a:prstGeom>
          <a:solidFill>
            <a:srgbClr val="D4A574"/>
          </a:solidFill>
        </p:spPr>
        <p:txBody>
          <a:bodyPr/>
          <a:p/>
        </p:txBody>
      </p:sp>
      <p:sp>
        <p:nvSpPr>
          <p:cNvPr id="469" name="Text 23"/>
          <p:cNvSpPr/>
          <p:nvPr/>
        </p:nvSpPr>
        <p:spPr>
          <a:xfrm>
            <a:off x="5120640" y="3566160"/>
            <a:ext cx="54864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中等</a:t>
            </a:r>
            <a:endParaRPr lang="en-US" sz="800" dirty="0"/>
          </a:p>
        </p:txBody>
      </p:sp>
      <p:sp>
        <p:nvSpPr>
          <p:cNvPr id="470" name="Text 24"/>
          <p:cNvSpPr/>
          <p:nvPr/>
        </p:nvSpPr>
        <p:spPr>
          <a:xfrm>
            <a:off x="777240" y="3822192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问题：localStorage 空数据时未初始化</a:t>
            </a:r>
            <a:endParaRPr lang="en-US" sz="1000" dirty="0"/>
          </a:p>
        </p:txBody>
      </p:sp>
      <p:sp>
        <p:nvSpPr>
          <p:cNvPr id="471" name="Text 25"/>
          <p:cNvSpPr/>
          <p:nvPr/>
        </p:nvSpPr>
        <p:spPr>
          <a:xfrm>
            <a:off x="777240" y="4069080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修复：loadData 增加默认值回退</a:t>
            </a:r>
            <a:endParaRPr lang="en-US" sz="1000" dirty="0"/>
          </a:p>
        </p:txBody>
      </p:sp>
      <p:sp>
        <p:nvSpPr>
          <p:cNvPr id="472" name="Shape 26"/>
          <p:cNvSpPr/>
          <p:nvPr/>
        </p:nvSpPr>
        <p:spPr>
          <a:xfrm>
            <a:off x="0" y="4572000"/>
            <a:ext cx="9144000" cy="548640"/>
          </a:xfrm>
          <a:prstGeom prst="rect">
            <a:avLst/>
          </a:prstGeom>
          <a:solidFill>
            <a:srgbClr val="1A1F36"/>
          </a:solidFill>
        </p:spPr>
        <p:txBody>
          <a:bodyPr/>
          <a:p/>
        </p:txBody>
      </p:sp>
      <p:sp>
        <p:nvSpPr>
          <p:cNvPr id="473" name="Text 27"/>
          <p:cNvSpPr/>
          <p:nvPr/>
        </p:nvSpPr>
        <p:spPr>
          <a:xfrm>
            <a:off x="457200" y="4617720"/>
            <a:ext cx="82296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5F0E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所有 Bug 已修复并经过回归测试验证</a:t>
            </a:r>
            <a:endParaRPr lang="en-US" sz="1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B"/>
        </a:solidFill>
        <a:effectLst/>
      </p:bgPr>
    </p:bg>
    <p:spTree>
      <p:nvGrpSpPr>
        <p:cNvPr id="47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Shape 0"/>
          <p:cNvSpPr/>
          <p:nvPr/>
        </p:nvSpPr>
        <p:spPr>
          <a:xfrm>
            <a:off x="548640" y="411480"/>
            <a:ext cx="64008" cy="502920"/>
          </a:xfrm>
          <a:prstGeom prst="rect">
            <a:avLst/>
          </a:prstGeom>
          <a:solidFill>
            <a:srgbClr val="D4A574"/>
          </a:solidFill>
        </p:spPr>
        <p:txBody>
          <a:bodyPr/>
          <a:p/>
        </p:txBody>
      </p:sp>
      <p:sp>
        <p:nvSpPr>
          <p:cNvPr id="476" name="Text 1"/>
          <p:cNvSpPr/>
          <p:nvPr/>
        </p:nvSpPr>
        <p:spPr>
          <a:xfrm>
            <a:off x="822960" y="365760"/>
            <a:ext cx="777240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运行指南 — Python 桌面版</a:t>
            </a:r>
            <a:endParaRPr lang="en-US" sz="2800" dirty="0"/>
          </a:p>
        </p:txBody>
      </p:sp>
      <p:sp>
        <p:nvSpPr>
          <p:cNvPr id="477" name="Shape 2"/>
          <p:cNvSpPr/>
          <p:nvPr/>
        </p:nvSpPr>
        <p:spPr>
          <a:xfrm>
            <a:off x="548640" y="1097280"/>
            <a:ext cx="8046720" cy="368808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478" name="Shape 3"/>
          <p:cNvSpPr/>
          <p:nvPr/>
        </p:nvSpPr>
        <p:spPr>
          <a:xfrm>
            <a:off x="548640" y="1097280"/>
            <a:ext cx="76200" cy="3688080"/>
          </a:xfrm>
          <a:prstGeom prst="rect">
            <a:avLst/>
          </a:prstGeom>
          <a:solidFill>
            <a:srgbClr val="1A73E8"/>
          </a:solidFill>
        </p:spPr>
        <p:txBody>
          <a:bodyPr/>
          <a:p/>
        </p:txBody>
      </p:sp>
      <p:sp>
        <p:nvSpPr>
          <p:cNvPr id="479" name="Text 4"/>
          <p:cNvSpPr/>
          <p:nvPr/>
        </p:nvSpPr>
        <p:spPr>
          <a:xfrm>
            <a:off x="777240" y="123444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🐍  Python 环境要求与运行步骤</a:t>
            </a:r>
            <a:endParaRPr lang="en-US" sz="1800" dirty="0"/>
          </a:p>
        </p:txBody>
      </p:sp>
      <p:sp>
        <p:nvSpPr>
          <p:cNvPr id="480" name="Shape 5"/>
          <p:cNvSpPr/>
          <p:nvPr/>
        </p:nvSpPr>
        <p:spPr>
          <a:xfrm>
            <a:off x="777240" y="1783080"/>
            <a:ext cx="502920" cy="365760"/>
          </a:xfrm>
          <a:prstGeom prst="rect">
            <a:avLst/>
          </a:prstGeom>
          <a:solidFill>
            <a:srgbClr val="1A73E8"/>
          </a:solidFill>
        </p:spPr>
        <p:txBody>
          <a:bodyPr/>
          <a:p/>
        </p:txBody>
      </p:sp>
      <p:sp>
        <p:nvSpPr>
          <p:cNvPr id="481" name="Text 6"/>
          <p:cNvSpPr/>
          <p:nvPr/>
        </p:nvSpPr>
        <p:spPr>
          <a:xfrm>
            <a:off x="777240" y="1783080"/>
            <a:ext cx="50292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Step 1</a:t>
            </a:r>
            <a:endParaRPr lang="en-US" sz="800" dirty="0"/>
          </a:p>
        </p:txBody>
      </p:sp>
      <p:sp>
        <p:nvSpPr>
          <p:cNvPr id="482" name="Text 7"/>
          <p:cNvSpPr/>
          <p:nvPr/>
        </p:nvSpPr>
        <p:spPr>
          <a:xfrm>
            <a:off x="1417320" y="1783080"/>
            <a:ext cx="109728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F3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环境准备</a:t>
            </a:r>
            <a:endParaRPr lang="en-US" sz="1100" dirty="0"/>
          </a:p>
        </p:txBody>
      </p:sp>
      <p:sp>
        <p:nvSpPr>
          <p:cNvPr id="483" name="Text 8"/>
          <p:cNvSpPr/>
          <p:nvPr/>
        </p:nvSpPr>
        <p:spPr>
          <a:xfrm>
            <a:off x="2606040" y="1783080"/>
            <a:ext cx="576072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确保安装 Python 3.6+，Linux 需安装 python3-tk</a:t>
            </a:r>
            <a:endParaRPr lang="en-US" sz="1050" dirty="0"/>
          </a:p>
        </p:txBody>
      </p:sp>
      <p:sp>
        <p:nvSpPr>
          <p:cNvPr id="484" name="Shape 9"/>
          <p:cNvSpPr/>
          <p:nvPr/>
        </p:nvSpPr>
        <p:spPr>
          <a:xfrm>
            <a:off x="777240" y="2240280"/>
            <a:ext cx="502920" cy="365760"/>
          </a:xfrm>
          <a:prstGeom prst="rect">
            <a:avLst/>
          </a:prstGeom>
          <a:solidFill>
            <a:srgbClr val="1A73E8"/>
          </a:solidFill>
        </p:spPr>
        <p:txBody>
          <a:bodyPr/>
          <a:p/>
        </p:txBody>
      </p:sp>
      <p:sp>
        <p:nvSpPr>
          <p:cNvPr id="485" name="Text 10"/>
          <p:cNvSpPr/>
          <p:nvPr/>
        </p:nvSpPr>
        <p:spPr>
          <a:xfrm>
            <a:off x="777240" y="2240280"/>
            <a:ext cx="50292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Step 2</a:t>
            </a:r>
            <a:endParaRPr lang="en-US" sz="800" dirty="0"/>
          </a:p>
        </p:txBody>
      </p:sp>
      <p:sp>
        <p:nvSpPr>
          <p:cNvPr id="486" name="Text 11"/>
          <p:cNvSpPr/>
          <p:nvPr/>
        </p:nvSpPr>
        <p:spPr>
          <a:xfrm>
            <a:off x="1417320" y="2240280"/>
            <a:ext cx="109728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F3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创建虚拟环境</a:t>
            </a:r>
            <a:endParaRPr lang="en-US" sz="1100" dirty="0"/>
          </a:p>
        </p:txBody>
      </p:sp>
      <p:sp>
        <p:nvSpPr>
          <p:cNvPr id="487" name="Text 12"/>
          <p:cNvSpPr/>
          <p:nvPr/>
        </p:nvSpPr>
        <p:spPr>
          <a:xfrm>
            <a:off x="2606040" y="2240280"/>
            <a:ext cx="576072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python3 -m venv venv</a:t>
            </a:r>
            <a:endParaRPr lang="en-US" sz="1050" dirty="0"/>
          </a:p>
        </p:txBody>
      </p:sp>
      <p:sp>
        <p:nvSpPr>
          <p:cNvPr id="488" name="Shape 13"/>
          <p:cNvSpPr/>
          <p:nvPr/>
        </p:nvSpPr>
        <p:spPr>
          <a:xfrm>
            <a:off x="777240" y="2697480"/>
            <a:ext cx="502920" cy="365760"/>
          </a:xfrm>
          <a:prstGeom prst="rect">
            <a:avLst/>
          </a:prstGeom>
          <a:solidFill>
            <a:srgbClr val="1A73E8"/>
          </a:solidFill>
        </p:spPr>
        <p:txBody>
          <a:bodyPr/>
          <a:p/>
        </p:txBody>
      </p:sp>
      <p:sp>
        <p:nvSpPr>
          <p:cNvPr id="489" name="Text 14"/>
          <p:cNvSpPr/>
          <p:nvPr/>
        </p:nvSpPr>
        <p:spPr>
          <a:xfrm>
            <a:off x="777240" y="2697480"/>
            <a:ext cx="50292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Step 3</a:t>
            </a:r>
            <a:endParaRPr lang="en-US" sz="800" dirty="0"/>
          </a:p>
        </p:txBody>
      </p:sp>
      <p:sp>
        <p:nvSpPr>
          <p:cNvPr id="490" name="Text 15"/>
          <p:cNvSpPr/>
          <p:nvPr/>
        </p:nvSpPr>
        <p:spPr>
          <a:xfrm>
            <a:off x="1417320" y="2697480"/>
            <a:ext cx="109728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F3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激活虚拟环境</a:t>
            </a:r>
            <a:endParaRPr lang="en-US" sz="1100" dirty="0"/>
          </a:p>
        </p:txBody>
      </p:sp>
      <p:sp>
        <p:nvSpPr>
          <p:cNvPr id="491" name="Text 16"/>
          <p:cNvSpPr/>
          <p:nvPr/>
        </p:nvSpPr>
        <p:spPr>
          <a:xfrm>
            <a:off x="2606040" y="2697480"/>
            <a:ext cx="576072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source venv/bin/activate（Linux/Mac）或 venv\Scripts\activate（Windows）</a:t>
            </a:r>
            <a:endParaRPr lang="en-US" sz="1050" dirty="0"/>
          </a:p>
        </p:txBody>
      </p:sp>
      <p:sp>
        <p:nvSpPr>
          <p:cNvPr id="492" name="Shape 17"/>
          <p:cNvSpPr/>
          <p:nvPr/>
        </p:nvSpPr>
        <p:spPr>
          <a:xfrm>
            <a:off x="777240" y="3154680"/>
            <a:ext cx="502920" cy="365760"/>
          </a:xfrm>
          <a:prstGeom prst="rect">
            <a:avLst/>
          </a:prstGeom>
          <a:solidFill>
            <a:srgbClr val="1A73E8"/>
          </a:solidFill>
        </p:spPr>
        <p:txBody>
          <a:bodyPr/>
          <a:p/>
        </p:txBody>
      </p:sp>
      <p:sp>
        <p:nvSpPr>
          <p:cNvPr id="493" name="Text 18"/>
          <p:cNvSpPr/>
          <p:nvPr/>
        </p:nvSpPr>
        <p:spPr>
          <a:xfrm>
            <a:off x="777240" y="3154680"/>
            <a:ext cx="50292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Step 4</a:t>
            </a:r>
            <a:endParaRPr lang="en-US" sz="800" dirty="0"/>
          </a:p>
        </p:txBody>
      </p:sp>
      <p:sp>
        <p:nvSpPr>
          <p:cNvPr id="494" name="Text 19"/>
          <p:cNvSpPr/>
          <p:nvPr/>
        </p:nvSpPr>
        <p:spPr>
          <a:xfrm>
            <a:off x="1417320" y="3154680"/>
            <a:ext cx="109728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F3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启动程序</a:t>
            </a:r>
            <a:endParaRPr lang="en-US" sz="1100" dirty="0"/>
          </a:p>
        </p:txBody>
      </p:sp>
      <p:sp>
        <p:nvSpPr>
          <p:cNvPr id="495" name="Text 20"/>
          <p:cNvSpPr/>
          <p:nvPr/>
        </p:nvSpPr>
        <p:spPr>
          <a:xfrm>
            <a:off x="2606040" y="3154680"/>
            <a:ext cx="576072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python3 main.py</a:t>
            </a:r>
            <a:endParaRPr lang="en-US" sz="1050" dirty="0"/>
          </a:p>
        </p:txBody>
      </p:sp>
      <p:sp>
        <p:nvSpPr>
          <p:cNvPr id="496" name="Shape 21"/>
          <p:cNvSpPr/>
          <p:nvPr/>
        </p:nvSpPr>
        <p:spPr>
          <a:xfrm>
            <a:off x="777240" y="3611880"/>
            <a:ext cx="502920" cy="365760"/>
          </a:xfrm>
          <a:prstGeom prst="rect">
            <a:avLst/>
          </a:prstGeom>
          <a:solidFill>
            <a:srgbClr val="1A73E8"/>
          </a:solidFill>
        </p:spPr>
        <p:txBody>
          <a:bodyPr/>
          <a:p/>
        </p:txBody>
      </p:sp>
      <p:sp>
        <p:nvSpPr>
          <p:cNvPr id="497" name="Text 22"/>
          <p:cNvSpPr/>
          <p:nvPr/>
        </p:nvSpPr>
        <p:spPr>
          <a:xfrm>
            <a:off x="777240" y="3611880"/>
            <a:ext cx="50292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Step 5</a:t>
            </a:r>
            <a:endParaRPr lang="en-US" sz="800" dirty="0"/>
          </a:p>
        </p:txBody>
      </p:sp>
      <p:sp>
        <p:nvSpPr>
          <p:cNvPr id="498" name="Text 23"/>
          <p:cNvSpPr/>
          <p:nvPr/>
        </p:nvSpPr>
        <p:spPr>
          <a:xfrm>
            <a:off x="1417320" y="3611880"/>
            <a:ext cx="109728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F3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使用界面</a:t>
            </a:r>
            <a:endParaRPr lang="en-US" sz="1100" dirty="0"/>
          </a:p>
        </p:txBody>
      </p:sp>
      <p:sp>
        <p:nvSpPr>
          <p:cNvPr id="499" name="Text 24"/>
          <p:cNvSpPr/>
          <p:nvPr/>
        </p:nvSpPr>
        <p:spPr>
          <a:xfrm>
            <a:off x="2606040" y="3611880"/>
            <a:ext cx="576072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自动弹出 450×400 的 Tkinter 窗口，默认已填入账号密码</a:t>
            </a:r>
            <a:endParaRPr lang="en-US" sz="1050" dirty="0"/>
          </a:p>
        </p:txBody>
      </p:sp>
      <p:sp>
        <p:nvSpPr>
          <p:cNvPr id="500" name="Shape 25"/>
          <p:cNvSpPr/>
          <p:nvPr/>
        </p:nvSpPr>
        <p:spPr>
          <a:xfrm>
            <a:off x="777240" y="4069080"/>
            <a:ext cx="502920" cy="365760"/>
          </a:xfrm>
          <a:prstGeom prst="rect">
            <a:avLst/>
          </a:prstGeom>
          <a:solidFill>
            <a:srgbClr val="1A73E8"/>
          </a:solidFill>
        </p:spPr>
        <p:txBody>
          <a:bodyPr/>
          <a:p/>
        </p:txBody>
      </p:sp>
      <p:sp>
        <p:nvSpPr>
          <p:cNvPr id="501" name="Text 26"/>
          <p:cNvSpPr/>
          <p:nvPr/>
        </p:nvSpPr>
        <p:spPr>
          <a:xfrm>
            <a:off x="777240" y="4069080"/>
            <a:ext cx="50292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Step 6</a:t>
            </a:r>
            <a:endParaRPr lang="en-US" sz="800" dirty="0"/>
          </a:p>
        </p:txBody>
      </p:sp>
      <p:sp>
        <p:nvSpPr>
          <p:cNvPr id="502" name="Text 27"/>
          <p:cNvSpPr/>
          <p:nvPr/>
        </p:nvSpPr>
        <p:spPr>
          <a:xfrm>
            <a:off x="1417320" y="4069080"/>
            <a:ext cx="109728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F3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退出</a:t>
            </a:r>
            <a:endParaRPr lang="en-US" sz="1100" dirty="0"/>
          </a:p>
        </p:txBody>
      </p:sp>
      <p:sp>
        <p:nvSpPr>
          <p:cNvPr id="503" name="Text 28"/>
          <p:cNvSpPr/>
          <p:nvPr/>
        </p:nvSpPr>
        <p:spPr>
          <a:xfrm>
            <a:off x="2606040" y="4069080"/>
            <a:ext cx="576072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点击主菜单「退出登录」或直接关闭窗口</a:t>
            </a:r>
            <a:endParaRPr lang="en-US" sz="1050" dirty="0"/>
          </a:p>
        </p:txBody>
      </p:sp>
      <p:sp>
        <p:nvSpPr>
          <p:cNvPr id="504" name="Text 29"/>
          <p:cNvSpPr/>
          <p:nvPr/>
        </p:nvSpPr>
        <p:spPr>
          <a:xfrm>
            <a:off x="777240" y="44348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F444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注意事项：由于使用 Tkinter，需要桌面环境（Windows/macOS/Linux Desktop）支持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50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" name="Shape 0"/>
          <p:cNvSpPr/>
          <p:nvPr/>
        </p:nvSpPr>
        <p:spPr>
          <a:xfrm>
            <a:off x="548640" y="411480"/>
            <a:ext cx="64008" cy="502920"/>
          </a:xfrm>
          <a:prstGeom prst="rect">
            <a:avLst/>
          </a:prstGeom>
          <a:solidFill>
            <a:srgbClr val="D4A574"/>
          </a:solidFill>
        </p:spPr>
        <p:txBody>
          <a:bodyPr/>
          <a:p/>
        </p:txBody>
      </p:sp>
      <p:sp>
        <p:nvSpPr>
          <p:cNvPr id="507" name="Text 1"/>
          <p:cNvSpPr/>
          <p:nvPr/>
        </p:nvSpPr>
        <p:spPr>
          <a:xfrm>
            <a:off x="822960" y="365760"/>
            <a:ext cx="777240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运行指南 — Web 前端版</a:t>
            </a:r>
            <a:endParaRPr lang="en-US" sz="2800" dirty="0"/>
          </a:p>
        </p:txBody>
      </p:sp>
      <p:sp>
        <p:nvSpPr>
          <p:cNvPr id="508" name="Shape 2"/>
          <p:cNvSpPr/>
          <p:nvPr/>
        </p:nvSpPr>
        <p:spPr>
          <a:xfrm>
            <a:off x="548640" y="1097280"/>
            <a:ext cx="3840480" cy="274320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509" name="Shape 3"/>
          <p:cNvSpPr/>
          <p:nvPr/>
        </p:nvSpPr>
        <p:spPr>
          <a:xfrm>
            <a:off x="548640" y="1097280"/>
            <a:ext cx="54864" cy="2743200"/>
          </a:xfrm>
          <a:prstGeom prst="rect">
            <a:avLst/>
          </a:prstGeom>
          <a:solidFill>
            <a:srgbClr val="10B981"/>
          </a:solidFill>
        </p:spPr>
        <p:txBody>
          <a:bodyPr/>
          <a:p/>
        </p:txBody>
      </p:sp>
      <p:sp>
        <p:nvSpPr>
          <p:cNvPr id="510" name="Text 4"/>
          <p:cNvSpPr/>
          <p:nvPr/>
        </p:nvSpPr>
        <p:spPr>
          <a:xfrm>
            <a:off x="777240" y="1234440"/>
            <a:ext cx="34747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🌐  方法一：直接打开</a:t>
            </a:r>
            <a:endParaRPr lang="en-US" sz="1400" dirty="0"/>
          </a:p>
        </p:txBody>
      </p:sp>
      <p:sp>
        <p:nvSpPr>
          <p:cNvPr id="511" name="Text 5"/>
          <p:cNvSpPr/>
          <p:nvPr/>
        </p:nvSpPr>
        <p:spPr>
          <a:xfrm>
            <a:off x="777240" y="1691640"/>
            <a:ext cx="3474720" cy="1828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在文件管理器中双击 index.html</a:t>
            </a:r>
            <a:endParaRPr lang="en-US" sz="12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即可在默认浏览器中打开使用。</a:t>
            </a:r>
            <a:endParaRPr lang="en-US" sz="1200" dirty="0"/>
          </a:p>
          <a:p>
            <a:pPr marL="0" indent="0">
              <a:lnSpc>
                <a:spcPct val="150000"/>
              </a:lnSpc>
              <a:buNone/>
            </a:pPr>
            <a:endParaRPr lang="en-US" sz="12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无需任何服务端环境，</a:t>
            </a:r>
            <a:endParaRPr lang="en-US" sz="12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离线也可正常运行。</a:t>
            </a:r>
            <a:endParaRPr lang="en-US" sz="1200" dirty="0"/>
          </a:p>
        </p:txBody>
      </p:sp>
      <p:sp>
        <p:nvSpPr>
          <p:cNvPr id="512" name="Shape 6"/>
          <p:cNvSpPr/>
          <p:nvPr/>
        </p:nvSpPr>
        <p:spPr>
          <a:xfrm>
            <a:off x="4754880" y="1097280"/>
            <a:ext cx="3840480" cy="274320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513" name="Shape 7"/>
          <p:cNvSpPr/>
          <p:nvPr/>
        </p:nvSpPr>
        <p:spPr>
          <a:xfrm>
            <a:off x="4754880" y="1097280"/>
            <a:ext cx="54864" cy="2743200"/>
          </a:xfrm>
          <a:prstGeom prst="rect">
            <a:avLst/>
          </a:prstGeom>
          <a:solidFill>
            <a:srgbClr val="D4A574"/>
          </a:solidFill>
        </p:spPr>
        <p:txBody>
          <a:bodyPr/>
          <a:p/>
        </p:txBody>
      </p:sp>
      <p:sp>
        <p:nvSpPr>
          <p:cNvPr id="514" name="Text 8"/>
          <p:cNvSpPr/>
          <p:nvPr/>
        </p:nvSpPr>
        <p:spPr>
          <a:xfrm>
            <a:off x="4983480" y="1234440"/>
            <a:ext cx="34747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🌐  方法二：HTTP 服务</a:t>
            </a:r>
            <a:endParaRPr lang="en-US" sz="1400" dirty="0"/>
          </a:p>
        </p:txBody>
      </p:sp>
      <p:sp>
        <p:nvSpPr>
          <p:cNvPr id="515" name="Text 9"/>
          <p:cNvSpPr/>
          <p:nvPr/>
        </p:nvSpPr>
        <p:spPr>
          <a:xfrm>
            <a:off x="4983480" y="1691640"/>
            <a:ext cx="3474720" cy="1371600"/>
          </a:xfrm>
          <a:prstGeom prst="rect">
            <a:avLst/>
          </a:prstGeom>
          <a:solidFill>
            <a:srgbClr val="F8F9FA"/>
          </a:solidFill>
        </p:spPr>
        <p:txBody>
          <a:bodyPr wrap="square" lIns="1524" tIns="1524" rIns="1524" bIns="1524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# 在项目目录下运行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python3 -m http.server 8000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# 浏览器访问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http://localhost:8000</a:t>
            </a:r>
            <a:endParaRPr lang="en-US" sz="1200" dirty="0"/>
          </a:p>
        </p:txBody>
      </p:sp>
      <p:sp>
        <p:nvSpPr>
          <p:cNvPr id="516" name="Text 10"/>
          <p:cNvSpPr/>
          <p:nvPr/>
        </p:nvSpPr>
        <p:spPr>
          <a:xfrm>
            <a:off x="822960" y="411480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浏览器兼容性</a:t>
            </a:r>
            <a:endParaRPr lang="en-US" sz="1400" dirty="0"/>
          </a:p>
        </p:txBody>
      </p:sp>
      <p:sp>
        <p:nvSpPr>
          <p:cNvPr id="517" name="Shape 11"/>
          <p:cNvSpPr/>
          <p:nvPr/>
        </p:nvSpPr>
        <p:spPr>
          <a:xfrm>
            <a:off x="457200" y="4434840"/>
            <a:ext cx="1554480" cy="365760"/>
          </a:xfrm>
          <a:prstGeom prst="rect">
            <a:avLst/>
          </a:prstGeom>
          <a:solidFill>
            <a:srgbClr val="F5F0EB"/>
          </a:solidFill>
        </p:spPr>
        <p:txBody>
          <a:bodyPr/>
          <a:p/>
        </p:txBody>
      </p:sp>
      <p:sp>
        <p:nvSpPr>
          <p:cNvPr id="518" name="Text 12"/>
          <p:cNvSpPr/>
          <p:nvPr/>
        </p:nvSpPr>
        <p:spPr>
          <a:xfrm>
            <a:off x="457200" y="4434840"/>
            <a:ext cx="155448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A1F3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Chrome 90+</a:t>
            </a:r>
            <a:endParaRPr lang="en-US" sz="1000" dirty="0"/>
          </a:p>
        </p:txBody>
      </p:sp>
      <p:sp>
        <p:nvSpPr>
          <p:cNvPr id="519" name="Shape 13"/>
          <p:cNvSpPr/>
          <p:nvPr/>
        </p:nvSpPr>
        <p:spPr>
          <a:xfrm>
            <a:off x="2194560" y="4434840"/>
            <a:ext cx="1554480" cy="365760"/>
          </a:xfrm>
          <a:prstGeom prst="rect">
            <a:avLst/>
          </a:prstGeom>
          <a:solidFill>
            <a:srgbClr val="F5F0EB"/>
          </a:solidFill>
        </p:spPr>
        <p:txBody>
          <a:bodyPr/>
          <a:p/>
        </p:txBody>
      </p:sp>
      <p:sp>
        <p:nvSpPr>
          <p:cNvPr id="520" name="Text 14"/>
          <p:cNvSpPr/>
          <p:nvPr/>
        </p:nvSpPr>
        <p:spPr>
          <a:xfrm>
            <a:off x="2194560" y="4434840"/>
            <a:ext cx="155448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A1F3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Edge 90+</a:t>
            </a:r>
            <a:endParaRPr lang="en-US" sz="1000" dirty="0"/>
          </a:p>
        </p:txBody>
      </p:sp>
      <p:sp>
        <p:nvSpPr>
          <p:cNvPr id="521" name="Shape 15"/>
          <p:cNvSpPr/>
          <p:nvPr/>
        </p:nvSpPr>
        <p:spPr>
          <a:xfrm>
            <a:off x="3931920" y="4434840"/>
            <a:ext cx="1554480" cy="365760"/>
          </a:xfrm>
          <a:prstGeom prst="rect">
            <a:avLst/>
          </a:prstGeom>
          <a:solidFill>
            <a:srgbClr val="F5F0EB"/>
          </a:solidFill>
        </p:spPr>
        <p:txBody>
          <a:bodyPr/>
          <a:p/>
        </p:txBody>
      </p:sp>
      <p:sp>
        <p:nvSpPr>
          <p:cNvPr id="522" name="Text 16"/>
          <p:cNvSpPr/>
          <p:nvPr/>
        </p:nvSpPr>
        <p:spPr>
          <a:xfrm>
            <a:off x="3931920" y="4434840"/>
            <a:ext cx="155448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A1F3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Firefox 90+</a:t>
            </a:r>
            <a:endParaRPr lang="en-US" sz="1000" dirty="0"/>
          </a:p>
        </p:txBody>
      </p:sp>
      <p:sp>
        <p:nvSpPr>
          <p:cNvPr id="523" name="Shape 17"/>
          <p:cNvSpPr/>
          <p:nvPr/>
        </p:nvSpPr>
        <p:spPr>
          <a:xfrm>
            <a:off x="5669280" y="4434840"/>
            <a:ext cx="1554480" cy="365760"/>
          </a:xfrm>
          <a:prstGeom prst="rect">
            <a:avLst/>
          </a:prstGeom>
          <a:solidFill>
            <a:srgbClr val="F5F0EB"/>
          </a:solidFill>
        </p:spPr>
        <p:txBody>
          <a:bodyPr/>
          <a:p/>
        </p:txBody>
      </p:sp>
      <p:sp>
        <p:nvSpPr>
          <p:cNvPr id="524" name="Text 18"/>
          <p:cNvSpPr/>
          <p:nvPr/>
        </p:nvSpPr>
        <p:spPr>
          <a:xfrm>
            <a:off x="5669280" y="4434840"/>
            <a:ext cx="155448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A1F3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Safari 14+</a:t>
            </a:r>
            <a:endParaRPr lang="en-US" sz="1000" dirty="0"/>
          </a:p>
        </p:txBody>
      </p:sp>
      <p:sp>
        <p:nvSpPr>
          <p:cNvPr id="525" name="Shape 19"/>
          <p:cNvSpPr/>
          <p:nvPr/>
        </p:nvSpPr>
        <p:spPr>
          <a:xfrm>
            <a:off x="7406640" y="4434840"/>
            <a:ext cx="1554480" cy="365760"/>
          </a:xfrm>
          <a:prstGeom prst="rect">
            <a:avLst/>
          </a:prstGeom>
          <a:solidFill>
            <a:srgbClr val="F5F0EB"/>
          </a:solidFill>
        </p:spPr>
        <p:txBody>
          <a:bodyPr/>
          <a:p/>
        </p:txBody>
      </p:sp>
      <p:sp>
        <p:nvSpPr>
          <p:cNvPr id="526" name="Text 20"/>
          <p:cNvSpPr/>
          <p:nvPr/>
        </p:nvSpPr>
        <p:spPr>
          <a:xfrm>
            <a:off x="7406640" y="4434840"/>
            <a:ext cx="155448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A1F3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Opera 76+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C"/>
        </a:solidFill>
        <a:effectLst/>
      </p:bgPr>
    </p:bg>
    <p:spTree>
      <p:nvGrpSpPr>
        <p:cNvPr id="52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8" name="Shape 0"/>
          <p:cNvSpPr/>
          <p:nvPr/>
        </p:nvSpPr>
        <p:spPr>
          <a:xfrm>
            <a:off x="-914400" y="-914400"/>
            <a:ext cx="3200400" cy="3200400"/>
          </a:xfrm>
          <a:prstGeom prst="ellipse">
            <a:avLst/>
          </a:prstGeom>
          <a:solidFill>
            <a:srgbClr val="D4A574">
              <a:alpha val="7000"/>
            </a:srgbClr>
          </a:solidFill>
        </p:spPr>
        <p:txBody>
          <a:bodyPr/>
          <a:p/>
        </p:txBody>
      </p:sp>
      <p:sp>
        <p:nvSpPr>
          <p:cNvPr id="529" name="Shape 1"/>
          <p:cNvSpPr/>
          <p:nvPr/>
        </p:nvSpPr>
        <p:spPr>
          <a:xfrm>
            <a:off x="7315200" y="3200400"/>
            <a:ext cx="2743200" cy="2743200"/>
          </a:xfrm>
          <a:prstGeom prst="ellipse">
            <a:avLst/>
          </a:prstGeom>
          <a:solidFill>
            <a:srgbClr val="D4A574">
              <a:alpha val="8000"/>
            </a:srgbClr>
          </a:solidFill>
        </p:spPr>
        <p:txBody>
          <a:bodyPr/>
          <a:p/>
        </p:txBody>
      </p:sp>
      <p:sp>
        <p:nvSpPr>
          <p:cNvPr id="530" name="Text 2"/>
          <p:cNvSpPr/>
          <p:nvPr/>
        </p:nvSpPr>
        <p:spPr>
          <a:xfrm>
            <a:off x="4297680" y="1097280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D4A574"/>
                </a:solidFill>
              </a:rPr>
              <a:t>✦</a:t>
            </a:r>
            <a:endParaRPr lang="en-US" sz="2400" dirty="0"/>
          </a:p>
        </p:txBody>
      </p:sp>
      <p:sp>
        <p:nvSpPr>
          <p:cNvPr id="531" name="Text 3"/>
          <p:cNvSpPr/>
          <p:nvPr/>
        </p:nvSpPr>
        <p:spPr>
          <a:xfrm>
            <a:off x="914400" y="1828800"/>
            <a:ext cx="731520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D4A574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感谢聆听</a:t>
            </a:r>
            <a:endParaRPr lang="en-US" sz="3600" dirty="0"/>
          </a:p>
        </p:txBody>
      </p:sp>
      <p:sp>
        <p:nvSpPr>
          <p:cNvPr id="532" name="Shape 4"/>
          <p:cNvSpPr/>
          <p:nvPr/>
        </p:nvSpPr>
        <p:spPr>
          <a:xfrm>
            <a:off x="3840480" y="2651760"/>
            <a:ext cx="1463040" cy="18288"/>
          </a:xfrm>
          <a:prstGeom prst="rect">
            <a:avLst/>
          </a:prstGeom>
          <a:solidFill>
            <a:srgbClr val="D4A574"/>
          </a:solidFill>
        </p:spPr>
        <p:txBody>
          <a:bodyPr/>
          <a:p/>
        </p:txBody>
      </p:sp>
      <p:sp>
        <p:nvSpPr>
          <p:cNvPr id="533" name="Text 5"/>
          <p:cNvSpPr/>
          <p:nvPr/>
        </p:nvSpPr>
        <p:spPr>
          <a:xfrm>
            <a:off x="914400" y="283464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5F0E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ATM 柜员机模拟程序 · 软件工程期末项目</a:t>
            </a:r>
            <a:endParaRPr lang="en-US" sz="1400" dirty="0"/>
          </a:p>
        </p:txBody>
      </p:sp>
      <p:sp>
        <p:nvSpPr>
          <p:cNvPr id="534" name="Text 6"/>
          <p:cNvSpPr/>
          <p:nvPr/>
        </p:nvSpPr>
        <p:spPr>
          <a:xfrm>
            <a:off x="914400" y="320040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MVC 设计模式  |  Python 3 + Tkinter  |  Web 前端</a:t>
            </a:r>
            <a:endParaRPr lang="en-US" sz="1100" dirty="0"/>
          </a:p>
        </p:txBody>
      </p:sp>
      <p:sp>
        <p:nvSpPr>
          <p:cNvPr id="535" name="Text 7"/>
          <p:cNvSpPr/>
          <p:nvPr/>
        </p:nvSpPr>
        <p:spPr>
          <a:xfrm>
            <a:off x="914400" y="40233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课程教师：陈姝  |  湘潭大学 · 计算机·网络空间安全学院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8846</Words>
  <Application>WPS 演示</Application>
  <PresentationFormat/>
  <Paragraphs>1203</Paragraphs>
  <Slides>34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16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34</vt:i4>
      </vt:variant>
    </vt:vector>
  </HeadingPairs>
  <TitlesOfParts>
    <vt:vector size="52" baseType="lpstr">
      <vt:lpstr>Arial</vt:lpstr>
      <vt:lpstr>宋体</vt:lpstr>
      <vt:lpstr>Wingdings</vt:lpstr>
      <vt:lpstr>Georgia</vt:lpstr>
      <vt:lpstr>Georgia</vt:lpstr>
      <vt:lpstr>Georgia</vt:lpstr>
      <vt:lpstr>Calibri</vt:lpstr>
      <vt:lpstr>Calibri</vt:lpstr>
      <vt:lpstr>Calibri</vt:lpstr>
      <vt:lpstr>Consolas</vt:lpstr>
      <vt:lpstr>Consolas</vt:lpstr>
      <vt:lpstr>Consolas</vt:lpstr>
      <vt:lpstr>微软雅黑</vt:lpstr>
      <vt:lpstr>Arial Unicode MS</vt:lpstr>
      <vt:lpstr>等线</vt:lpstr>
      <vt:lpstr>Calibri</vt:lpstr>
      <vt:lpstr>Office Theme</vt:lpstr>
      <vt:lpstr>1_Office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轻音千弦</cp:lastModifiedBy>
  <cp:revision>4</cp:revision>
  <dcterms:created xsi:type="dcterms:W3CDTF">2026-06-02T10:42:00Z</dcterms:created>
  <dcterms:modified xsi:type="dcterms:W3CDTF">2026-06-03T02:14:02Z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A638EE06EFE1410AAC21E8B47C2C8E0B_12</vt:lpwstr>
  </property>
  <property fmtid="{D5CDD505-2E9C-101B-9397-08002B2CF9AE}" pid="3" name="KSOProductBuildVer">
    <vt:lpwstr>2052-12.1.0.19770</vt:lpwstr>
  </property>
</Properties>
</file>